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7" Type="http://schemas.microsoft.com/office/2020/02/relationships/classificationlabels" Target="docMetadata/LabelInfo.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8" r:id="rId4"/>
  </p:sldMasterIdLst>
  <p:notesMasterIdLst>
    <p:notesMasterId r:id="rId30"/>
  </p:notesMasterIdLst>
  <p:handoutMasterIdLst>
    <p:handoutMasterId r:id="rId31"/>
  </p:handoutMasterIdLst>
  <p:sldIdLst>
    <p:sldId id="410" r:id="rId5"/>
    <p:sldId id="433" r:id="rId6"/>
    <p:sldId id="434" r:id="rId7"/>
    <p:sldId id="383" r:id="rId8"/>
    <p:sldId id="415" r:id="rId9"/>
    <p:sldId id="423" r:id="rId10"/>
    <p:sldId id="421" r:id="rId11"/>
    <p:sldId id="424" r:id="rId12"/>
    <p:sldId id="422" r:id="rId13"/>
    <p:sldId id="389" r:id="rId14"/>
    <p:sldId id="418" r:id="rId15"/>
    <p:sldId id="419" r:id="rId16"/>
    <p:sldId id="436" r:id="rId17"/>
    <p:sldId id="416" r:id="rId18"/>
    <p:sldId id="427" r:id="rId19"/>
    <p:sldId id="428" r:id="rId20"/>
    <p:sldId id="429" r:id="rId21"/>
    <p:sldId id="430" r:id="rId22"/>
    <p:sldId id="431" r:id="rId23"/>
    <p:sldId id="432" r:id="rId24"/>
    <p:sldId id="412" r:id="rId25"/>
    <p:sldId id="413" r:id="rId26"/>
    <p:sldId id="435" r:id="rId27"/>
    <p:sldId id="398" r:id="rId28"/>
    <p:sldId id="417" r:id="rId29"/>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6877714-9FF9-4EED-BBD8-F006C6936A36}" v="8" dt="2025-11-21T20:06:13.756"/>
  </p1510:revLst>
</p1510:revInfo>
</file>

<file path=ppt/tableStyles.xml><?xml version="1.0" encoding="utf-8"?>
<a:tblStyleLst xmlns:a="http://schemas.openxmlformats.org/drawingml/2006/main" def="{8A107856-5554-42FB-B03E-39F5DBC370B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63923" autoAdjust="0"/>
  </p:normalViewPr>
  <p:slideViewPr>
    <p:cSldViewPr snapToGrid="0">
      <p:cViewPr varScale="1">
        <p:scale>
          <a:sx n="70" d="100"/>
          <a:sy n="70" d="100"/>
        </p:scale>
        <p:origin x="2154" y="78"/>
      </p:cViewPr>
      <p:guideLst/>
    </p:cSldViewPr>
  </p:slideViewPr>
  <p:outlineViewPr>
    <p:cViewPr>
      <p:scale>
        <a:sx n="33" d="100"/>
        <a:sy n="33" d="100"/>
      </p:scale>
      <p:origin x="0" y="-5778"/>
    </p:cViewPr>
  </p:outlineViewPr>
  <p:notesTextViewPr>
    <p:cViewPr>
      <p:scale>
        <a:sx n="200" d="100"/>
        <a:sy n="200" d="100"/>
      </p:scale>
      <p:origin x="0" y="0"/>
    </p:cViewPr>
  </p:notesTextViewPr>
  <p:sorterViewPr>
    <p:cViewPr>
      <p:scale>
        <a:sx n="80" d="100"/>
        <a:sy n="80" d="100"/>
      </p:scale>
      <p:origin x="0" y="0"/>
    </p:cViewPr>
  </p:sorterViewPr>
  <p:notesViewPr>
    <p:cSldViewPr snapToGrid="0" showGuides="1">
      <p:cViewPr varScale="1">
        <p:scale>
          <a:sx n="85" d="100"/>
          <a:sy n="85" d="100"/>
        </p:scale>
        <p:origin x="3888" y="9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8/10/relationships/authors" Target="authors.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commentAuthors" Target="commentAuthors.xml"/><Relationship Id="rId37"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avros Delardas" userId="e230f69a-1fda-4df5-a8e2-52450aa72d52" providerId="ADAL" clId="{971AFC7C-405A-4D0F-AD1D-6E02F7234FE8}"/>
    <pc:docChg chg="undo custSel addSld delSld modSld sldOrd modNotesMaster modHandout">
      <pc:chgData name="Stavros Delardas" userId="e230f69a-1fda-4df5-a8e2-52450aa72d52" providerId="ADAL" clId="{971AFC7C-405A-4D0F-AD1D-6E02F7234FE8}" dt="2025-11-21T20:06:13.219" v="6550" actId="20577"/>
      <pc:docMkLst>
        <pc:docMk/>
      </pc:docMkLst>
      <pc:sldChg chg="modSp mod modNotesTx">
        <pc:chgData name="Stavros Delardas" userId="e230f69a-1fda-4df5-a8e2-52450aa72d52" providerId="ADAL" clId="{971AFC7C-405A-4D0F-AD1D-6E02F7234FE8}" dt="2025-11-21T20:00:54.084" v="6218" actId="20577"/>
        <pc:sldMkLst>
          <pc:docMk/>
          <pc:sldMk cId="3346685798" sldId="383"/>
        </pc:sldMkLst>
        <pc:spChg chg="mod">
          <ac:chgData name="Stavros Delardas" userId="e230f69a-1fda-4df5-a8e2-52450aa72d52" providerId="ADAL" clId="{971AFC7C-405A-4D0F-AD1D-6E02F7234FE8}" dt="2025-11-21T20:00:39.272" v="6169" actId="20577"/>
          <ac:spMkLst>
            <pc:docMk/>
            <pc:sldMk cId="3346685798" sldId="383"/>
            <ac:spMk id="3" creationId="{3B8EBC2C-6DD7-5003-38EB-40753046FE8C}"/>
          </ac:spMkLst>
        </pc:spChg>
      </pc:sldChg>
      <pc:sldChg chg="modSp mod">
        <pc:chgData name="Stavros Delardas" userId="e230f69a-1fda-4df5-a8e2-52450aa72d52" providerId="ADAL" clId="{971AFC7C-405A-4D0F-AD1D-6E02F7234FE8}" dt="2025-11-21T20:02:35.739" v="6234" actId="20577"/>
        <pc:sldMkLst>
          <pc:docMk/>
          <pc:sldMk cId="1440871986" sldId="389"/>
        </pc:sldMkLst>
        <pc:spChg chg="mod">
          <ac:chgData name="Stavros Delardas" userId="e230f69a-1fda-4df5-a8e2-52450aa72d52" providerId="ADAL" clId="{971AFC7C-405A-4D0F-AD1D-6E02F7234FE8}" dt="2025-11-21T20:02:35.739" v="6234" actId="20577"/>
          <ac:spMkLst>
            <pc:docMk/>
            <pc:sldMk cId="1440871986" sldId="389"/>
            <ac:spMk id="3" creationId="{0E02AE9C-BA1D-195E-3B93-A5A0CC03D8F3}"/>
          </ac:spMkLst>
        </pc:spChg>
      </pc:sldChg>
      <pc:sldChg chg="del">
        <pc:chgData name="Stavros Delardas" userId="e230f69a-1fda-4df5-a8e2-52450aa72d52" providerId="ADAL" clId="{971AFC7C-405A-4D0F-AD1D-6E02F7234FE8}" dt="2025-11-21T19:59:45.787" v="6106" actId="2696"/>
        <pc:sldMkLst>
          <pc:docMk/>
          <pc:sldMk cId="2039059756" sldId="397"/>
        </pc:sldMkLst>
      </pc:sldChg>
      <pc:sldChg chg="modSp mod">
        <pc:chgData name="Stavros Delardas" userId="e230f69a-1fda-4df5-a8e2-52450aa72d52" providerId="ADAL" clId="{971AFC7C-405A-4D0F-AD1D-6E02F7234FE8}" dt="2025-11-21T19:52:54.232" v="6017" actId="20577"/>
        <pc:sldMkLst>
          <pc:docMk/>
          <pc:sldMk cId="4261132419" sldId="398"/>
        </pc:sldMkLst>
        <pc:spChg chg="mod">
          <ac:chgData name="Stavros Delardas" userId="e230f69a-1fda-4df5-a8e2-52450aa72d52" providerId="ADAL" clId="{971AFC7C-405A-4D0F-AD1D-6E02F7234FE8}" dt="2025-11-21T19:52:54.232" v="6017" actId="20577"/>
          <ac:spMkLst>
            <pc:docMk/>
            <pc:sldMk cId="4261132419" sldId="398"/>
            <ac:spMk id="3" creationId="{8BE734F0-2DDD-AF70-F13D-F9E4C1929411}"/>
          </ac:spMkLst>
        </pc:spChg>
      </pc:sldChg>
      <pc:sldChg chg="modSp mod">
        <pc:chgData name="Stavros Delardas" userId="e230f69a-1fda-4df5-a8e2-52450aa72d52" providerId="ADAL" clId="{971AFC7C-405A-4D0F-AD1D-6E02F7234FE8}" dt="2025-11-21T19:53:12.052" v="6034" actId="20577"/>
        <pc:sldMkLst>
          <pc:docMk/>
          <pc:sldMk cId="3390304222" sldId="410"/>
        </pc:sldMkLst>
        <pc:spChg chg="mod">
          <ac:chgData name="Stavros Delardas" userId="e230f69a-1fda-4df5-a8e2-52450aa72d52" providerId="ADAL" clId="{971AFC7C-405A-4D0F-AD1D-6E02F7234FE8}" dt="2025-11-21T19:51:29.218" v="5990" actId="20577"/>
          <ac:spMkLst>
            <pc:docMk/>
            <pc:sldMk cId="3390304222" sldId="410"/>
            <ac:spMk id="2" creationId="{7AB1D9D6-2977-ABCD-FDF8-51AFA5064E54}"/>
          </ac:spMkLst>
        </pc:spChg>
        <pc:spChg chg="mod">
          <ac:chgData name="Stavros Delardas" userId="e230f69a-1fda-4df5-a8e2-52450aa72d52" providerId="ADAL" clId="{971AFC7C-405A-4D0F-AD1D-6E02F7234FE8}" dt="2025-11-21T19:53:12.052" v="6034" actId="20577"/>
          <ac:spMkLst>
            <pc:docMk/>
            <pc:sldMk cId="3390304222" sldId="410"/>
            <ac:spMk id="3" creationId="{89116D5F-6D2D-B454-8D35-3266030C5E3F}"/>
          </ac:spMkLst>
        </pc:spChg>
      </pc:sldChg>
      <pc:sldChg chg="modSp add del mod">
        <pc:chgData name="Stavros Delardas" userId="e230f69a-1fda-4df5-a8e2-52450aa72d52" providerId="ADAL" clId="{971AFC7C-405A-4D0F-AD1D-6E02F7234FE8}" dt="2025-11-21T20:00:11.865" v="6126" actId="20577"/>
        <pc:sldMkLst>
          <pc:docMk/>
          <pc:sldMk cId="3105633778" sldId="416"/>
        </pc:sldMkLst>
        <pc:spChg chg="mod">
          <ac:chgData name="Stavros Delardas" userId="e230f69a-1fda-4df5-a8e2-52450aa72d52" providerId="ADAL" clId="{971AFC7C-405A-4D0F-AD1D-6E02F7234FE8}" dt="2025-11-21T20:00:11.865" v="6126" actId="20577"/>
          <ac:spMkLst>
            <pc:docMk/>
            <pc:sldMk cId="3105633778" sldId="416"/>
            <ac:spMk id="5" creationId="{106C417B-93A1-3F6D-F9FD-EEE07E90CBB6}"/>
          </ac:spMkLst>
        </pc:spChg>
      </pc:sldChg>
      <pc:sldChg chg="ord">
        <pc:chgData name="Stavros Delardas" userId="e230f69a-1fda-4df5-a8e2-52450aa72d52" providerId="ADAL" clId="{971AFC7C-405A-4D0F-AD1D-6E02F7234FE8}" dt="2025-11-21T19:57:37.358" v="6071"/>
        <pc:sldMkLst>
          <pc:docMk/>
          <pc:sldMk cId="3433786885" sldId="421"/>
        </pc:sldMkLst>
      </pc:sldChg>
      <pc:sldChg chg="ord">
        <pc:chgData name="Stavros Delardas" userId="e230f69a-1fda-4df5-a8e2-52450aa72d52" providerId="ADAL" clId="{971AFC7C-405A-4D0F-AD1D-6E02F7234FE8}" dt="2025-11-21T19:57:49.326" v="6075"/>
        <pc:sldMkLst>
          <pc:docMk/>
          <pc:sldMk cId="3542220330" sldId="422"/>
        </pc:sldMkLst>
      </pc:sldChg>
      <pc:sldChg chg="ord">
        <pc:chgData name="Stavros Delardas" userId="e230f69a-1fda-4df5-a8e2-52450aa72d52" providerId="ADAL" clId="{971AFC7C-405A-4D0F-AD1D-6E02F7234FE8}" dt="2025-11-21T19:57:28.642" v="6069"/>
        <pc:sldMkLst>
          <pc:docMk/>
          <pc:sldMk cId="1731767640" sldId="423"/>
        </pc:sldMkLst>
      </pc:sldChg>
      <pc:sldChg chg="ord">
        <pc:chgData name="Stavros Delardas" userId="e230f69a-1fda-4df5-a8e2-52450aa72d52" providerId="ADAL" clId="{971AFC7C-405A-4D0F-AD1D-6E02F7234FE8}" dt="2025-11-21T19:57:43.285" v="6073"/>
        <pc:sldMkLst>
          <pc:docMk/>
          <pc:sldMk cId="2822365550" sldId="424"/>
        </pc:sldMkLst>
      </pc:sldChg>
      <pc:sldChg chg="addSp delSp modSp new del mod modAnim chgLayout modNotesTx">
        <pc:chgData name="Stavros Delardas" userId="e230f69a-1fda-4df5-a8e2-52450aa72d52" providerId="ADAL" clId="{971AFC7C-405A-4D0F-AD1D-6E02F7234FE8}" dt="2025-11-21T19:50:02.481" v="5938" actId="2696"/>
        <pc:sldMkLst>
          <pc:docMk/>
          <pc:sldMk cId="598722009" sldId="426"/>
        </pc:sldMkLst>
      </pc:sldChg>
      <pc:sldChg chg="addSp delSp modSp new mod modClrScheme chgLayout">
        <pc:chgData name="Stavros Delardas" userId="e230f69a-1fda-4df5-a8e2-52450aa72d52" providerId="ADAL" clId="{971AFC7C-405A-4D0F-AD1D-6E02F7234FE8}" dt="2025-11-21T19:52:35.710" v="5999" actId="26606"/>
        <pc:sldMkLst>
          <pc:docMk/>
          <pc:sldMk cId="962857595" sldId="435"/>
        </pc:sldMkLst>
        <pc:spChg chg="del mod ord">
          <ac:chgData name="Stavros Delardas" userId="e230f69a-1fda-4df5-a8e2-52450aa72d52" providerId="ADAL" clId="{971AFC7C-405A-4D0F-AD1D-6E02F7234FE8}" dt="2025-11-21T19:50:59.031" v="5940" actId="700"/>
          <ac:spMkLst>
            <pc:docMk/>
            <pc:sldMk cId="962857595" sldId="435"/>
            <ac:spMk id="2" creationId="{30D7D456-6693-A2C0-A5CE-CF70900E6581}"/>
          </ac:spMkLst>
        </pc:spChg>
        <pc:spChg chg="del mod ord">
          <ac:chgData name="Stavros Delardas" userId="e230f69a-1fda-4df5-a8e2-52450aa72d52" providerId="ADAL" clId="{971AFC7C-405A-4D0F-AD1D-6E02F7234FE8}" dt="2025-11-21T19:50:59.031" v="5940" actId="700"/>
          <ac:spMkLst>
            <pc:docMk/>
            <pc:sldMk cId="962857595" sldId="435"/>
            <ac:spMk id="3" creationId="{3FD72F8E-778C-B9C8-5FA7-0D66FBA2E675}"/>
          </ac:spMkLst>
        </pc:spChg>
        <pc:spChg chg="add mod ord">
          <ac:chgData name="Stavros Delardas" userId="e230f69a-1fda-4df5-a8e2-52450aa72d52" providerId="ADAL" clId="{971AFC7C-405A-4D0F-AD1D-6E02F7234FE8}" dt="2025-11-21T19:52:35.710" v="5999" actId="26606"/>
          <ac:spMkLst>
            <pc:docMk/>
            <pc:sldMk cId="962857595" sldId="435"/>
            <ac:spMk id="4" creationId="{6D3165EF-E3C9-5A76-09FB-DDEAE200D719}"/>
          </ac:spMkLst>
        </pc:spChg>
        <pc:spChg chg="add del mod ord">
          <ac:chgData name="Stavros Delardas" userId="e230f69a-1fda-4df5-a8e2-52450aa72d52" providerId="ADAL" clId="{971AFC7C-405A-4D0F-AD1D-6E02F7234FE8}" dt="2025-11-21T19:51:16.176" v="5985" actId="478"/>
          <ac:spMkLst>
            <pc:docMk/>
            <pc:sldMk cId="962857595" sldId="435"/>
            <ac:spMk id="5" creationId="{4874CF2A-29AF-A2FB-83D7-A5A170AF1120}"/>
          </ac:spMkLst>
        </pc:spChg>
        <pc:picChg chg="add mod">
          <ac:chgData name="Stavros Delardas" userId="e230f69a-1fda-4df5-a8e2-52450aa72d52" providerId="ADAL" clId="{971AFC7C-405A-4D0F-AD1D-6E02F7234FE8}" dt="2025-11-21T19:52:35.710" v="5999" actId="26606"/>
          <ac:picMkLst>
            <pc:docMk/>
            <pc:sldMk cId="962857595" sldId="435"/>
            <ac:picMk id="7" creationId="{0650F6D6-7480-7C2C-8D2D-D8BA95D47558}"/>
          </ac:picMkLst>
        </pc:picChg>
      </pc:sldChg>
      <pc:sldChg chg="addSp delSp modSp new mod modClrScheme chgLayout modNotesTx">
        <pc:chgData name="Stavros Delardas" userId="e230f69a-1fda-4df5-a8e2-52450aa72d52" providerId="ADAL" clId="{971AFC7C-405A-4D0F-AD1D-6E02F7234FE8}" dt="2025-11-21T20:06:13.219" v="6550" actId="20577"/>
        <pc:sldMkLst>
          <pc:docMk/>
          <pc:sldMk cId="2564494505" sldId="436"/>
        </pc:sldMkLst>
        <pc:spChg chg="del mod ord">
          <ac:chgData name="Stavros Delardas" userId="e230f69a-1fda-4df5-a8e2-52450aa72d52" providerId="ADAL" clId="{971AFC7C-405A-4D0F-AD1D-6E02F7234FE8}" dt="2025-11-21T20:03:09.676" v="6236" actId="700"/>
          <ac:spMkLst>
            <pc:docMk/>
            <pc:sldMk cId="2564494505" sldId="436"/>
            <ac:spMk id="2" creationId="{1FD4A270-75AB-890C-8C20-C7D759050162}"/>
          </ac:spMkLst>
        </pc:spChg>
        <pc:spChg chg="del mod ord">
          <ac:chgData name="Stavros Delardas" userId="e230f69a-1fda-4df5-a8e2-52450aa72d52" providerId="ADAL" clId="{971AFC7C-405A-4D0F-AD1D-6E02F7234FE8}" dt="2025-11-21T20:03:09.676" v="6236" actId="700"/>
          <ac:spMkLst>
            <pc:docMk/>
            <pc:sldMk cId="2564494505" sldId="436"/>
            <ac:spMk id="3" creationId="{0B58748B-51CA-76AF-3D32-602811D139BC}"/>
          </ac:spMkLst>
        </pc:spChg>
        <pc:spChg chg="add mod ord">
          <ac:chgData name="Stavros Delardas" userId="e230f69a-1fda-4df5-a8e2-52450aa72d52" providerId="ADAL" clId="{971AFC7C-405A-4D0F-AD1D-6E02F7234FE8}" dt="2025-11-21T20:05:59.220" v="6549" actId="20577"/>
          <ac:spMkLst>
            <pc:docMk/>
            <pc:sldMk cId="2564494505" sldId="436"/>
            <ac:spMk id="4" creationId="{E7B26EBC-4770-7AA1-70F9-844A3D62B30E}"/>
          </ac:spMkLst>
        </pc:spChg>
        <pc:spChg chg="add del mod ord">
          <ac:chgData name="Stavros Delardas" userId="e230f69a-1fda-4df5-a8e2-52450aa72d52" providerId="ADAL" clId="{971AFC7C-405A-4D0F-AD1D-6E02F7234FE8}" dt="2025-11-21T20:03:14.166" v="6238" actId="478"/>
          <ac:spMkLst>
            <pc:docMk/>
            <pc:sldMk cId="2564494505" sldId="436"/>
            <ac:spMk id="5" creationId="{8F601519-C2FF-5989-2CA7-3FA51D628328}"/>
          </ac:spMkLst>
        </pc:spChg>
        <pc:spChg chg="add del mod ord">
          <ac:chgData name="Stavros Delardas" userId="e230f69a-1fda-4df5-a8e2-52450aa72d52" providerId="ADAL" clId="{971AFC7C-405A-4D0F-AD1D-6E02F7234FE8}" dt="2025-11-21T20:03:13.321" v="6237" actId="478"/>
          <ac:spMkLst>
            <pc:docMk/>
            <pc:sldMk cId="2564494505" sldId="436"/>
            <ac:spMk id="6" creationId="{DF67C108-4456-8897-FEA7-380775BD0859}"/>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D621BB6-6769-4A16-95A9-D50F2A2475C2}" type="doc">
      <dgm:prSet loTypeId="urn:microsoft.com/office/officeart/2016/7/layout/LinearBlockProcessNumbered" loCatId="process" qsTypeId="urn:microsoft.com/office/officeart/2005/8/quickstyle/simple5" qsCatId="simple" csTypeId="urn:microsoft.com/office/officeart/2005/8/colors/accent3_2" csCatId="accent3"/>
      <dgm:spPr/>
      <dgm:t>
        <a:bodyPr/>
        <a:lstStyle/>
        <a:p>
          <a:endParaRPr lang="en-US"/>
        </a:p>
      </dgm:t>
    </dgm:pt>
    <dgm:pt modelId="{026F5ED3-7B71-4051-AC98-C12460F9AC11}">
      <dgm:prSet/>
      <dgm:spPr/>
      <dgm:t>
        <a:bodyPr/>
        <a:lstStyle/>
        <a:p>
          <a:r>
            <a:rPr lang="en-US"/>
            <a:t>Avoid assumptions.</a:t>
          </a:r>
        </a:p>
      </dgm:t>
    </dgm:pt>
    <dgm:pt modelId="{70129709-5506-46DE-85C5-E5154416D26D}" type="parTrans" cxnId="{354FD84C-45EF-4C89-8CA6-3FA4B6D40A80}">
      <dgm:prSet/>
      <dgm:spPr/>
      <dgm:t>
        <a:bodyPr/>
        <a:lstStyle/>
        <a:p>
          <a:endParaRPr lang="en-US"/>
        </a:p>
      </dgm:t>
    </dgm:pt>
    <dgm:pt modelId="{8D94DC4A-EB6B-4D97-9E6A-483D0F7AF74F}" type="sibTrans" cxnId="{354FD84C-45EF-4C89-8CA6-3FA4B6D40A80}">
      <dgm:prSet phldrT="01" phldr="0"/>
      <dgm:spPr/>
      <dgm:t>
        <a:bodyPr/>
        <a:lstStyle/>
        <a:p>
          <a:r>
            <a:rPr lang="en-US"/>
            <a:t>01</a:t>
          </a:r>
        </a:p>
      </dgm:t>
    </dgm:pt>
    <dgm:pt modelId="{3F87F5D0-53C6-4F09-80F2-86A332B597D5}">
      <dgm:prSet/>
      <dgm:spPr/>
      <dgm:t>
        <a:bodyPr/>
        <a:lstStyle/>
        <a:p>
          <a:r>
            <a:rPr lang="en-US"/>
            <a:t>Ask instead of assume.</a:t>
          </a:r>
        </a:p>
      </dgm:t>
    </dgm:pt>
    <dgm:pt modelId="{F4637124-6982-474F-8202-0E75A6DDC765}" type="parTrans" cxnId="{D185ACF7-AAA0-4A99-9EDE-836E611C6DB5}">
      <dgm:prSet/>
      <dgm:spPr/>
      <dgm:t>
        <a:bodyPr/>
        <a:lstStyle/>
        <a:p>
          <a:endParaRPr lang="en-US"/>
        </a:p>
      </dgm:t>
    </dgm:pt>
    <dgm:pt modelId="{11564805-3B20-4C82-9B02-1C7773F979A4}" type="sibTrans" cxnId="{D185ACF7-AAA0-4A99-9EDE-836E611C6DB5}">
      <dgm:prSet phldrT="02" phldr="0"/>
      <dgm:spPr/>
      <dgm:t>
        <a:bodyPr/>
        <a:lstStyle/>
        <a:p>
          <a:r>
            <a:rPr lang="en-US"/>
            <a:t>02</a:t>
          </a:r>
        </a:p>
      </dgm:t>
    </dgm:pt>
    <dgm:pt modelId="{96B1A960-14F5-49A3-BBBA-42CAB2FBD633}">
      <dgm:prSet/>
      <dgm:spPr/>
      <dgm:t>
        <a:bodyPr/>
        <a:lstStyle/>
        <a:p>
          <a:r>
            <a:rPr lang="en-US"/>
            <a:t>Be aware of power and identity.</a:t>
          </a:r>
        </a:p>
      </dgm:t>
    </dgm:pt>
    <dgm:pt modelId="{727D6EF0-9487-4876-8041-3E3A32214FEA}" type="parTrans" cxnId="{ECBA108C-24BA-424E-865E-9627398D79D6}">
      <dgm:prSet/>
      <dgm:spPr/>
      <dgm:t>
        <a:bodyPr/>
        <a:lstStyle/>
        <a:p>
          <a:endParaRPr lang="en-US"/>
        </a:p>
      </dgm:t>
    </dgm:pt>
    <dgm:pt modelId="{0660178D-BCED-4432-B720-B4BE5240E6CF}" type="sibTrans" cxnId="{ECBA108C-24BA-424E-865E-9627398D79D6}">
      <dgm:prSet phldrT="03" phldr="0"/>
      <dgm:spPr/>
      <dgm:t>
        <a:bodyPr/>
        <a:lstStyle/>
        <a:p>
          <a:r>
            <a:rPr lang="en-US"/>
            <a:t>03</a:t>
          </a:r>
        </a:p>
      </dgm:t>
    </dgm:pt>
    <dgm:pt modelId="{22C819C2-DF8F-4DF8-A53C-968997D4A620}">
      <dgm:prSet/>
      <dgm:spPr/>
      <dgm:t>
        <a:bodyPr/>
        <a:lstStyle/>
        <a:p>
          <a:r>
            <a:rPr lang="en-US"/>
            <a:t>Normalize Emotion</a:t>
          </a:r>
        </a:p>
      </dgm:t>
    </dgm:pt>
    <dgm:pt modelId="{4B591F66-2B94-4A04-AF68-13B037FADEC8}" type="parTrans" cxnId="{71FFD7EF-5718-417B-8534-CB38CF7A1FAD}">
      <dgm:prSet/>
      <dgm:spPr/>
      <dgm:t>
        <a:bodyPr/>
        <a:lstStyle/>
        <a:p>
          <a:endParaRPr lang="en-US"/>
        </a:p>
      </dgm:t>
    </dgm:pt>
    <dgm:pt modelId="{ED6816B8-4A1F-4EAC-99E9-3385EEDEE800}" type="sibTrans" cxnId="{71FFD7EF-5718-417B-8534-CB38CF7A1FAD}">
      <dgm:prSet phldrT="04" phldr="0"/>
      <dgm:spPr/>
      <dgm:t>
        <a:bodyPr/>
        <a:lstStyle/>
        <a:p>
          <a:r>
            <a:rPr lang="en-US"/>
            <a:t>04</a:t>
          </a:r>
        </a:p>
      </dgm:t>
    </dgm:pt>
    <dgm:pt modelId="{6C21D976-2BC5-4F51-BD0D-30ECBCE6EF61}" type="pres">
      <dgm:prSet presAssocID="{8D621BB6-6769-4A16-95A9-D50F2A2475C2}" presName="Name0" presStyleCnt="0">
        <dgm:presLayoutVars>
          <dgm:animLvl val="lvl"/>
          <dgm:resizeHandles val="exact"/>
        </dgm:presLayoutVars>
      </dgm:prSet>
      <dgm:spPr/>
    </dgm:pt>
    <dgm:pt modelId="{AF259F02-C658-487B-BE7E-4D57FA5AF5C4}" type="pres">
      <dgm:prSet presAssocID="{026F5ED3-7B71-4051-AC98-C12460F9AC11}" presName="compositeNode" presStyleCnt="0">
        <dgm:presLayoutVars>
          <dgm:bulletEnabled val="1"/>
        </dgm:presLayoutVars>
      </dgm:prSet>
      <dgm:spPr/>
    </dgm:pt>
    <dgm:pt modelId="{8D973A2A-7597-47F5-BE16-C2EE8336257E}" type="pres">
      <dgm:prSet presAssocID="{026F5ED3-7B71-4051-AC98-C12460F9AC11}" presName="bgRect" presStyleLbl="alignNode1" presStyleIdx="0" presStyleCnt="4"/>
      <dgm:spPr/>
    </dgm:pt>
    <dgm:pt modelId="{E77E88C2-19E5-4EDC-9E69-4A03D4CF2DAE}" type="pres">
      <dgm:prSet presAssocID="{8D94DC4A-EB6B-4D97-9E6A-483D0F7AF74F}" presName="sibTransNodeRect" presStyleLbl="alignNode1" presStyleIdx="0" presStyleCnt="4">
        <dgm:presLayoutVars>
          <dgm:chMax val="0"/>
          <dgm:bulletEnabled val="1"/>
        </dgm:presLayoutVars>
      </dgm:prSet>
      <dgm:spPr/>
    </dgm:pt>
    <dgm:pt modelId="{7723BBB2-AB9C-4578-BF0B-BF2F73680AEE}" type="pres">
      <dgm:prSet presAssocID="{026F5ED3-7B71-4051-AC98-C12460F9AC11}" presName="nodeRect" presStyleLbl="alignNode1" presStyleIdx="0" presStyleCnt="4">
        <dgm:presLayoutVars>
          <dgm:bulletEnabled val="1"/>
        </dgm:presLayoutVars>
      </dgm:prSet>
      <dgm:spPr/>
    </dgm:pt>
    <dgm:pt modelId="{6894CC1F-CB03-44A6-BE87-6CFC9EE85B85}" type="pres">
      <dgm:prSet presAssocID="{8D94DC4A-EB6B-4D97-9E6A-483D0F7AF74F}" presName="sibTrans" presStyleCnt="0"/>
      <dgm:spPr/>
    </dgm:pt>
    <dgm:pt modelId="{1E6D3F57-09F6-4697-967C-874FA3341C93}" type="pres">
      <dgm:prSet presAssocID="{3F87F5D0-53C6-4F09-80F2-86A332B597D5}" presName="compositeNode" presStyleCnt="0">
        <dgm:presLayoutVars>
          <dgm:bulletEnabled val="1"/>
        </dgm:presLayoutVars>
      </dgm:prSet>
      <dgm:spPr/>
    </dgm:pt>
    <dgm:pt modelId="{49848126-22A3-4267-BEF8-1BE67C2A4777}" type="pres">
      <dgm:prSet presAssocID="{3F87F5D0-53C6-4F09-80F2-86A332B597D5}" presName="bgRect" presStyleLbl="alignNode1" presStyleIdx="1" presStyleCnt="4"/>
      <dgm:spPr/>
    </dgm:pt>
    <dgm:pt modelId="{ED48B8D7-E0BA-4225-AC13-5A6615B7D23D}" type="pres">
      <dgm:prSet presAssocID="{11564805-3B20-4C82-9B02-1C7773F979A4}" presName="sibTransNodeRect" presStyleLbl="alignNode1" presStyleIdx="1" presStyleCnt="4">
        <dgm:presLayoutVars>
          <dgm:chMax val="0"/>
          <dgm:bulletEnabled val="1"/>
        </dgm:presLayoutVars>
      </dgm:prSet>
      <dgm:spPr/>
    </dgm:pt>
    <dgm:pt modelId="{2DD36137-6F2B-4FDF-8C00-C67FDC52B741}" type="pres">
      <dgm:prSet presAssocID="{3F87F5D0-53C6-4F09-80F2-86A332B597D5}" presName="nodeRect" presStyleLbl="alignNode1" presStyleIdx="1" presStyleCnt="4">
        <dgm:presLayoutVars>
          <dgm:bulletEnabled val="1"/>
        </dgm:presLayoutVars>
      </dgm:prSet>
      <dgm:spPr/>
    </dgm:pt>
    <dgm:pt modelId="{0C140F87-4151-4567-AB21-98C8B74D64F8}" type="pres">
      <dgm:prSet presAssocID="{11564805-3B20-4C82-9B02-1C7773F979A4}" presName="sibTrans" presStyleCnt="0"/>
      <dgm:spPr/>
    </dgm:pt>
    <dgm:pt modelId="{A58DEC80-C737-4FDC-9BC2-27BCABFA598D}" type="pres">
      <dgm:prSet presAssocID="{96B1A960-14F5-49A3-BBBA-42CAB2FBD633}" presName="compositeNode" presStyleCnt="0">
        <dgm:presLayoutVars>
          <dgm:bulletEnabled val="1"/>
        </dgm:presLayoutVars>
      </dgm:prSet>
      <dgm:spPr/>
    </dgm:pt>
    <dgm:pt modelId="{92FE4B34-6FFF-4495-A97B-2E6B77DBE6D8}" type="pres">
      <dgm:prSet presAssocID="{96B1A960-14F5-49A3-BBBA-42CAB2FBD633}" presName="bgRect" presStyleLbl="alignNode1" presStyleIdx="2" presStyleCnt="4"/>
      <dgm:spPr/>
    </dgm:pt>
    <dgm:pt modelId="{B00D2C9F-D5E7-4C9D-9941-E1299048776E}" type="pres">
      <dgm:prSet presAssocID="{0660178D-BCED-4432-B720-B4BE5240E6CF}" presName="sibTransNodeRect" presStyleLbl="alignNode1" presStyleIdx="2" presStyleCnt="4">
        <dgm:presLayoutVars>
          <dgm:chMax val="0"/>
          <dgm:bulletEnabled val="1"/>
        </dgm:presLayoutVars>
      </dgm:prSet>
      <dgm:spPr/>
    </dgm:pt>
    <dgm:pt modelId="{40DA4C97-31F6-4097-B434-C1D3FB1DF02D}" type="pres">
      <dgm:prSet presAssocID="{96B1A960-14F5-49A3-BBBA-42CAB2FBD633}" presName="nodeRect" presStyleLbl="alignNode1" presStyleIdx="2" presStyleCnt="4">
        <dgm:presLayoutVars>
          <dgm:bulletEnabled val="1"/>
        </dgm:presLayoutVars>
      </dgm:prSet>
      <dgm:spPr/>
    </dgm:pt>
    <dgm:pt modelId="{C613030B-7A57-47DB-9B24-FDF67E075B02}" type="pres">
      <dgm:prSet presAssocID="{0660178D-BCED-4432-B720-B4BE5240E6CF}" presName="sibTrans" presStyleCnt="0"/>
      <dgm:spPr/>
    </dgm:pt>
    <dgm:pt modelId="{4C82ABBC-255F-4DBF-A56A-2B843F10A11B}" type="pres">
      <dgm:prSet presAssocID="{22C819C2-DF8F-4DF8-A53C-968997D4A620}" presName="compositeNode" presStyleCnt="0">
        <dgm:presLayoutVars>
          <dgm:bulletEnabled val="1"/>
        </dgm:presLayoutVars>
      </dgm:prSet>
      <dgm:spPr/>
    </dgm:pt>
    <dgm:pt modelId="{9BF8FC08-7FC8-45EC-BDD6-2027FF56060D}" type="pres">
      <dgm:prSet presAssocID="{22C819C2-DF8F-4DF8-A53C-968997D4A620}" presName="bgRect" presStyleLbl="alignNode1" presStyleIdx="3" presStyleCnt="4"/>
      <dgm:spPr/>
    </dgm:pt>
    <dgm:pt modelId="{1F95BB67-85AA-4B9E-A01F-A612CA24651F}" type="pres">
      <dgm:prSet presAssocID="{ED6816B8-4A1F-4EAC-99E9-3385EEDEE800}" presName="sibTransNodeRect" presStyleLbl="alignNode1" presStyleIdx="3" presStyleCnt="4">
        <dgm:presLayoutVars>
          <dgm:chMax val="0"/>
          <dgm:bulletEnabled val="1"/>
        </dgm:presLayoutVars>
      </dgm:prSet>
      <dgm:spPr/>
    </dgm:pt>
    <dgm:pt modelId="{02E6460D-5959-429D-A277-670F7C22D134}" type="pres">
      <dgm:prSet presAssocID="{22C819C2-DF8F-4DF8-A53C-968997D4A620}" presName="nodeRect" presStyleLbl="alignNode1" presStyleIdx="3" presStyleCnt="4">
        <dgm:presLayoutVars>
          <dgm:bulletEnabled val="1"/>
        </dgm:presLayoutVars>
      </dgm:prSet>
      <dgm:spPr/>
    </dgm:pt>
  </dgm:ptLst>
  <dgm:cxnLst>
    <dgm:cxn modelId="{1D939B03-8567-4B2F-B790-6E4510852E64}" type="presOf" srcId="{96B1A960-14F5-49A3-BBBA-42CAB2FBD633}" destId="{92FE4B34-6FFF-4495-A97B-2E6B77DBE6D8}" srcOrd="0" destOrd="0" presId="urn:microsoft.com/office/officeart/2016/7/layout/LinearBlockProcessNumbered"/>
    <dgm:cxn modelId="{B61FFD16-A707-4947-B83A-23B5DD1C040B}" type="presOf" srcId="{11564805-3B20-4C82-9B02-1C7773F979A4}" destId="{ED48B8D7-E0BA-4225-AC13-5A6615B7D23D}" srcOrd="0" destOrd="0" presId="urn:microsoft.com/office/officeart/2016/7/layout/LinearBlockProcessNumbered"/>
    <dgm:cxn modelId="{57CBC71A-80ED-4838-B6A1-D8FD202208A2}" type="presOf" srcId="{22C819C2-DF8F-4DF8-A53C-968997D4A620}" destId="{02E6460D-5959-429D-A277-670F7C22D134}" srcOrd="1" destOrd="0" presId="urn:microsoft.com/office/officeart/2016/7/layout/LinearBlockProcessNumbered"/>
    <dgm:cxn modelId="{C269872A-838D-4A46-89EB-6738E3F2B460}" type="presOf" srcId="{026F5ED3-7B71-4051-AC98-C12460F9AC11}" destId="{7723BBB2-AB9C-4578-BF0B-BF2F73680AEE}" srcOrd="1" destOrd="0" presId="urn:microsoft.com/office/officeart/2016/7/layout/LinearBlockProcessNumbered"/>
    <dgm:cxn modelId="{086DBA41-86FB-46C7-B143-7407F755E703}" type="presOf" srcId="{026F5ED3-7B71-4051-AC98-C12460F9AC11}" destId="{8D973A2A-7597-47F5-BE16-C2EE8336257E}" srcOrd="0" destOrd="0" presId="urn:microsoft.com/office/officeart/2016/7/layout/LinearBlockProcessNumbered"/>
    <dgm:cxn modelId="{1B0FA64B-1D8C-4ECB-A42C-34EDC5ED3F90}" type="presOf" srcId="{3F87F5D0-53C6-4F09-80F2-86A332B597D5}" destId="{49848126-22A3-4267-BEF8-1BE67C2A4777}" srcOrd="0" destOrd="0" presId="urn:microsoft.com/office/officeart/2016/7/layout/LinearBlockProcessNumbered"/>
    <dgm:cxn modelId="{354FD84C-45EF-4C89-8CA6-3FA4B6D40A80}" srcId="{8D621BB6-6769-4A16-95A9-D50F2A2475C2}" destId="{026F5ED3-7B71-4051-AC98-C12460F9AC11}" srcOrd="0" destOrd="0" parTransId="{70129709-5506-46DE-85C5-E5154416D26D}" sibTransId="{8D94DC4A-EB6B-4D97-9E6A-483D0F7AF74F}"/>
    <dgm:cxn modelId="{FF28727B-B7BD-4AF2-9199-49A441216E88}" type="presOf" srcId="{8D621BB6-6769-4A16-95A9-D50F2A2475C2}" destId="{6C21D976-2BC5-4F51-BD0D-30ECBCE6EF61}" srcOrd="0" destOrd="0" presId="urn:microsoft.com/office/officeart/2016/7/layout/LinearBlockProcessNumbered"/>
    <dgm:cxn modelId="{ECBA108C-24BA-424E-865E-9627398D79D6}" srcId="{8D621BB6-6769-4A16-95A9-D50F2A2475C2}" destId="{96B1A960-14F5-49A3-BBBA-42CAB2FBD633}" srcOrd="2" destOrd="0" parTransId="{727D6EF0-9487-4876-8041-3E3A32214FEA}" sibTransId="{0660178D-BCED-4432-B720-B4BE5240E6CF}"/>
    <dgm:cxn modelId="{AE0F9196-5745-4557-85FD-E64828BAE804}" type="presOf" srcId="{0660178D-BCED-4432-B720-B4BE5240E6CF}" destId="{B00D2C9F-D5E7-4C9D-9941-E1299048776E}" srcOrd="0" destOrd="0" presId="urn:microsoft.com/office/officeart/2016/7/layout/LinearBlockProcessNumbered"/>
    <dgm:cxn modelId="{6FEC79AE-97F9-4009-853C-E7A49FB0E015}" type="presOf" srcId="{8D94DC4A-EB6B-4D97-9E6A-483D0F7AF74F}" destId="{E77E88C2-19E5-4EDC-9E69-4A03D4CF2DAE}" srcOrd="0" destOrd="0" presId="urn:microsoft.com/office/officeart/2016/7/layout/LinearBlockProcessNumbered"/>
    <dgm:cxn modelId="{4BC1E1B8-28FD-41E3-A627-ED596A3D0037}" type="presOf" srcId="{ED6816B8-4A1F-4EAC-99E9-3385EEDEE800}" destId="{1F95BB67-85AA-4B9E-A01F-A612CA24651F}" srcOrd="0" destOrd="0" presId="urn:microsoft.com/office/officeart/2016/7/layout/LinearBlockProcessNumbered"/>
    <dgm:cxn modelId="{DD4BB6D6-CF37-4C7F-99D0-21B51AE580A8}" type="presOf" srcId="{3F87F5D0-53C6-4F09-80F2-86A332B597D5}" destId="{2DD36137-6F2B-4FDF-8C00-C67FDC52B741}" srcOrd="1" destOrd="0" presId="urn:microsoft.com/office/officeart/2016/7/layout/LinearBlockProcessNumbered"/>
    <dgm:cxn modelId="{1E7DB8DC-1760-4675-B2B7-AF41102419CE}" type="presOf" srcId="{22C819C2-DF8F-4DF8-A53C-968997D4A620}" destId="{9BF8FC08-7FC8-45EC-BDD6-2027FF56060D}" srcOrd="0" destOrd="0" presId="urn:microsoft.com/office/officeart/2016/7/layout/LinearBlockProcessNumbered"/>
    <dgm:cxn modelId="{FF62BEDC-0EC5-41B1-9883-0D1B6B04BB88}" type="presOf" srcId="{96B1A960-14F5-49A3-BBBA-42CAB2FBD633}" destId="{40DA4C97-31F6-4097-B434-C1D3FB1DF02D}" srcOrd="1" destOrd="0" presId="urn:microsoft.com/office/officeart/2016/7/layout/LinearBlockProcessNumbered"/>
    <dgm:cxn modelId="{71FFD7EF-5718-417B-8534-CB38CF7A1FAD}" srcId="{8D621BB6-6769-4A16-95A9-D50F2A2475C2}" destId="{22C819C2-DF8F-4DF8-A53C-968997D4A620}" srcOrd="3" destOrd="0" parTransId="{4B591F66-2B94-4A04-AF68-13B037FADEC8}" sibTransId="{ED6816B8-4A1F-4EAC-99E9-3385EEDEE800}"/>
    <dgm:cxn modelId="{D185ACF7-AAA0-4A99-9EDE-836E611C6DB5}" srcId="{8D621BB6-6769-4A16-95A9-D50F2A2475C2}" destId="{3F87F5D0-53C6-4F09-80F2-86A332B597D5}" srcOrd="1" destOrd="0" parTransId="{F4637124-6982-474F-8202-0E75A6DDC765}" sibTransId="{11564805-3B20-4C82-9B02-1C7773F979A4}"/>
    <dgm:cxn modelId="{BCEA2ECF-8D34-4767-87D0-67493AED5DD0}" type="presParOf" srcId="{6C21D976-2BC5-4F51-BD0D-30ECBCE6EF61}" destId="{AF259F02-C658-487B-BE7E-4D57FA5AF5C4}" srcOrd="0" destOrd="0" presId="urn:microsoft.com/office/officeart/2016/7/layout/LinearBlockProcessNumbered"/>
    <dgm:cxn modelId="{885CA2CE-9603-4BB8-AFDC-E140062A4007}" type="presParOf" srcId="{AF259F02-C658-487B-BE7E-4D57FA5AF5C4}" destId="{8D973A2A-7597-47F5-BE16-C2EE8336257E}" srcOrd="0" destOrd="0" presId="urn:microsoft.com/office/officeart/2016/7/layout/LinearBlockProcessNumbered"/>
    <dgm:cxn modelId="{4B68D48E-755D-4A8A-AF14-2F61C84FDF7D}" type="presParOf" srcId="{AF259F02-C658-487B-BE7E-4D57FA5AF5C4}" destId="{E77E88C2-19E5-4EDC-9E69-4A03D4CF2DAE}" srcOrd="1" destOrd="0" presId="urn:microsoft.com/office/officeart/2016/7/layout/LinearBlockProcessNumbered"/>
    <dgm:cxn modelId="{C7C79B1D-F337-420A-8FA0-C4547C3699FF}" type="presParOf" srcId="{AF259F02-C658-487B-BE7E-4D57FA5AF5C4}" destId="{7723BBB2-AB9C-4578-BF0B-BF2F73680AEE}" srcOrd="2" destOrd="0" presId="urn:microsoft.com/office/officeart/2016/7/layout/LinearBlockProcessNumbered"/>
    <dgm:cxn modelId="{EF58EB10-1CE4-4AD9-9D41-9BCFDAC794DB}" type="presParOf" srcId="{6C21D976-2BC5-4F51-BD0D-30ECBCE6EF61}" destId="{6894CC1F-CB03-44A6-BE87-6CFC9EE85B85}" srcOrd="1" destOrd="0" presId="urn:microsoft.com/office/officeart/2016/7/layout/LinearBlockProcessNumbered"/>
    <dgm:cxn modelId="{3B778639-F9E2-415E-89E3-26D7B6CE1699}" type="presParOf" srcId="{6C21D976-2BC5-4F51-BD0D-30ECBCE6EF61}" destId="{1E6D3F57-09F6-4697-967C-874FA3341C93}" srcOrd="2" destOrd="0" presId="urn:microsoft.com/office/officeart/2016/7/layout/LinearBlockProcessNumbered"/>
    <dgm:cxn modelId="{EE3DC1C7-E423-4DAA-B146-00C507E31543}" type="presParOf" srcId="{1E6D3F57-09F6-4697-967C-874FA3341C93}" destId="{49848126-22A3-4267-BEF8-1BE67C2A4777}" srcOrd="0" destOrd="0" presId="urn:microsoft.com/office/officeart/2016/7/layout/LinearBlockProcessNumbered"/>
    <dgm:cxn modelId="{9305197E-E631-4369-9C9B-68BC5C07B54F}" type="presParOf" srcId="{1E6D3F57-09F6-4697-967C-874FA3341C93}" destId="{ED48B8D7-E0BA-4225-AC13-5A6615B7D23D}" srcOrd="1" destOrd="0" presId="urn:microsoft.com/office/officeart/2016/7/layout/LinearBlockProcessNumbered"/>
    <dgm:cxn modelId="{6B410D23-52DF-4AD7-B298-402BB1AC4980}" type="presParOf" srcId="{1E6D3F57-09F6-4697-967C-874FA3341C93}" destId="{2DD36137-6F2B-4FDF-8C00-C67FDC52B741}" srcOrd="2" destOrd="0" presId="urn:microsoft.com/office/officeart/2016/7/layout/LinearBlockProcessNumbered"/>
    <dgm:cxn modelId="{D1CFA17D-9E60-4E90-BABA-A032ADA60005}" type="presParOf" srcId="{6C21D976-2BC5-4F51-BD0D-30ECBCE6EF61}" destId="{0C140F87-4151-4567-AB21-98C8B74D64F8}" srcOrd="3" destOrd="0" presId="urn:microsoft.com/office/officeart/2016/7/layout/LinearBlockProcessNumbered"/>
    <dgm:cxn modelId="{98D7714D-1785-4857-BB74-381657B06670}" type="presParOf" srcId="{6C21D976-2BC5-4F51-BD0D-30ECBCE6EF61}" destId="{A58DEC80-C737-4FDC-9BC2-27BCABFA598D}" srcOrd="4" destOrd="0" presId="urn:microsoft.com/office/officeart/2016/7/layout/LinearBlockProcessNumbered"/>
    <dgm:cxn modelId="{929F6FF2-6626-476C-B902-E5C5F3F2340B}" type="presParOf" srcId="{A58DEC80-C737-4FDC-9BC2-27BCABFA598D}" destId="{92FE4B34-6FFF-4495-A97B-2E6B77DBE6D8}" srcOrd="0" destOrd="0" presId="urn:microsoft.com/office/officeart/2016/7/layout/LinearBlockProcessNumbered"/>
    <dgm:cxn modelId="{2FE814B5-D579-4967-95BA-D93F1519D4E2}" type="presParOf" srcId="{A58DEC80-C737-4FDC-9BC2-27BCABFA598D}" destId="{B00D2C9F-D5E7-4C9D-9941-E1299048776E}" srcOrd="1" destOrd="0" presId="urn:microsoft.com/office/officeart/2016/7/layout/LinearBlockProcessNumbered"/>
    <dgm:cxn modelId="{AF250679-E420-4DA8-829B-5F22A712E04F}" type="presParOf" srcId="{A58DEC80-C737-4FDC-9BC2-27BCABFA598D}" destId="{40DA4C97-31F6-4097-B434-C1D3FB1DF02D}" srcOrd="2" destOrd="0" presId="urn:microsoft.com/office/officeart/2016/7/layout/LinearBlockProcessNumbered"/>
    <dgm:cxn modelId="{75DC78E6-F1F6-4C49-9EA4-08FF8A8E5CB9}" type="presParOf" srcId="{6C21D976-2BC5-4F51-BD0D-30ECBCE6EF61}" destId="{C613030B-7A57-47DB-9B24-FDF67E075B02}" srcOrd="5" destOrd="0" presId="urn:microsoft.com/office/officeart/2016/7/layout/LinearBlockProcessNumbered"/>
    <dgm:cxn modelId="{906C0FDB-B012-43CE-990D-AA484D3B360D}" type="presParOf" srcId="{6C21D976-2BC5-4F51-BD0D-30ECBCE6EF61}" destId="{4C82ABBC-255F-4DBF-A56A-2B843F10A11B}" srcOrd="6" destOrd="0" presId="urn:microsoft.com/office/officeart/2016/7/layout/LinearBlockProcessNumbered"/>
    <dgm:cxn modelId="{4F9BBB90-159B-4E68-9A83-F5E64F9BC5D9}" type="presParOf" srcId="{4C82ABBC-255F-4DBF-A56A-2B843F10A11B}" destId="{9BF8FC08-7FC8-45EC-BDD6-2027FF56060D}" srcOrd="0" destOrd="0" presId="urn:microsoft.com/office/officeart/2016/7/layout/LinearBlockProcessNumbered"/>
    <dgm:cxn modelId="{BFADB1FA-540A-4110-862A-6E22B3BCA4C7}" type="presParOf" srcId="{4C82ABBC-255F-4DBF-A56A-2B843F10A11B}" destId="{1F95BB67-85AA-4B9E-A01F-A612CA24651F}" srcOrd="1" destOrd="0" presId="urn:microsoft.com/office/officeart/2016/7/layout/LinearBlockProcessNumbered"/>
    <dgm:cxn modelId="{71EFF5F2-7537-4A64-B156-89DB812B0F60}" type="presParOf" srcId="{4C82ABBC-255F-4DBF-A56A-2B843F10A11B}" destId="{02E6460D-5959-429D-A277-670F7C22D134}" srcOrd="2" destOrd="0" presId="urn:microsoft.com/office/officeart/2016/7/layout/LinearBlockProcessNumbered"/>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870A732-0C83-46B3-B20D-8DAB40C22A2B}" type="doc">
      <dgm:prSet loTypeId="urn:microsoft.com/office/officeart/2005/8/layout/list1" loCatId="list" qsTypeId="urn:microsoft.com/office/officeart/2005/8/quickstyle/simple2" qsCatId="simple" csTypeId="urn:microsoft.com/office/officeart/2005/8/colors/accent3_2" csCatId="accent3"/>
      <dgm:spPr/>
      <dgm:t>
        <a:bodyPr/>
        <a:lstStyle/>
        <a:p>
          <a:endParaRPr lang="en-US"/>
        </a:p>
      </dgm:t>
    </dgm:pt>
    <dgm:pt modelId="{CEFB12AB-444C-47B4-9232-D653E27313A5}">
      <dgm:prSet/>
      <dgm:spPr/>
      <dgm:t>
        <a:bodyPr/>
        <a:lstStyle/>
        <a:p>
          <a:r>
            <a:rPr lang="en-US"/>
            <a:t>Verbal Indicators</a:t>
          </a:r>
        </a:p>
      </dgm:t>
    </dgm:pt>
    <dgm:pt modelId="{69A80E2F-65C1-45A7-8A9D-C74FD6B75205}" type="parTrans" cxnId="{14B1F831-2962-4515-BF76-58F719F1FB63}">
      <dgm:prSet/>
      <dgm:spPr/>
      <dgm:t>
        <a:bodyPr/>
        <a:lstStyle/>
        <a:p>
          <a:endParaRPr lang="en-US"/>
        </a:p>
      </dgm:t>
    </dgm:pt>
    <dgm:pt modelId="{598B0256-0856-4A4E-9DB9-E008F5DFA466}" type="sibTrans" cxnId="{14B1F831-2962-4515-BF76-58F719F1FB63}">
      <dgm:prSet/>
      <dgm:spPr/>
      <dgm:t>
        <a:bodyPr/>
        <a:lstStyle/>
        <a:p>
          <a:endParaRPr lang="en-US"/>
        </a:p>
      </dgm:t>
    </dgm:pt>
    <dgm:pt modelId="{A80383E8-B003-41A4-9297-2C831F778235}">
      <dgm:prSet/>
      <dgm:spPr/>
      <dgm:t>
        <a:bodyPr/>
        <a:lstStyle/>
        <a:p>
          <a:r>
            <a:rPr lang="en-US"/>
            <a:t>Non-Verbal Behavior</a:t>
          </a:r>
        </a:p>
      </dgm:t>
    </dgm:pt>
    <dgm:pt modelId="{57488F9B-DD58-4E1A-8FAF-84F44BBEDA16}" type="parTrans" cxnId="{D249876A-55BB-45F7-AE77-AFC1CD955F06}">
      <dgm:prSet/>
      <dgm:spPr/>
      <dgm:t>
        <a:bodyPr/>
        <a:lstStyle/>
        <a:p>
          <a:endParaRPr lang="en-US"/>
        </a:p>
      </dgm:t>
    </dgm:pt>
    <dgm:pt modelId="{28513A83-50E5-49BF-B4DD-74D3C5B1ECB9}" type="sibTrans" cxnId="{D249876A-55BB-45F7-AE77-AFC1CD955F06}">
      <dgm:prSet/>
      <dgm:spPr/>
      <dgm:t>
        <a:bodyPr/>
        <a:lstStyle/>
        <a:p>
          <a:endParaRPr lang="en-US"/>
        </a:p>
      </dgm:t>
    </dgm:pt>
    <dgm:pt modelId="{6F63245C-A64B-4C9F-90A1-40C321A9B5A8}">
      <dgm:prSet/>
      <dgm:spPr/>
      <dgm:t>
        <a:bodyPr/>
        <a:lstStyle/>
        <a:p>
          <a:r>
            <a:rPr lang="en-US"/>
            <a:t>Facial Expressions</a:t>
          </a:r>
        </a:p>
      </dgm:t>
    </dgm:pt>
    <dgm:pt modelId="{B43B448A-A358-457D-859B-7A969A58951E}" type="parTrans" cxnId="{B03ED43D-6752-419F-82AD-B941F4B23712}">
      <dgm:prSet/>
      <dgm:spPr/>
      <dgm:t>
        <a:bodyPr/>
        <a:lstStyle/>
        <a:p>
          <a:endParaRPr lang="en-US"/>
        </a:p>
      </dgm:t>
    </dgm:pt>
    <dgm:pt modelId="{9512FE27-D639-4F0A-AF27-9C5C031A51B2}" type="sibTrans" cxnId="{B03ED43D-6752-419F-82AD-B941F4B23712}">
      <dgm:prSet/>
      <dgm:spPr/>
      <dgm:t>
        <a:bodyPr/>
        <a:lstStyle/>
        <a:p>
          <a:endParaRPr lang="en-US"/>
        </a:p>
      </dgm:t>
    </dgm:pt>
    <dgm:pt modelId="{C2E16318-A9CA-4850-B0AD-BFB05DA07FA1}">
      <dgm:prSet/>
      <dgm:spPr/>
      <dgm:t>
        <a:bodyPr/>
        <a:lstStyle/>
        <a:p>
          <a:r>
            <a:rPr lang="en-US"/>
            <a:t>Emotional Indicators</a:t>
          </a:r>
        </a:p>
      </dgm:t>
    </dgm:pt>
    <dgm:pt modelId="{5991F737-9B75-40F6-9390-0589CACD2438}" type="parTrans" cxnId="{13473C9D-10D6-4DFB-B787-81B6ECEEC9C6}">
      <dgm:prSet/>
      <dgm:spPr/>
      <dgm:t>
        <a:bodyPr/>
        <a:lstStyle/>
        <a:p>
          <a:endParaRPr lang="en-US"/>
        </a:p>
      </dgm:t>
    </dgm:pt>
    <dgm:pt modelId="{D6F62B40-04ED-48F5-8A02-97940E4FAD1C}" type="sibTrans" cxnId="{13473C9D-10D6-4DFB-B787-81B6ECEEC9C6}">
      <dgm:prSet/>
      <dgm:spPr/>
      <dgm:t>
        <a:bodyPr/>
        <a:lstStyle/>
        <a:p>
          <a:endParaRPr lang="en-US"/>
        </a:p>
      </dgm:t>
    </dgm:pt>
    <dgm:pt modelId="{39C25339-8CC3-4C27-968E-9079E90E29EE}">
      <dgm:prSet/>
      <dgm:spPr/>
      <dgm:t>
        <a:bodyPr/>
        <a:lstStyle/>
        <a:p>
          <a:r>
            <a:rPr lang="en-US"/>
            <a:t>Boundary Testing</a:t>
          </a:r>
        </a:p>
      </dgm:t>
    </dgm:pt>
    <dgm:pt modelId="{01136A07-C9C6-457D-B731-942F72E0E1BD}" type="parTrans" cxnId="{06B249E4-E76E-4085-B22A-46E9BBB7A127}">
      <dgm:prSet/>
      <dgm:spPr/>
      <dgm:t>
        <a:bodyPr/>
        <a:lstStyle/>
        <a:p>
          <a:endParaRPr lang="en-US"/>
        </a:p>
      </dgm:t>
    </dgm:pt>
    <dgm:pt modelId="{6D5D60AF-E643-4550-9111-4C7087F44348}" type="sibTrans" cxnId="{06B249E4-E76E-4085-B22A-46E9BBB7A127}">
      <dgm:prSet/>
      <dgm:spPr/>
      <dgm:t>
        <a:bodyPr/>
        <a:lstStyle/>
        <a:p>
          <a:endParaRPr lang="en-US"/>
        </a:p>
      </dgm:t>
    </dgm:pt>
    <dgm:pt modelId="{91D08055-5B73-4A31-A752-6A2ACEF2FC90}" type="pres">
      <dgm:prSet presAssocID="{9870A732-0C83-46B3-B20D-8DAB40C22A2B}" presName="linear" presStyleCnt="0">
        <dgm:presLayoutVars>
          <dgm:dir/>
          <dgm:animLvl val="lvl"/>
          <dgm:resizeHandles val="exact"/>
        </dgm:presLayoutVars>
      </dgm:prSet>
      <dgm:spPr/>
    </dgm:pt>
    <dgm:pt modelId="{13B5097D-F732-47D5-8DBA-9EC61337EA15}" type="pres">
      <dgm:prSet presAssocID="{CEFB12AB-444C-47B4-9232-D653E27313A5}" presName="parentLin" presStyleCnt="0"/>
      <dgm:spPr/>
    </dgm:pt>
    <dgm:pt modelId="{848CB7BC-8C0E-43CE-8FAA-C7386B621567}" type="pres">
      <dgm:prSet presAssocID="{CEFB12AB-444C-47B4-9232-D653E27313A5}" presName="parentLeftMargin" presStyleLbl="node1" presStyleIdx="0" presStyleCnt="5"/>
      <dgm:spPr/>
    </dgm:pt>
    <dgm:pt modelId="{19E3AE91-2318-489F-8CAD-062BC567AA0D}" type="pres">
      <dgm:prSet presAssocID="{CEFB12AB-444C-47B4-9232-D653E27313A5}" presName="parentText" presStyleLbl="node1" presStyleIdx="0" presStyleCnt="5">
        <dgm:presLayoutVars>
          <dgm:chMax val="0"/>
          <dgm:bulletEnabled val="1"/>
        </dgm:presLayoutVars>
      </dgm:prSet>
      <dgm:spPr/>
    </dgm:pt>
    <dgm:pt modelId="{7DE4954B-862D-455F-B2C4-E8DC29556EDC}" type="pres">
      <dgm:prSet presAssocID="{CEFB12AB-444C-47B4-9232-D653E27313A5}" presName="negativeSpace" presStyleCnt="0"/>
      <dgm:spPr/>
    </dgm:pt>
    <dgm:pt modelId="{A5433909-4EAD-4B32-87B2-5C38A88F9A85}" type="pres">
      <dgm:prSet presAssocID="{CEFB12AB-444C-47B4-9232-D653E27313A5}" presName="childText" presStyleLbl="conFgAcc1" presStyleIdx="0" presStyleCnt="5">
        <dgm:presLayoutVars>
          <dgm:bulletEnabled val="1"/>
        </dgm:presLayoutVars>
      </dgm:prSet>
      <dgm:spPr/>
    </dgm:pt>
    <dgm:pt modelId="{34D553F2-33AA-484F-B9AC-952941C2D307}" type="pres">
      <dgm:prSet presAssocID="{598B0256-0856-4A4E-9DB9-E008F5DFA466}" presName="spaceBetweenRectangles" presStyleCnt="0"/>
      <dgm:spPr/>
    </dgm:pt>
    <dgm:pt modelId="{454E3108-F45C-4661-A720-8B2F712C0167}" type="pres">
      <dgm:prSet presAssocID="{A80383E8-B003-41A4-9297-2C831F778235}" presName="parentLin" presStyleCnt="0"/>
      <dgm:spPr/>
    </dgm:pt>
    <dgm:pt modelId="{C5FBEBE9-2990-4340-B585-458721063F5B}" type="pres">
      <dgm:prSet presAssocID="{A80383E8-B003-41A4-9297-2C831F778235}" presName="parentLeftMargin" presStyleLbl="node1" presStyleIdx="0" presStyleCnt="5"/>
      <dgm:spPr/>
    </dgm:pt>
    <dgm:pt modelId="{ADC4C04B-3C0A-433C-A09E-D1DAE7E6C442}" type="pres">
      <dgm:prSet presAssocID="{A80383E8-B003-41A4-9297-2C831F778235}" presName="parentText" presStyleLbl="node1" presStyleIdx="1" presStyleCnt="5">
        <dgm:presLayoutVars>
          <dgm:chMax val="0"/>
          <dgm:bulletEnabled val="1"/>
        </dgm:presLayoutVars>
      </dgm:prSet>
      <dgm:spPr/>
    </dgm:pt>
    <dgm:pt modelId="{53178094-D8BA-48CC-B417-3867D50951A1}" type="pres">
      <dgm:prSet presAssocID="{A80383E8-B003-41A4-9297-2C831F778235}" presName="negativeSpace" presStyleCnt="0"/>
      <dgm:spPr/>
    </dgm:pt>
    <dgm:pt modelId="{07D1D3A9-FD88-45DC-A414-F708AB70F549}" type="pres">
      <dgm:prSet presAssocID="{A80383E8-B003-41A4-9297-2C831F778235}" presName="childText" presStyleLbl="conFgAcc1" presStyleIdx="1" presStyleCnt="5">
        <dgm:presLayoutVars>
          <dgm:bulletEnabled val="1"/>
        </dgm:presLayoutVars>
      </dgm:prSet>
      <dgm:spPr/>
    </dgm:pt>
    <dgm:pt modelId="{140C5A13-64CC-4EF3-AF2D-9F8FDF62F163}" type="pres">
      <dgm:prSet presAssocID="{28513A83-50E5-49BF-B4DD-74D3C5B1ECB9}" presName="spaceBetweenRectangles" presStyleCnt="0"/>
      <dgm:spPr/>
    </dgm:pt>
    <dgm:pt modelId="{76A8BA40-319A-408E-A156-4F227CA5CCF5}" type="pres">
      <dgm:prSet presAssocID="{6F63245C-A64B-4C9F-90A1-40C321A9B5A8}" presName="parentLin" presStyleCnt="0"/>
      <dgm:spPr/>
    </dgm:pt>
    <dgm:pt modelId="{675A2B83-26AA-47BA-AC8F-506744B6E549}" type="pres">
      <dgm:prSet presAssocID="{6F63245C-A64B-4C9F-90A1-40C321A9B5A8}" presName="parentLeftMargin" presStyleLbl="node1" presStyleIdx="1" presStyleCnt="5"/>
      <dgm:spPr/>
    </dgm:pt>
    <dgm:pt modelId="{98D3A5B1-0E9E-4679-9ED0-E87BCA14B0EE}" type="pres">
      <dgm:prSet presAssocID="{6F63245C-A64B-4C9F-90A1-40C321A9B5A8}" presName="parentText" presStyleLbl="node1" presStyleIdx="2" presStyleCnt="5">
        <dgm:presLayoutVars>
          <dgm:chMax val="0"/>
          <dgm:bulletEnabled val="1"/>
        </dgm:presLayoutVars>
      </dgm:prSet>
      <dgm:spPr/>
    </dgm:pt>
    <dgm:pt modelId="{B6B22519-463C-4C9D-8D2A-6EEF074857FC}" type="pres">
      <dgm:prSet presAssocID="{6F63245C-A64B-4C9F-90A1-40C321A9B5A8}" presName="negativeSpace" presStyleCnt="0"/>
      <dgm:spPr/>
    </dgm:pt>
    <dgm:pt modelId="{B7FFF720-E116-47CC-8606-7214223E4C6A}" type="pres">
      <dgm:prSet presAssocID="{6F63245C-A64B-4C9F-90A1-40C321A9B5A8}" presName="childText" presStyleLbl="conFgAcc1" presStyleIdx="2" presStyleCnt="5">
        <dgm:presLayoutVars>
          <dgm:bulletEnabled val="1"/>
        </dgm:presLayoutVars>
      </dgm:prSet>
      <dgm:spPr/>
    </dgm:pt>
    <dgm:pt modelId="{13B0A24D-67D3-485E-9E9A-4D4FCF29C56D}" type="pres">
      <dgm:prSet presAssocID="{9512FE27-D639-4F0A-AF27-9C5C031A51B2}" presName="spaceBetweenRectangles" presStyleCnt="0"/>
      <dgm:spPr/>
    </dgm:pt>
    <dgm:pt modelId="{34E7160C-31C2-4F55-A96F-77BD912195D5}" type="pres">
      <dgm:prSet presAssocID="{C2E16318-A9CA-4850-B0AD-BFB05DA07FA1}" presName="parentLin" presStyleCnt="0"/>
      <dgm:spPr/>
    </dgm:pt>
    <dgm:pt modelId="{ADE9F49F-6721-4BBB-9D56-E79017809662}" type="pres">
      <dgm:prSet presAssocID="{C2E16318-A9CA-4850-B0AD-BFB05DA07FA1}" presName="parentLeftMargin" presStyleLbl="node1" presStyleIdx="2" presStyleCnt="5"/>
      <dgm:spPr/>
    </dgm:pt>
    <dgm:pt modelId="{12BE0B04-8F80-426A-A068-39178FE6A67D}" type="pres">
      <dgm:prSet presAssocID="{C2E16318-A9CA-4850-B0AD-BFB05DA07FA1}" presName="parentText" presStyleLbl="node1" presStyleIdx="3" presStyleCnt="5">
        <dgm:presLayoutVars>
          <dgm:chMax val="0"/>
          <dgm:bulletEnabled val="1"/>
        </dgm:presLayoutVars>
      </dgm:prSet>
      <dgm:spPr/>
    </dgm:pt>
    <dgm:pt modelId="{E820B785-58D2-44B1-BB28-7EDC8FB43428}" type="pres">
      <dgm:prSet presAssocID="{C2E16318-A9CA-4850-B0AD-BFB05DA07FA1}" presName="negativeSpace" presStyleCnt="0"/>
      <dgm:spPr/>
    </dgm:pt>
    <dgm:pt modelId="{1E6FAB37-C2B0-49D6-931E-D95DF4288168}" type="pres">
      <dgm:prSet presAssocID="{C2E16318-A9CA-4850-B0AD-BFB05DA07FA1}" presName="childText" presStyleLbl="conFgAcc1" presStyleIdx="3" presStyleCnt="5">
        <dgm:presLayoutVars>
          <dgm:bulletEnabled val="1"/>
        </dgm:presLayoutVars>
      </dgm:prSet>
      <dgm:spPr/>
    </dgm:pt>
    <dgm:pt modelId="{8DB83F3E-232C-481A-B0B1-570AECE0EA4C}" type="pres">
      <dgm:prSet presAssocID="{D6F62B40-04ED-48F5-8A02-97940E4FAD1C}" presName="spaceBetweenRectangles" presStyleCnt="0"/>
      <dgm:spPr/>
    </dgm:pt>
    <dgm:pt modelId="{0EA79CD3-3894-44F0-828B-F03E59BBC641}" type="pres">
      <dgm:prSet presAssocID="{39C25339-8CC3-4C27-968E-9079E90E29EE}" presName="parentLin" presStyleCnt="0"/>
      <dgm:spPr/>
    </dgm:pt>
    <dgm:pt modelId="{93D37119-33DB-4168-8E45-C66EA079BE40}" type="pres">
      <dgm:prSet presAssocID="{39C25339-8CC3-4C27-968E-9079E90E29EE}" presName="parentLeftMargin" presStyleLbl="node1" presStyleIdx="3" presStyleCnt="5"/>
      <dgm:spPr/>
    </dgm:pt>
    <dgm:pt modelId="{A83D86A1-DFF4-49F3-A5AF-90992958BDD2}" type="pres">
      <dgm:prSet presAssocID="{39C25339-8CC3-4C27-968E-9079E90E29EE}" presName="parentText" presStyleLbl="node1" presStyleIdx="4" presStyleCnt="5">
        <dgm:presLayoutVars>
          <dgm:chMax val="0"/>
          <dgm:bulletEnabled val="1"/>
        </dgm:presLayoutVars>
      </dgm:prSet>
      <dgm:spPr/>
    </dgm:pt>
    <dgm:pt modelId="{CA78A3E5-A751-4189-A2DE-17180523E624}" type="pres">
      <dgm:prSet presAssocID="{39C25339-8CC3-4C27-968E-9079E90E29EE}" presName="negativeSpace" presStyleCnt="0"/>
      <dgm:spPr/>
    </dgm:pt>
    <dgm:pt modelId="{D2C4257A-74F6-4CAE-BB17-7AE9625AA457}" type="pres">
      <dgm:prSet presAssocID="{39C25339-8CC3-4C27-968E-9079E90E29EE}" presName="childText" presStyleLbl="conFgAcc1" presStyleIdx="4" presStyleCnt="5">
        <dgm:presLayoutVars>
          <dgm:bulletEnabled val="1"/>
        </dgm:presLayoutVars>
      </dgm:prSet>
      <dgm:spPr/>
    </dgm:pt>
  </dgm:ptLst>
  <dgm:cxnLst>
    <dgm:cxn modelId="{C70B3A24-2FD4-4805-83FF-AB958784FD1E}" type="presOf" srcId="{C2E16318-A9CA-4850-B0AD-BFB05DA07FA1}" destId="{ADE9F49F-6721-4BBB-9D56-E79017809662}" srcOrd="0" destOrd="0" presId="urn:microsoft.com/office/officeart/2005/8/layout/list1"/>
    <dgm:cxn modelId="{14B1F831-2962-4515-BF76-58F719F1FB63}" srcId="{9870A732-0C83-46B3-B20D-8DAB40C22A2B}" destId="{CEFB12AB-444C-47B4-9232-D653E27313A5}" srcOrd="0" destOrd="0" parTransId="{69A80E2F-65C1-45A7-8A9D-C74FD6B75205}" sibTransId="{598B0256-0856-4A4E-9DB9-E008F5DFA466}"/>
    <dgm:cxn modelId="{B03ED43D-6752-419F-82AD-B941F4B23712}" srcId="{9870A732-0C83-46B3-B20D-8DAB40C22A2B}" destId="{6F63245C-A64B-4C9F-90A1-40C321A9B5A8}" srcOrd="2" destOrd="0" parTransId="{B43B448A-A358-457D-859B-7A969A58951E}" sibTransId="{9512FE27-D639-4F0A-AF27-9C5C031A51B2}"/>
    <dgm:cxn modelId="{D249876A-55BB-45F7-AE77-AFC1CD955F06}" srcId="{9870A732-0C83-46B3-B20D-8DAB40C22A2B}" destId="{A80383E8-B003-41A4-9297-2C831F778235}" srcOrd="1" destOrd="0" parTransId="{57488F9B-DD58-4E1A-8FAF-84F44BBEDA16}" sibTransId="{28513A83-50E5-49BF-B4DD-74D3C5B1ECB9}"/>
    <dgm:cxn modelId="{51BEE072-E000-4E28-A807-6865ACA27B14}" type="presOf" srcId="{9870A732-0C83-46B3-B20D-8DAB40C22A2B}" destId="{91D08055-5B73-4A31-A752-6A2ACEF2FC90}" srcOrd="0" destOrd="0" presId="urn:microsoft.com/office/officeart/2005/8/layout/list1"/>
    <dgm:cxn modelId="{1D721373-1497-4D83-94D5-D8FC6012A49C}" type="presOf" srcId="{A80383E8-B003-41A4-9297-2C831F778235}" destId="{ADC4C04B-3C0A-433C-A09E-D1DAE7E6C442}" srcOrd="1" destOrd="0" presId="urn:microsoft.com/office/officeart/2005/8/layout/list1"/>
    <dgm:cxn modelId="{635FB184-A56C-41C7-B5DE-BFF4229FF180}" type="presOf" srcId="{C2E16318-A9CA-4850-B0AD-BFB05DA07FA1}" destId="{12BE0B04-8F80-426A-A068-39178FE6A67D}" srcOrd="1" destOrd="0" presId="urn:microsoft.com/office/officeart/2005/8/layout/list1"/>
    <dgm:cxn modelId="{93480F8A-6D36-43CE-80E8-97B33281FF7A}" type="presOf" srcId="{6F63245C-A64B-4C9F-90A1-40C321A9B5A8}" destId="{98D3A5B1-0E9E-4679-9ED0-E87BCA14B0EE}" srcOrd="1" destOrd="0" presId="urn:microsoft.com/office/officeart/2005/8/layout/list1"/>
    <dgm:cxn modelId="{13473C9D-10D6-4DFB-B787-81B6ECEEC9C6}" srcId="{9870A732-0C83-46B3-B20D-8DAB40C22A2B}" destId="{C2E16318-A9CA-4850-B0AD-BFB05DA07FA1}" srcOrd="3" destOrd="0" parTransId="{5991F737-9B75-40F6-9390-0589CACD2438}" sibTransId="{D6F62B40-04ED-48F5-8A02-97940E4FAD1C}"/>
    <dgm:cxn modelId="{9B5DF0A1-23CC-4FC9-905C-5A5010FD1E90}" type="presOf" srcId="{39C25339-8CC3-4C27-968E-9079E90E29EE}" destId="{93D37119-33DB-4168-8E45-C66EA079BE40}" srcOrd="0" destOrd="0" presId="urn:microsoft.com/office/officeart/2005/8/layout/list1"/>
    <dgm:cxn modelId="{092780A7-85BE-4BF5-87C3-1F546846DA52}" type="presOf" srcId="{A80383E8-B003-41A4-9297-2C831F778235}" destId="{C5FBEBE9-2990-4340-B585-458721063F5B}" srcOrd="0" destOrd="0" presId="urn:microsoft.com/office/officeart/2005/8/layout/list1"/>
    <dgm:cxn modelId="{30B6C7B0-84B2-44C8-8367-7497549F7741}" type="presOf" srcId="{CEFB12AB-444C-47B4-9232-D653E27313A5}" destId="{848CB7BC-8C0E-43CE-8FAA-C7386B621567}" srcOrd="0" destOrd="0" presId="urn:microsoft.com/office/officeart/2005/8/layout/list1"/>
    <dgm:cxn modelId="{B083C3D7-5B42-4ADE-B7B0-DD9AD1B93610}" type="presOf" srcId="{CEFB12AB-444C-47B4-9232-D653E27313A5}" destId="{19E3AE91-2318-489F-8CAD-062BC567AA0D}" srcOrd="1" destOrd="0" presId="urn:microsoft.com/office/officeart/2005/8/layout/list1"/>
    <dgm:cxn modelId="{06B249E4-E76E-4085-B22A-46E9BBB7A127}" srcId="{9870A732-0C83-46B3-B20D-8DAB40C22A2B}" destId="{39C25339-8CC3-4C27-968E-9079E90E29EE}" srcOrd="4" destOrd="0" parTransId="{01136A07-C9C6-457D-B731-942F72E0E1BD}" sibTransId="{6D5D60AF-E643-4550-9111-4C7087F44348}"/>
    <dgm:cxn modelId="{1EA245E9-DAD2-4F38-A83C-CD3B5CA54E07}" type="presOf" srcId="{6F63245C-A64B-4C9F-90A1-40C321A9B5A8}" destId="{675A2B83-26AA-47BA-AC8F-506744B6E549}" srcOrd="0" destOrd="0" presId="urn:microsoft.com/office/officeart/2005/8/layout/list1"/>
    <dgm:cxn modelId="{3F730EFC-6D00-4871-B23F-72DF032AE3FD}" type="presOf" srcId="{39C25339-8CC3-4C27-968E-9079E90E29EE}" destId="{A83D86A1-DFF4-49F3-A5AF-90992958BDD2}" srcOrd="1" destOrd="0" presId="urn:microsoft.com/office/officeart/2005/8/layout/list1"/>
    <dgm:cxn modelId="{204B36F1-1CD9-4D25-9342-9DD495C6EB7A}" type="presParOf" srcId="{91D08055-5B73-4A31-A752-6A2ACEF2FC90}" destId="{13B5097D-F732-47D5-8DBA-9EC61337EA15}" srcOrd="0" destOrd="0" presId="urn:microsoft.com/office/officeart/2005/8/layout/list1"/>
    <dgm:cxn modelId="{9EA388A2-08F8-425C-9997-AD22C304746D}" type="presParOf" srcId="{13B5097D-F732-47D5-8DBA-9EC61337EA15}" destId="{848CB7BC-8C0E-43CE-8FAA-C7386B621567}" srcOrd="0" destOrd="0" presId="urn:microsoft.com/office/officeart/2005/8/layout/list1"/>
    <dgm:cxn modelId="{7B05DF26-FC36-4EDB-9A70-DC96F1A1C5F4}" type="presParOf" srcId="{13B5097D-F732-47D5-8DBA-9EC61337EA15}" destId="{19E3AE91-2318-489F-8CAD-062BC567AA0D}" srcOrd="1" destOrd="0" presId="urn:microsoft.com/office/officeart/2005/8/layout/list1"/>
    <dgm:cxn modelId="{1E0AC87C-7038-41A2-A86E-A7C13DAC2A41}" type="presParOf" srcId="{91D08055-5B73-4A31-A752-6A2ACEF2FC90}" destId="{7DE4954B-862D-455F-B2C4-E8DC29556EDC}" srcOrd="1" destOrd="0" presId="urn:microsoft.com/office/officeart/2005/8/layout/list1"/>
    <dgm:cxn modelId="{DA8E4840-81AB-41FC-A3B9-02A1C6E7802E}" type="presParOf" srcId="{91D08055-5B73-4A31-A752-6A2ACEF2FC90}" destId="{A5433909-4EAD-4B32-87B2-5C38A88F9A85}" srcOrd="2" destOrd="0" presId="urn:microsoft.com/office/officeart/2005/8/layout/list1"/>
    <dgm:cxn modelId="{7AA0E64C-C345-48C4-A73E-180F8D85B898}" type="presParOf" srcId="{91D08055-5B73-4A31-A752-6A2ACEF2FC90}" destId="{34D553F2-33AA-484F-B9AC-952941C2D307}" srcOrd="3" destOrd="0" presId="urn:microsoft.com/office/officeart/2005/8/layout/list1"/>
    <dgm:cxn modelId="{A5A7F649-24E1-4A0B-B7B3-5B9ADD1F27A2}" type="presParOf" srcId="{91D08055-5B73-4A31-A752-6A2ACEF2FC90}" destId="{454E3108-F45C-4661-A720-8B2F712C0167}" srcOrd="4" destOrd="0" presId="urn:microsoft.com/office/officeart/2005/8/layout/list1"/>
    <dgm:cxn modelId="{5A960C35-C674-4C79-99C8-88537E2AE10F}" type="presParOf" srcId="{454E3108-F45C-4661-A720-8B2F712C0167}" destId="{C5FBEBE9-2990-4340-B585-458721063F5B}" srcOrd="0" destOrd="0" presId="urn:microsoft.com/office/officeart/2005/8/layout/list1"/>
    <dgm:cxn modelId="{6FDB52F0-B5B7-45A7-BF94-73892C5480F1}" type="presParOf" srcId="{454E3108-F45C-4661-A720-8B2F712C0167}" destId="{ADC4C04B-3C0A-433C-A09E-D1DAE7E6C442}" srcOrd="1" destOrd="0" presId="urn:microsoft.com/office/officeart/2005/8/layout/list1"/>
    <dgm:cxn modelId="{451B8A99-B52F-46DC-B61E-F522DD0ED876}" type="presParOf" srcId="{91D08055-5B73-4A31-A752-6A2ACEF2FC90}" destId="{53178094-D8BA-48CC-B417-3867D50951A1}" srcOrd="5" destOrd="0" presId="urn:microsoft.com/office/officeart/2005/8/layout/list1"/>
    <dgm:cxn modelId="{D87885B8-855B-4101-AA04-B0385B4E98DA}" type="presParOf" srcId="{91D08055-5B73-4A31-A752-6A2ACEF2FC90}" destId="{07D1D3A9-FD88-45DC-A414-F708AB70F549}" srcOrd="6" destOrd="0" presId="urn:microsoft.com/office/officeart/2005/8/layout/list1"/>
    <dgm:cxn modelId="{E1646F94-8181-4C25-BE1C-43A70718C892}" type="presParOf" srcId="{91D08055-5B73-4A31-A752-6A2ACEF2FC90}" destId="{140C5A13-64CC-4EF3-AF2D-9F8FDF62F163}" srcOrd="7" destOrd="0" presId="urn:microsoft.com/office/officeart/2005/8/layout/list1"/>
    <dgm:cxn modelId="{5F1737C4-AA8F-4981-A9ED-EAFCF399482B}" type="presParOf" srcId="{91D08055-5B73-4A31-A752-6A2ACEF2FC90}" destId="{76A8BA40-319A-408E-A156-4F227CA5CCF5}" srcOrd="8" destOrd="0" presId="urn:microsoft.com/office/officeart/2005/8/layout/list1"/>
    <dgm:cxn modelId="{39884B5C-B1AC-46FC-BA00-547DBC22BD19}" type="presParOf" srcId="{76A8BA40-319A-408E-A156-4F227CA5CCF5}" destId="{675A2B83-26AA-47BA-AC8F-506744B6E549}" srcOrd="0" destOrd="0" presId="urn:microsoft.com/office/officeart/2005/8/layout/list1"/>
    <dgm:cxn modelId="{CB3C887A-CB82-46B2-B64F-24477183BC5A}" type="presParOf" srcId="{76A8BA40-319A-408E-A156-4F227CA5CCF5}" destId="{98D3A5B1-0E9E-4679-9ED0-E87BCA14B0EE}" srcOrd="1" destOrd="0" presId="urn:microsoft.com/office/officeart/2005/8/layout/list1"/>
    <dgm:cxn modelId="{D5066075-F3B6-42ED-BFAB-E065F0D275C8}" type="presParOf" srcId="{91D08055-5B73-4A31-A752-6A2ACEF2FC90}" destId="{B6B22519-463C-4C9D-8D2A-6EEF074857FC}" srcOrd="9" destOrd="0" presId="urn:microsoft.com/office/officeart/2005/8/layout/list1"/>
    <dgm:cxn modelId="{BA7FD703-5D18-48DE-8027-40DF0BE91BA3}" type="presParOf" srcId="{91D08055-5B73-4A31-A752-6A2ACEF2FC90}" destId="{B7FFF720-E116-47CC-8606-7214223E4C6A}" srcOrd="10" destOrd="0" presId="urn:microsoft.com/office/officeart/2005/8/layout/list1"/>
    <dgm:cxn modelId="{49AEF535-ED7B-4E04-AE3C-C1855B4AAB6F}" type="presParOf" srcId="{91D08055-5B73-4A31-A752-6A2ACEF2FC90}" destId="{13B0A24D-67D3-485E-9E9A-4D4FCF29C56D}" srcOrd="11" destOrd="0" presId="urn:microsoft.com/office/officeart/2005/8/layout/list1"/>
    <dgm:cxn modelId="{5403FC85-61B4-467F-951F-398CB3D91E3D}" type="presParOf" srcId="{91D08055-5B73-4A31-A752-6A2ACEF2FC90}" destId="{34E7160C-31C2-4F55-A96F-77BD912195D5}" srcOrd="12" destOrd="0" presId="urn:microsoft.com/office/officeart/2005/8/layout/list1"/>
    <dgm:cxn modelId="{A8B40C5A-E0B5-48ED-A802-9437A8006C8F}" type="presParOf" srcId="{34E7160C-31C2-4F55-A96F-77BD912195D5}" destId="{ADE9F49F-6721-4BBB-9D56-E79017809662}" srcOrd="0" destOrd="0" presId="urn:microsoft.com/office/officeart/2005/8/layout/list1"/>
    <dgm:cxn modelId="{CBF90C59-CD12-4BCD-B160-D5ABA1C345C4}" type="presParOf" srcId="{34E7160C-31C2-4F55-A96F-77BD912195D5}" destId="{12BE0B04-8F80-426A-A068-39178FE6A67D}" srcOrd="1" destOrd="0" presId="urn:microsoft.com/office/officeart/2005/8/layout/list1"/>
    <dgm:cxn modelId="{63A3DF95-A339-4867-AEAD-F620BA2ADC89}" type="presParOf" srcId="{91D08055-5B73-4A31-A752-6A2ACEF2FC90}" destId="{E820B785-58D2-44B1-BB28-7EDC8FB43428}" srcOrd="13" destOrd="0" presId="urn:microsoft.com/office/officeart/2005/8/layout/list1"/>
    <dgm:cxn modelId="{3474C2DF-EC9E-4B32-BA54-18E21F0546BA}" type="presParOf" srcId="{91D08055-5B73-4A31-A752-6A2ACEF2FC90}" destId="{1E6FAB37-C2B0-49D6-931E-D95DF4288168}" srcOrd="14" destOrd="0" presId="urn:microsoft.com/office/officeart/2005/8/layout/list1"/>
    <dgm:cxn modelId="{9D963A6C-58A6-4657-8933-458F2E90C5B3}" type="presParOf" srcId="{91D08055-5B73-4A31-A752-6A2ACEF2FC90}" destId="{8DB83F3E-232C-481A-B0B1-570AECE0EA4C}" srcOrd="15" destOrd="0" presId="urn:microsoft.com/office/officeart/2005/8/layout/list1"/>
    <dgm:cxn modelId="{A02194A7-80D5-413B-99CC-531E42D0B913}" type="presParOf" srcId="{91D08055-5B73-4A31-A752-6A2ACEF2FC90}" destId="{0EA79CD3-3894-44F0-828B-F03E59BBC641}" srcOrd="16" destOrd="0" presId="urn:microsoft.com/office/officeart/2005/8/layout/list1"/>
    <dgm:cxn modelId="{E7DF1D50-1B7A-437E-9A4E-C144EE805BEC}" type="presParOf" srcId="{0EA79CD3-3894-44F0-828B-F03E59BBC641}" destId="{93D37119-33DB-4168-8E45-C66EA079BE40}" srcOrd="0" destOrd="0" presId="urn:microsoft.com/office/officeart/2005/8/layout/list1"/>
    <dgm:cxn modelId="{AB6AC461-F475-4BD5-ABFC-A0F9501F9359}" type="presParOf" srcId="{0EA79CD3-3894-44F0-828B-F03E59BBC641}" destId="{A83D86A1-DFF4-49F3-A5AF-90992958BDD2}" srcOrd="1" destOrd="0" presId="urn:microsoft.com/office/officeart/2005/8/layout/list1"/>
    <dgm:cxn modelId="{06E5969F-AFC6-45A4-90DC-23A4018316D1}" type="presParOf" srcId="{91D08055-5B73-4A31-A752-6A2ACEF2FC90}" destId="{CA78A3E5-A751-4189-A2DE-17180523E624}" srcOrd="17" destOrd="0" presId="urn:microsoft.com/office/officeart/2005/8/layout/list1"/>
    <dgm:cxn modelId="{EBCDAE2E-1189-4443-BD03-4AACCF58D726}" type="presParOf" srcId="{91D08055-5B73-4A31-A752-6A2ACEF2FC90}" destId="{D2C4257A-74F6-4CAE-BB17-7AE9625AA457}" srcOrd="18"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973A2A-7597-47F5-BE16-C2EE8336257E}">
      <dsp:nvSpPr>
        <dsp:cNvPr id="0" name=""/>
        <dsp:cNvSpPr/>
      </dsp:nvSpPr>
      <dsp:spPr>
        <a:xfrm>
          <a:off x="154" y="877870"/>
          <a:ext cx="1869432" cy="224331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w="6350" cap="flat" cmpd="sng" algn="ctr">
          <a:solidFill>
            <a:schemeClr val="accent3">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84658" tIns="0" rIns="184658" bIns="330200" numCol="1" spcCol="1270" anchor="t" anchorCtr="0">
          <a:noAutofit/>
        </a:bodyPr>
        <a:lstStyle/>
        <a:p>
          <a:pPr marL="0" lvl="0" indent="0" algn="l" defTabSz="889000">
            <a:lnSpc>
              <a:spcPct val="90000"/>
            </a:lnSpc>
            <a:spcBef>
              <a:spcPct val="0"/>
            </a:spcBef>
            <a:spcAft>
              <a:spcPct val="35000"/>
            </a:spcAft>
            <a:buNone/>
          </a:pPr>
          <a:r>
            <a:rPr lang="en-US" sz="2000" kern="1200"/>
            <a:t>Avoid assumptions.</a:t>
          </a:r>
        </a:p>
      </dsp:txBody>
      <dsp:txXfrm>
        <a:off x="154" y="1775198"/>
        <a:ext cx="1869432" cy="1345991"/>
      </dsp:txXfrm>
    </dsp:sp>
    <dsp:sp modelId="{E77E88C2-19E5-4EDC-9E69-4A03D4CF2DAE}">
      <dsp:nvSpPr>
        <dsp:cNvPr id="0" name=""/>
        <dsp:cNvSpPr/>
      </dsp:nvSpPr>
      <dsp:spPr>
        <a:xfrm>
          <a:off x="154" y="877870"/>
          <a:ext cx="1869432" cy="897327"/>
        </a:xfrm>
        <a:prstGeom prst="rect">
          <a:avLst/>
        </a:prstGeom>
        <a:noFill/>
        <a:ln w="6350" cap="flat" cmpd="sng" algn="ctr">
          <a:noFill/>
          <a:prstDash val="solid"/>
          <a:miter lim="800000"/>
        </a:ln>
        <a:effectLst>
          <a:outerShdw blurRad="57150" dist="19050" dir="5400000" algn="ctr" rotWithShape="0">
            <a:srgbClr val="000000">
              <a:alpha val="63000"/>
            </a:srgbClr>
          </a:outerShdw>
        </a:effectLst>
        <a:sp3d/>
      </dsp:spPr>
      <dsp:style>
        <a:lnRef idx="1">
          <a:scrgbClr r="0" g="0" b="0"/>
        </a:lnRef>
        <a:fillRef idx="3">
          <a:scrgbClr r="0" g="0" b="0"/>
        </a:fillRef>
        <a:effectRef idx="3">
          <a:scrgbClr r="0" g="0" b="0"/>
        </a:effectRef>
        <a:fontRef idx="minor">
          <a:schemeClr val="lt1"/>
        </a:fontRef>
      </dsp:style>
      <dsp:txBody>
        <a:bodyPr spcFirstLastPara="0" vert="horz" wrap="square" lIns="184658" tIns="165100" rIns="184658" bIns="165100" numCol="1" spcCol="1270" anchor="ctr" anchorCtr="0">
          <a:noAutofit/>
        </a:bodyPr>
        <a:lstStyle/>
        <a:p>
          <a:pPr marL="0" lvl="0" indent="0" algn="l" defTabSz="1911350">
            <a:lnSpc>
              <a:spcPct val="90000"/>
            </a:lnSpc>
            <a:spcBef>
              <a:spcPct val="0"/>
            </a:spcBef>
            <a:spcAft>
              <a:spcPct val="35000"/>
            </a:spcAft>
            <a:buNone/>
          </a:pPr>
          <a:r>
            <a:rPr lang="en-US" sz="4300" kern="1200"/>
            <a:t>01</a:t>
          </a:r>
        </a:p>
      </dsp:txBody>
      <dsp:txXfrm>
        <a:off x="154" y="877870"/>
        <a:ext cx="1869432" cy="897327"/>
      </dsp:txXfrm>
    </dsp:sp>
    <dsp:sp modelId="{49848126-22A3-4267-BEF8-1BE67C2A4777}">
      <dsp:nvSpPr>
        <dsp:cNvPr id="0" name=""/>
        <dsp:cNvSpPr/>
      </dsp:nvSpPr>
      <dsp:spPr>
        <a:xfrm>
          <a:off x="2019142" y="877870"/>
          <a:ext cx="1869432" cy="224331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w="6350" cap="flat" cmpd="sng" algn="ctr">
          <a:solidFill>
            <a:schemeClr val="accent3">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84658" tIns="0" rIns="184658" bIns="330200" numCol="1" spcCol="1270" anchor="t" anchorCtr="0">
          <a:noAutofit/>
        </a:bodyPr>
        <a:lstStyle/>
        <a:p>
          <a:pPr marL="0" lvl="0" indent="0" algn="l" defTabSz="889000">
            <a:lnSpc>
              <a:spcPct val="90000"/>
            </a:lnSpc>
            <a:spcBef>
              <a:spcPct val="0"/>
            </a:spcBef>
            <a:spcAft>
              <a:spcPct val="35000"/>
            </a:spcAft>
            <a:buNone/>
          </a:pPr>
          <a:r>
            <a:rPr lang="en-US" sz="2000" kern="1200"/>
            <a:t>Ask instead of assume.</a:t>
          </a:r>
        </a:p>
      </dsp:txBody>
      <dsp:txXfrm>
        <a:off x="2019142" y="1775198"/>
        <a:ext cx="1869432" cy="1345991"/>
      </dsp:txXfrm>
    </dsp:sp>
    <dsp:sp modelId="{ED48B8D7-E0BA-4225-AC13-5A6615B7D23D}">
      <dsp:nvSpPr>
        <dsp:cNvPr id="0" name=""/>
        <dsp:cNvSpPr/>
      </dsp:nvSpPr>
      <dsp:spPr>
        <a:xfrm>
          <a:off x="2019142" y="877870"/>
          <a:ext cx="1869432" cy="897327"/>
        </a:xfrm>
        <a:prstGeom prst="rect">
          <a:avLst/>
        </a:prstGeom>
        <a:noFill/>
        <a:ln w="6350" cap="flat" cmpd="sng" algn="ctr">
          <a:noFill/>
          <a:prstDash val="solid"/>
          <a:miter lim="800000"/>
        </a:ln>
        <a:effectLst>
          <a:outerShdw blurRad="57150" dist="19050" dir="5400000" algn="ctr" rotWithShape="0">
            <a:srgbClr val="000000">
              <a:alpha val="63000"/>
            </a:srgbClr>
          </a:outerShdw>
        </a:effectLst>
        <a:sp3d/>
      </dsp:spPr>
      <dsp:style>
        <a:lnRef idx="1">
          <a:scrgbClr r="0" g="0" b="0"/>
        </a:lnRef>
        <a:fillRef idx="3">
          <a:scrgbClr r="0" g="0" b="0"/>
        </a:fillRef>
        <a:effectRef idx="3">
          <a:scrgbClr r="0" g="0" b="0"/>
        </a:effectRef>
        <a:fontRef idx="minor">
          <a:schemeClr val="lt1"/>
        </a:fontRef>
      </dsp:style>
      <dsp:txBody>
        <a:bodyPr spcFirstLastPara="0" vert="horz" wrap="square" lIns="184658" tIns="165100" rIns="184658" bIns="165100" numCol="1" spcCol="1270" anchor="ctr" anchorCtr="0">
          <a:noAutofit/>
        </a:bodyPr>
        <a:lstStyle/>
        <a:p>
          <a:pPr marL="0" lvl="0" indent="0" algn="l" defTabSz="1911350">
            <a:lnSpc>
              <a:spcPct val="90000"/>
            </a:lnSpc>
            <a:spcBef>
              <a:spcPct val="0"/>
            </a:spcBef>
            <a:spcAft>
              <a:spcPct val="35000"/>
            </a:spcAft>
            <a:buNone/>
          </a:pPr>
          <a:r>
            <a:rPr lang="en-US" sz="4300" kern="1200"/>
            <a:t>02</a:t>
          </a:r>
        </a:p>
      </dsp:txBody>
      <dsp:txXfrm>
        <a:off x="2019142" y="877870"/>
        <a:ext cx="1869432" cy="897327"/>
      </dsp:txXfrm>
    </dsp:sp>
    <dsp:sp modelId="{92FE4B34-6FFF-4495-A97B-2E6B77DBE6D8}">
      <dsp:nvSpPr>
        <dsp:cNvPr id="0" name=""/>
        <dsp:cNvSpPr/>
      </dsp:nvSpPr>
      <dsp:spPr>
        <a:xfrm>
          <a:off x="4038129" y="877870"/>
          <a:ext cx="1869432" cy="224331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w="6350" cap="flat" cmpd="sng" algn="ctr">
          <a:solidFill>
            <a:schemeClr val="accent3">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84658" tIns="0" rIns="184658" bIns="330200" numCol="1" spcCol="1270" anchor="t" anchorCtr="0">
          <a:noAutofit/>
        </a:bodyPr>
        <a:lstStyle/>
        <a:p>
          <a:pPr marL="0" lvl="0" indent="0" algn="l" defTabSz="889000">
            <a:lnSpc>
              <a:spcPct val="90000"/>
            </a:lnSpc>
            <a:spcBef>
              <a:spcPct val="0"/>
            </a:spcBef>
            <a:spcAft>
              <a:spcPct val="35000"/>
            </a:spcAft>
            <a:buNone/>
          </a:pPr>
          <a:r>
            <a:rPr lang="en-US" sz="2000" kern="1200"/>
            <a:t>Be aware of power and identity.</a:t>
          </a:r>
        </a:p>
      </dsp:txBody>
      <dsp:txXfrm>
        <a:off x="4038129" y="1775198"/>
        <a:ext cx="1869432" cy="1345991"/>
      </dsp:txXfrm>
    </dsp:sp>
    <dsp:sp modelId="{B00D2C9F-D5E7-4C9D-9941-E1299048776E}">
      <dsp:nvSpPr>
        <dsp:cNvPr id="0" name=""/>
        <dsp:cNvSpPr/>
      </dsp:nvSpPr>
      <dsp:spPr>
        <a:xfrm>
          <a:off x="4038129" y="877870"/>
          <a:ext cx="1869432" cy="897327"/>
        </a:xfrm>
        <a:prstGeom prst="rect">
          <a:avLst/>
        </a:prstGeom>
        <a:noFill/>
        <a:ln w="6350" cap="flat" cmpd="sng" algn="ctr">
          <a:noFill/>
          <a:prstDash val="solid"/>
          <a:miter lim="800000"/>
        </a:ln>
        <a:effectLst>
          <a:outerShdw blurRad="57150" dist="19050" dir="5400000" algn="ctr" rotWithShape="0">
            <a:srgbClr val="000000">
              <a:alpha val="63000"/>
            </a:srgbClr>
          </a:outerShdw>
        </a:effectLst>
        <a:sp3d/>
      </dsp:spPr>
      <dsp:style>
        <a:lnRef idx="1">
          <a:scrgbClr r="0" g="0" b="0"/>
        </a:lnRef>
        <a:fillRef idx="3">
          <a:scrgbClr r="0" g="0" b="0"/>
        </a:fillRef>
        <a:effectRef idx="3">
          <a:scrgbClr r="0" g="0" b="0"/>
        </a:effectRef>
        <a:fontRef idx="minor">
          <a:schemeClr val="lt1"/>
        </a:fontRef>
      </dsp:style>
      <dsp:txBody>
        <a:bodyPr spcFirstLastPara="0" vert="horz" wrap="square" lIns="184658" tIns="165100" rIns="184658" bIns="165100" numCol="1" spcCol="1270" anchor="ctr" anchorCtr="0">
          <a:noAutofit/>
        </a:bodyPr>
        <a:lstStyle/>
        <a:p>
          <a:pPr marL="0" lvl="0" indent="0" algn="l" defTabSz="1911350">
            <a:lnSpc>
              <a:spcPct val="90000"/>
            </a:lnSpc>
            <a:spcBef>
              <a:spcPct val="0"/>
            </a:spcBef>
            <a:spcAft>
              <a:spcPct val="35000"/>
            </a:spcAft>
            <a:buNone/>
          </a:pPr>
          <a:r>
            <a:rPr lang="en-US" sz="4300" kern="1200"/>
            <a:t>03</a:t>
          </a:r>
        </a:p>
      </dsp:txBody>
      <dsp:txXfrm>
        <a:off x="4038129" y="877870"/>
        <a:ext cx="1869432" cy="897327"/>
      </dsp:txXfrm>
    </dsp:sp>
    <dsp:sp modelId="{9BF8FC08-7FC8-45EC-BDD6-2027FF56060D}">
      <dsp:nvSpPr>
        <dsp:cNvPr id="0" name=""/>
        <dsp:cNvSpPr/>
      </dsp:nvSpPr>
      <dsp:spPr>
        <a:xfrm>
          <a:off x="6057117" y="877870"/>
          <a:ext cx="1869432" cy="224331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w="6350" cap="flat" cmpd="sng" algn="ctr">
          <a:solidFill>
            <a:schemeClr val="accent3">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84658" tIns="0" rIns="184658" bIns="330200" numCol="1" spcCol="1270" anchor="t" anchorCtr="0">
          <a:noAutofit/>
        </a:bodyPr>
        <a:lstStyle/>
        <a:p>
          <a:pPr marL="0" lvl="0" indent="0" algn="l" defTabSz="889000">
            <a:lnSpc>
              <a:spcPct val="90000"/>
            </a:lnSpc>
            <a:spcBef>
              <a:spcPct val="0"/>
            </a:spcBef>
            <a:spcAft>
              <a:spcPct val="35000"/>
            </a:spcAft>
            <a:buNone/>
          </a:pPr>
          <a:r>
            <a:rPr lang="en-US" sz="2000" kern="1200"/>
            <a:t>Normalize Emotion</a:t>
          </a:r>
        </a:p>
      </dsp:txBody>
      <dsp:txXfrm>
        <a:off x="6057117" y="1775198"/>
        <a:ext cx="1869432" cy="1345991"/>
      </dsp:txXfrm>
    </dsp:sp>
    <dsp:sp modelId="{1F95BB67-85AA-4B9E-A01F-A612CA24651F}">
      <dsp:nvSpPr>
        <dsp:cNvPr id="0" name=""/>
        <dsp:cNvSpPr/>
      </dsp:nvSpPr>
      <dsp:spPr>
        <a:xfrm>
          <a:off x="6057117" y="877870"/>
          <a:ext cx="1869432" cy="897327"/>
        </a:xfrm>
        <a:prstGeom prst="rect">
          <a:avLst/>
        </a:prstGeom>
        <a:noFill/>
        <a:ln w="6350" cap="flat" cmpd="sng" algn="ctr">
          <a:noFill/>
          <a:prstDash val="solid"/>
          <a:miter lim="800000"/>
        </a:ln>
        <a:effectLst>
          <a:outerShdw blurRad="57150" dist="19050" dir="5400000" algn="ctr" rotWithShape="0">
            <a:srgbClr val="000000">
              <a:alpha val="63000"/>
            </a:srgbClr>
          </a:outerShdw>
        </a:effectLst>
        <a:sp3d/>
      </dsp:spPr>
      <dsp:style>
        <a:lnRef idx="1">
          <a:scrgbClr r="0" g="0" b="0"/>
        </a:lnRef>
        <a:fillRef idx="3">
          <a:scrgbClr r="0" g="0" b="0"/>
        </a:fillRef>
        <a:effectRef idx="3">
          <a:scrgbClr r="0" g="0" b="0"/>
        </a:effectRef>
        <a:fontRef idx="minor">
          <a:schemeClr val="lt1"/>
        </a:fontRef>
      </dsp:style>
      <dsp:txBody>
        <a:bodyPr spcFirstLastPara="0" vert="horz" wrap="square" lIns="184658" tIns="165100" rIns="184658" bIns="165100" numCol="1" spcCol="1270" anchor="ctr" anchorCtr="0">
          <a:noAutofit/>
        </a:bodyPr>
        <a:lstStyle/>
        <a:p>
          <a:pPr marL="0" lvl="0" indent="0" algn="l" defTabSz="1911350">
            <a:lnSpc>
              <a:spcPct val="90000"/>
            </a:lnSpc>
            <a:spcBef>
              <a:spcPct val="0"/>
            </a:spcBef>
            <a:spcAft>
              <a:spcPct val="35000"/>
            </a:spcAft>
            <a:buNone/>
          </a:pPr>
          <a:r>
            <a:rPr lang="en-US" sz="4300" kern="1200"/>
            <a:t>04</a:t>
          </a:r>
        </a:p>
      </dsp:txBody>
      <dsp:txXfrm>
        <a:off x="6057117" y="877870"/>
        <a:ext cx="1869432" cy="89732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433909-4EAD-4B32-87B2-5C38A88F9A85}">
      <dsp:nvSpPr>
        <dsp:cNvPr id="0" name=""/>
        <dsp:cNvSpPr/>
      </dsp:nvSpPr>
      <dsp:spPr>
        <a:xfrm>
          <a:off x="0" y="319218"/>
          <a:ext cx="6787747" cy="403200"/>
        </a:xfrm>
        <a:prstGeom prst="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9E3AE91-2318-489F-8CAD-062BC567AA0D}">
      <dsp:nvSpPr>
        <dsp:cNvPr id="0" name=""/>
        <dsp:cNvSpPr/>
      </dsp:nvSpPr>
      <dsp:spPr>
        <a:xfrm>
          <a:off x="339387" y="83058"/>
          <a:ext cx="4751422" cy="472320"/>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79592" tIns="0" rIns="179592" bIns="0" numCol="1" spcCol="1270" anchor="ctr" anchorCtr="0">
          <a:noAutofit/>
        </a:bodyPr>
        <a:lstStyle/>
        <a:p>
          <a:pPr marL="0" lvl="0" indent="0" algn="l" defTabSz="711200">
            <a:lnSpc>
              <a:spcPct val="90000"/>
            </a:lnSpc>
            <a:spcBef>
              <a:spcPct val="0"/>
            </a:spcBef>
            <a:spcAft>
              <a:spcPct val="35000"/>
            </a:spcAft>
            <a:buNone/>
          </a:pPr>
          <a:r>
            <a:rPr lang="en-US" sz="1600" kern="1200"/>
            <a:t>Verbal Indicators</a:t>
          </a:r>
        </a:p>
      </dsp:txBody>
      <dsp:txXfrm>
        <a:off x="362444" y="106115"/>
        <a:ext cx="4705308" cy="426206"/>
      </dsp:txXfrm>
    </dsp:sp>
    <dsp:sp modelId="{07D1D3A9-FD88-45DC-A414-F708AB70F549}">
      <dsp:nvSpPr>
        <dsp:cNvPr id="0" name=""/>
        <dsp:cNvSpPr/>
      </dsp:nvSpPr>
      <dsp:spPr>
        <a:xfrm>
          <a:off x="0" y="1044978"/>
          <a:ext cx="6787747" cy="403200"/>
        </a:xfrm>
        <a:prstGeom prst="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DC4C04B-3C0A-433C-A09E-D1DAE7E6C442}">
      <dsp:nvSpPr>
        <dsp:cNvPr id="0" name=""/>
        <dsp:cNvSpPr/>
      </dsp:nvSpPr>
      <dsp:spPr>
        <a:xfrm>
          <a:off x="339387" y="808818"/>
          <a:ext cx="4751422" cy="472320"/>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79592" tIns="0" rIns="179592" bIns="0" numCol="1" spcCol="1270" anchor="ctr" anchorCtr="0">
          <a:noAutofit/>
        </a:bodyPr>
        <a:lstStyle/>
        <a:p>
          <a:pPr marL="0" lvl="0" indent="0" algn="l" defTabSz="711200">
            <a:lnSpc>
              <a:spcPct val="90000"/>
            </a:lnSpc>
            <a:spcBef>
              <a:spcPct val="0"/>
            </a:spcBef>
            <a:spcAft>
              <a:spcPct val="35000"/>
            </a:spcAft>
            <a:buNone/>
          </a:pPr>
          <a:r>
            <a:rPr lang="en-US" sz="1600" kern="1200"/>
            <a:t>Non-Verbal Behavior</a:t>
          </a:r>
        </a:p>
      </dsp:txBody>
      <dsp:txXfrm>
        <a:off x="362444" y="831875"/>
        <a:ext cx="4705308" cy="426206"/>
      </dsp:txXfrm>
    </dsp:sp>
    <dsp:sp modelId="{B7FFF720-E116-47CC-8606-7214223E4C6A}">
      <dsp:nvSpPr>
        <dsp:cNvPr id="0" name=""/>
        <dsp:cNvSpPr/>
      </dsp:nvSpPr>
      <dsp:spPr>
        <a:xfrm>
          <a:off x="0" y="1770738"/>
          <a:ext cx="6787747" cy="403200"/>
        </a:xfrm>
        <a:prstGeom prst="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8D3A5B1-0E9E-4679-9ED0-E87BCA14B0EE}">
      <dsp:nvSpPr>
        <dsp:cNvPr id="0" name=""/>
        <dsp:cNvSpPr/>
      </dsp:nvSpPr>
      <dsp:spPr>
        <a:xfrm>
          <a:off x="339387" y="1534578"/>
          <a:ext cx="4751422" cy="472320"/>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79592" tIns="0" rIns="179592" bIns="0" numCol="1" spcCol="1270" anchor="ctr" anchorCtr="0">
          <a:noAutofit/>
        </a:bodyPr>
        <a:lstStyle/>
        <a:p>
          <a:pPr marL="0" lvl="0" indent="0" algn="l" defTabSz="711200">
            <a:lnSpc>
              <a:spcPct val="90000"/>
            </a:lnSpc>
            <a:spcBef>
              <a:spcPct val="0"/>
            </a:spcBef>
            <a:spcAft>
              <a:spcPct val="35000"/>
            </a:spcAft>
            <a:buNone/>
          </a:pPr>
          <a:r>
            <a:rPr lang="en-US" sz="1600" kern="1200"/>
            <a:t>Facial Expressions</a:t>
          </a:r>
        </a:p>
      </dsp:txBody>
      <dsp:txXfrm>
        <a:off x="362444" y="1557635"/>
        <a:ext cx="4705308" cy="426206"/>
      </dsp:txXfrm>
    </dsp:sp>
    <dsp:sp modelId="{1E6FAB37-C2B0-49D6-931E-D95DF4288168}">
      <dsp:nvSpPr>
        <dsp:cNvPr id="0" name=""/>
        <dsp:cNvSpPr/>
      </dsp:nvSpPr>
      <dsp:spPr>
        <a:xfrm>
          <a:off x="0" y="2496498"/>
          <a:ext cx="6787747" cy="403200"/>
        </a:xfrm>
        <a:prstGeom prst="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2BE0B04-8F80-426A-A068-39178FE6A67D}">
      <dsp:nvSpPr>
        <dsp:cNvPr id="0" name=""/>
        <dsp:cNvSpPr/>
      </dsp:nvSpPr>
      <dsp:spPr>
        <a:xfrm>
          <a:off x="339387" y="2260338"/>
          <a:ext cx="4751422" cy="472320"/>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79592" tIns="0" rIns="179592" bIns="0" numCol="1" spcCol="1270" anchor="ctr" anchorCtr="0">
          <a:noAutofit/>
        </a:bodyPr>
        <a:lstStyle/>
        <a:p>
          <a:pPr marL="0" lvl="0" indent="0" algn="l" defTabSz="711200">
            <a:lnSpc>
              <a:spcPct val="90000"/>
            </a:lnSpc>
            <a:spcBef>
              <a:spcPct val="0"/>
            </a:spcBef>
            <a:spcAft>
              <a:spcPct val="35000"/>
            </a:spcAft>
            <a:buNone/>
          </a:pPr>
          <a:r>
            <a:rPr lang="en-US" sz="1600" kern="1200"/>
            <a:t>Emotional Indicators</a:t>
          </a:r>
        </a:p>
      </dsp:txBody>
      <dsp:txXfrm>
        <a:off x="362444" y="2283395"/>
        <a:ext cx="4705308" cy="426206"/>
      </dsp:txXfrm>
    </dsp:sp>
    <dsp:sp modelId="{D2C4257A-74F6-4CAE-BB17-7AE9625AA457}">
      <dsp:nvSpPr>
        <dsp:cNvPr id="0" name=""/>
        <dsp:cNvSpPr/>
      </dsp:nvSpPr>
      <dsp:spPr>
        <a:xfrm>
          <a:off x="0" y="3222258"/>
          <a:ext cx="6787747" cy="403200"/>
        </a:xfrm>
        <a:prstGeom prst="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83D86A1-DFF4-49F3-A5AF-90992958BDD2}">
      <dsp:nvSpPr>
        <dsp:cNvPr id="0" name=""/>
        <dsp:cNvSpPr/>
      </dsp:nvSpPr>
      <dsp:spPr>
        <a:xfrm>
          <a:off x="339387" y="2986098"/>
          <a:ext cx="4751422" cy="472320"/>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79592" tIns="0" rIns="179592" bIns="0" numCol="1" spcCol="1270" anchor="ctr" anchorCtr="0">
          <a:noAutofit/>
        </a:bodyPr>
        <a:lstStyle/>
        <a:p>
          <a:pPr marL="0" lvl="0" indent="0" algn="l" defTabSz="711200">
            <a:lnSpc>
              <a:spcPct val="90000"/>
            </a:lnSpc>
            <a:spcBef>
              <a:spcPct val="0"/>
            </a:spcBef>
            <a:spcAft>
              <a:spcPct val="35000"/>
            </a:spcAft>
            <a:buNone/>
          </a:pPr>
          <a:r>
            <a:rPr lang="en-US" sz="1600" kern="1200"/>
            <a:t>Boundary Testing</a:t>
          </a:r>
        </a:p>
      </dsp:txBody>
      <dsp:txXfrm>
        <a:off x="362444" y="3009155"/>
        <a:ext cx="4705308" cy="426206"/>
      </dsp:txXfrm>
    </dsp:sp>
  </dsp:spTree>
</dsp:drawing>
</file>

<file path=ppt/diagrams/layout1.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8F6756E-81DA-9FAC-70D8-556F658BDDA8}"/>
              </a:ext>
            </a:extLst>
          </p:cNvPr>
          <p:cNvSpPr>
            <a:spLocks noGrp="1"/>
          </p:cNvSpPr>
          <p:nvPr>
            <p:ph type="dt" sz="quarter" idx="1"/>
          </p:nvPr>
        </p:nvSpPr>
        <p:spPr>
          <a:xfrm>
            <a:off x="3970938" y="0"/>
            <a:ext cx="3037840" cy="466434"/>
          </a:xfrm>
          <a:prstGeom prst="rect">
            <a:avLst/>
          </a:prstGeom>
        </p:spPr>
        <p:txBody>
          <a:bodyPr vert="horz" lIns="93177" tIns="46589" rIns="93177" bIns="46589" rtlCol="0"/>
          <a:lstStyle>
            <a:lvl1pPr algn="r">
              <a:defRPr sz="1200"/>
            </a:lvl1pPr>
          </a:lstStyle>
          <a:p>
            <a:fld id="{1EBEDD12-BCD5-485B-BCBC-34BB01D7923C}" type="datetimeFigureOut">
              <a:rPr lang="en-US" smtClean="0"/>
              <a:t>11/21/2025</a:t>
            </a:fld>
            <a:endParaRPr lang="en-US" dirty="0"/>
          </a:p>
        </p:txBody>
      </p:sp>
      <p:sp>
        <p:nvSpPr>
          <p:cNvPr id="6" name="Slide Number Placeholder 5">
            <a:extLst>
              <a:ext uri="{FF2B5EF4-FFF2-40B4-BE49-F238E27FC236}">
                <a16:creationId xmlns:a16="http://schemas.microsoft.com/office/drawing/2014/main" id="{A771D415-D05A-7067-CCD3-457153D96CD8}"/>
              </a:ext>
            </a:extLst>
          </p:cNvPr>
          <p:cNvSpPr>
            <a:spLocks noGrp="1"/>
          </p:cNvSpPr>
          <p:nvPr>
            <p:ph type="sldNum" sz="quarter" idx="3"/>
          </p:nvPr>
        </p:nvSpPr>
        <p:spPr>
          <a:xfrm>
            <a:off x="3970938" y="8829967"/>
            <a:ext cx="3037840" cy="466433"/>
          </a:xfrm>
          <a:prstGeom prst="rect">
            <a:avLst/>
          </a:prstGeom>
        </p:spPr>
        <p:txBody>
          <a:bodyPr vert="horz" lIns="93177" tIns="46589" rIns="93177" bIns="46589" rtlCol="0" anchor="b"/>
          <a:lstStyle>
            <a:lvl1pPr algn="r">
              <a:defRPr sz="1200"/>
            </a:lvl1pPr>
          </a:lstStyle>
          <a:p>
            <a:fld id="{E2C230DF-5933-439D-898F-38E9AC9BA688}" type="slidenum">
              <a:rPr lang="en-US" smtClean="0"/>
              <a:t>‹#›</a:t>
            </a:fld>
            <a:endParaRPr lang="en-US" dirty="0"/>
          </a:p>
        </p:txBody>
      </p:sp>
      <p:sp>
        <p:nvSpPr>
          <p:cNvPr id="7" name="Footer Placeholder 6">
            <a:extLst>
              <a:ext uri="{FF2B5EF4-FFF2-40B4-BE49-F238E27FC236}">
                <a16:creationId xmlns:a16="http://schemas.microsoft.com/office/drawing/2014/main" id="{B97095E3-54D2-CFD2-4F49-7536FC8641DE}"/>
              </a:ext>
            </a:extLst>
          </p:cNvPr>
          <p:cNvSpPr>
            <a:spLocks noGrp="1"/>
          </p:cNvSpPr>
          <p:nvPr>
            <p:ph type="ftr" sz="quarter" idx="2"/>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dirty="0"/>
          </a:p>
        </p:txBody>
      </p:sp>
      <p:sp>
        <p:nvSpPr>
          <p:cNvPr id="8" name="Header Placeholder 7">
            <a:extLst>
              <a:ext uri="{FF2B5EF4-FFF2-40B4-BE49-F238E27FC236}">
                <a16:creationId xmlns:a16="http://schemas.microsoft.com/office/drawing/2014/main" id="{521EE01A-C0B5-5ECF-96DD-768F86AA15C4}"/>
              </a:ext>
            </a:extLst>
          </p:cNvPr>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dirty="0"/>
          </a:p>
        </p:txBody>
      </p:sp>
    </p:spTree>
    <p:extLst>
      <p:ext uri="{BB962C8B-B14F-4D97-AF65-F5344CB8AC3E}">
        <p14:creationId xmlns:p14="http://schemas.microsoft.com/office/powerpoint/2010/main" val="26532284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dirty="0"/>
          </a:p>
        </p:txBody>
      </p:sp>
      <p:sp>
        <p:nvSpPr>
          <p:cNvPr id="3" name="Date Placeholder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6EE7A52F-9D89-7442-A8E9-48D1527B5F6B}" type="datetimeFigureOut">
              <a:rPr lang="en-US" smtClean="0"/>
              <a:t>11/21/2025</a:t>
            </a:fld>
            <a:endParaRPr lang="en-US" dirty="0"/>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endParaRPr lang="en-US" dirty="0"/>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A89C7E07-3C67-C64C-8DA0-0404F6303970}" type="slidenum">
              <a:rPr lang="en-US" smtClean="0"/>
              <a:t>‹#›</a:t>
            </a:fld>
            <a:endParaRPr lang="en-US" dirty="0"/>
          </a:p>
        </p:txBody>
      </p:sp>
    </p:spTree>
    <p:extLst>
      <p:ext uri="{BB962C8B-B14F-4D97-AF65-F5344CB8AC3E}">
        <p14:creationId xmlns:p14="http://schemas.microsoft.com/office/powerpoint/2010/main" val="40325283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a:t>
            </a:fld>
            <a:endParaRPr lang="en-US" dirty="0"/>
          </a:p>
        </p:txBody>
      </p:sp>
    </p:spTree>
    <p:extLst>
      <p:ext uri="{BB962C8B-B14F-4D97-AF65-F5344CB8AC3E}">
        <p14:creationId xmlns:p14="http://schemas.microsoft.com/office/powerpoint/2010/main" val="10924538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2</a:t>
            </a:fld>
            <a:endParaRPr lang="en-US" dirty="0"/>
          </a:p>
        </p:txBody>
      </p:sp>
    </p:spTree>
    <p:extLst>
      <p:ext uri="{BB962C8B-B14F-4D97-AF65-F5344CB8AC3E}">
        <p14:creationId xmlns:p14="http://schemas.microsoft.com/office/powerpoint/2010/main" val="20071822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3</a:t>
            </a:fld>
            <a:endParaRPr lang="en-US" dirty="0"/>
          </a:p>
        </p:txBody>
      </p:sp>
    </p:spTree>
    <p:extLst>
      <p:ext uri="{BB962C8B-B14F-4D97-AF65-F5344CB8AC3E}">
        <p14:creationId xmlns:p14="http://schemas.microsoft.com/office/powerpoint/2010/main" val="7779595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Does anyone know what de-escalation is?</a:t>
            </a:r>
          </a:p>
        </p:txBody>
      </p:sp>
      <p:sp>
        <p:nvSpPr>
          <p:cNvPr id="4" name="Slide Number Placeholder 3"/>
          <p:cNvSpPr>
            <a:spLocks noGrp="1"/>
          </p:cNvSpPr>
          <p:nvPr>
            <p:ph type="sldNum" sz="quarter" idx="5"/>
          </p:nvPr>
        </p:nvSpPr>
        <p:spPr/>
        <p:txBody>
          <a:bodyPr/>
          <a:lstStyle/>
          <a:p>
            <a:fld id="{A89C7E07-3C67-C64C-8DA0-0404F6303970}" type="slidenum">
              <a:rPr lang="en-US" smtClean="0"/>
              <a:t>4</a:t>
            </a:fld>
            <a:endParaRPr lang="en-US" dirty="0"/>
          </a:p>
        </p:txBody>
      </p:sp>
    </p:spTree>
    <p:extLst>
      <p:ext uri="{BB962C8B-B14F-4D97-AF65-F5344CB8AC3E}">
        <p14:creationId xmlns:p14="http://schemas.microsoft.com/office/powerpoint/2010/main" val="31134168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5</a:t>
            </a:fld>
            <a:endParaRPr lang="en-US" dirty="0"/>
          </a:p>
        </p:txBody>
      </p:sp>
    </p:spTree>
    <p:extLst>
      <p:ext uri="{BB962C8B-B14F-4D97-AF65-F5344CB8AC3E}">
        <p14:creationId xmlns:p14="http://schemas.microsoft.com/office/powerpoint/2010/main" val="15814746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diving into useful techniques, it is important to understand the many dynamics at play that we may not be considering. This understanding can allow us to be more aware and mindful of how we are approaching situations, perceiving others, and assumptions we may have.</a:t>
            </a:r>
          </a:p>
        </p:txBody>
      </p:sp>
      <p:sp>
        <p:nvSpPr>
          <p:cNvPr id="4" name="Slide Number Placeholder 3"/>
          <p:cNvSpPr>
            <a:spLocks noGrp="1"/>
          </p:cNvSpPr>
          <p:nvPr>
            <p:ph type="sldNum" sz="quarter" idx="5"/>
          </p:nvPr>
        </p:nvSpPr>
        <p:spPr/>
        <p:txBody>
          <a:bodyPr/>
          <a:lstStyle/>
          <a:p>
            <a:fld id="{A89C7E07-3C67-C64C-8DA0-0404F6303970}" type="slidenum">
              <a:rPr lang="en-US" smtClean="0"/>
              <a:t>6</a:t>
            </a:fld>
            <a:endParaRPr lang="en-US" dirty="0"/>
          </a:p>
        </p:txBody>
      </p:sp>
    </p:spTree>
    <p:extLst>
      <p:ext uri="{BB962C8B-B14F-4D97-AF65-F5344CB8AC3E}">
        <p14:creationId xmlns:p14="http://schemas.microsoft.com/office/powerpoint/2010/main" val="40310516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1774">
              <a:defRPr/>
            </a:pPr>
            <a:r>
              <a:rPr lang="en-US" dirty="0">
                <a:solidFill>
                  <a:prstClr val="black"/>
                </a:solidFill>
                <a:latin typeface="Calibri" panose="020F0502020204030204"/>
              </a:rPr>
              <a:t>Does anyone know what cultural humility is and how this differs from cultural awareness?</a:t>
            </a:r>
          </a:p>
          <a:p>
            <a:pPr defTabSz="931774">
              <a:defRPr/>
            </a:pPr>
            <a:endParaRPr lang="en-US" dirty="0">
              <a:solidFill>
                <a:prstClr val="black"/>
              </a:solidFill>
              <a:latin typeface="Calibri" panose="020F0502020204030204"/>
            </a:endParaRPr>
          </a:p>
          <a:p>
            <a:r>
              <a:rPr lang="en-US" dirty="0">
                <a:solidFill>
                  <a:prstClr val="black"/>
                </a:solidFill>
                <a:latin typeface="Calibri" panose="020F0502020204030204"/>
              </a:rPr>
              <a:t>Cultural humility is </a:t>
            </a:r>
            <a:r>
              <a:rPr lang="en-US" dirty="0">
                <a:solidFill>
                  <a:prstClr val="white"/>
                </a:solidFill>
                <a:latin typeface="Calibri" panose="020F0502020204030204"/>
              </a:rPr>
              <a:t>the ability to recognize and respect that every patient comes from a unique background — including culture, language, race, gender, ability, and trauma history. It is not just about being “culturally competent,” but about remaining </a:t>
            </a:r>
            <a:r>
              <a:rPr lang="en-US" i="1" dirty="0">
                <a:solidFill>
                  <a:prstClr val="white"/>
                </a:solidFill>
                <a:latin typeface="Calibri" panose="020F0502020204030204"/>
              </a:rPr>
              <a:t>teachable and respectful. </a:t>
            </a:r>
            <a:r>
              <a:rPr lang="en-US" dirty="0"/>
              <a:t>Cultural humility requires a lifelong commitment to self-evaluation and self-critique, especially regarding the internal biases we all carry, often unconsciously, based on our upbringing, culture, race, profession, and lived experiences.</a:t>
            </a:r>
          </a:p>
          <a:p>
            <a:pPr defTabSz="931774">
              <a:defRPr/>
            </a:pPr>
            <a:endParaRPr lang="en-US" i="1" dirty="0">
              <a:solidFill>
                <a:prstClr val="white"/>
              </a:solidFill>
              <a:latin typeface="Calibri" panose="020F0502020204030204"/>
            </a:endParaRPr>
          </a:p>
        </p:txBody>
      </p:sp>
      <p:sp>
        <p:nvSpPr>
          <p:cNvPr id="4" name="Slide Number Placeholder 3"/>
          <p:cNvSpPr>
            <a:spLocks noGrp="1"/>
          </p:cNvSpPr>
          <p:nvPr>
            <p:ph type="sldNum" sz="quarter" idx="5"/>
          </p:nvPr>
        </p:nvSpPr>
        <p:spPr/>
        <p:txBody>
          <a:bodyPr/>
          <a:lstStyle/>
          <a:p>
            <a:fld id="{A89C7E07-3C67-C64C-8DA0-0404F6303970}" type="slidenum">
              <a:rPr lang="en-US" smtClean="0"/>
              <a:t>7</a:t>
            </a:fld>
            <a:endParaRPr lang="en-US" dirty="0"/>
          </a:p>
        </p:txBody>
      </p:sp>
    </p:spTree>
    <p:extLst>
      <p:ext uri="{BB962C8B-B14F-4D97-AF65-F5344CB8AC3E}">
        <p14:creationId xmlns:p14="http://schemas.microsoft.com/office/powerpoint/2010/main" val="26923314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1774">
              <a:defRPr/>
            </a:pPr>
            <a:r>
              <a:rPr lang="en-US" b="1" dirty="0"/>
              <a:t>Internal bias </a:t>
            </a:r>
          </a:p>
          <a:p>
            <a:pPr defTabSz="931774">
              <a:defRPr/>
            </a:pPr>
            <a:r>
              <a:rPr lang="en-US" dirty="0"/>
              <a:t>refers to automatic thoughts, stereotypes, or assumptions we may hold about others — even when we consciously believe in fairness and equity.  Instead of assuming we’re bias-free, cultural humility asks us to continually examine our own position, and to acknowledge how power, privilege, and prejudice might affect our perceptions and responses — especially during conflict or escalation. Everyone has biases. Acknowledgement of our biases can allow us to be mindful of them when interacting with others. This is key in both being aware of factors contributing to escalation, as well as,  what factors contribute positively to de-escalation practices.</a:t>
            </a:r>
          </a:p>
          <a:p>
            <a:pPr defTabSz="931774">
              <a:defRPr/>
            </a:pPr>
            <a:endParaRPr lang="en-US" dirty="0"/>
          </a:p>
          <a:p>
            <a:pPr defTabSz="931774">
              <a:defRPr/>
            </a:pPr>
            <a:r>
              <a:rPr lang="en-US" b="1" dirty="0"/>
              <a:t>Power Dynamics:</a:t>
            </a:r>
          </a:p>
          <a:p>
            <a:pPr defTabSz="931774">
              <a:defRPr/>
            </a:pPr>
            <a:r>
              <a:rPr lang="en-US" dirty="0"/>
              <a:t>Refers to the way authority, influence, and control operate within relationships or interactions. In any setting, especially healthcare. there are natural differences in power based on roles, knowledge, access to resources, and decision-making authority. These dynamics aren’t inherently negative; in fact, some level of structure and authority is necessary for safety and care. However, when power is unbalanced or used without awareness, it can create tension, fear, or resistance, especially in situations where someone already feels vulnerable, such as a patient receiving care. Understanding power dynamics means recognizing how your position, words, tone, and actions can influence another person’s sense of control. When we are aware of these dynamics, we can communicate in ways that restore a sense of balance, reduce defensiveness, and nurture collaboration, which are important considerations in successful de-escalation.</a:t>
            </a:r>
          </a:p>
          <a:p>
            <a:pPr defTabSz="931774">
              <a:defRPr/>
            </a:pPr>
            <a:endParaRPr lang="en-US" dirty="0"/>
          </a:p>
          <a:p>
            <a:pPr defTabSz="931774">
              <a:defRPr/>
            </a:pPr>
            <a:r>
              <a:rPr lang="en-US" b="1" dirty="0"/>
              <a:t>Systemic Influence:</a:t>
            </a:r>
          </a:p>
          <a:p>
            <a:r>
              <a:rPr lang="en-US" dirty="0"/>
              <a:t>When we talk about de-escalation, it’s important to recognize that not every reaction is about </a:t>
            </a:r>
            <a:r>
              <a:rPr lang="en-US" i="1" dirty="0"/>
              <a:t>this moment</a:t>
            </a:r>
            <a:r>
              <a:rPr lang="en-US" dirty="0"/>
              <a:t> alone. Many individuals carry experiences shaped by broader </a:t>
            </a:r>
            <a:r>
              <a:rPr lang="en-US" b="1" dirty="0"/>
              <a:t>systemic issues</a:t>
            </a:r>
            <a:r>
              <a:rPr lang="en-US" dirty="0"/>
              <a:t>—such as racism, homophobia, sexism, ableism, or classism—that have influenced how safe or respected they feel in certain environments, including healthcare.</a:t>
            </a:r>
          </a:p>
          <a:p>
            <a:r>
              <a:rPr lang="en-US" dirty="0"/>
              <a:t>Someone who has experienced discrimination or bias in the past may approach healthcare staff with </a:t>
            </a:r>
            <a:r>
              <a:rPr lang="en-US" b="1" dirty="0"/>
              <a:t>mistrust, defensiveness, or fear</a:t>
            </a:r>
            <a:r>
              <a:rPr lang="en-US" dirty="0"/>
              <a:t>—not necessarily because of the current interaction, but because it echoes past harm. Even subtle cues (like tone, body language, or perceived dismissiveness) can trigger those feelings. As professionals, understanding these systemic layers allows us to respond with empathy rather than judgment. It reminds us to slow down, validate emotions, and focus on rebuilding trust—acknowledging that each person’s reaction is part of a larger story, not just a single encounter.</a:t>
            </a:r>
          </a:p>
        </p:txBody>
      </p:sp>
      <p:sp>
        <p:nvSpPr>
          <p:cNvPr id="4" name="Slide Number Placeholder 3"/>
          <p:cNvSpPr>
            <a:spLocks noGrp="1"/>
          </p:cNvSpPr>
          <p:nvPr>
            <p:ph type="sldNum" sz="quarter" idx="5"/>
          </p:nvPr>
        </p:nvSpPr>
        <p:spPr/>
        <p:txBody>
          <a:bodyPr/>
          <a:lstStyle/>
          <a:p>
            <a:fld id="{A89C7E07-3C67-C64C-8DA0-0404F6303970}" type="slidenum">
              <a:rPr lang="en-US" smtClean="0"/>
              <a:t>8</a:t>
            </a:fld>
            <a:endParaRPr lang="en-US" dirty="0"/>
          </a:p>
        </p:txBody>
      </p:sp>
    </p:spTree>
    <p:extLst>
      <p:ext uri="{BB962C8B-B14F-4D97-AF65-F5344CB8AC3E}">
        <p14:creationId xmlns:p14="http://schemas.microsoft.com/office/powerpoint/2010/main" val="34640531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4708" indent="-174708">
              <a:buFont typeface="Arial" panose="020B0604020202020204" pitchFamily="34" charset="0"/>
              <a:buChar char="•"/>
            </a:pPr>
            <a:r>
              <a:rPr lang="en-US" dirty="0"/>
              <a:t>Avoid assumptions about how a patient “should” behave — cultural expressions of distress vary.</a:t>
            </a:r>
          </a:p>
          <a:p>
            <a:pPr marL="174708" indent="-174708">
              <a:buFont typeface="Arial" panose="020B0604020202020204" pitchFamily="34" charset="0"/>
              <a:buChar char="•"/>
            </a:pPr>
            <a:r>
              <a:rPr lang="en-US" dirty="0"/>
              <a:t>Ask instead of assume: “Is there a way I can explain this better for you?” or “Would you prefer a different language or interpreter?”</a:t>
            </a:r>
          </a:p>
          <a:p>
            <a:pPr marL="174708" indent="-174708">
              <a:buFont typeface="Arial" panose="020B0604020202020204" pitchFamily="34" charset="0"/>
              <a:buChar char="•"/>
            </a:pPr>
            <a:r>
              <a:rPr lang="en-US" dirty="0"/>
              <a:t>Be aware of power and identity: For example, patients from marginalized communities may escalate faster if they feel ignored, judged, or dismissed based on past experience. </a:t>
            </a:r>
          </a:p>
          <a:p>
            <a:pPr marL="174708" indent="-174708">
              <a:buFont typeface="Arial" panose="020B0604020202020204" pitchFamily="34" charset="0"/>
              <a:buChar char="•"/>
            </a:pPr>
            <a:r>
              <a:rPr lang="en-US" dirty="0"/>
              <a:t>Normalize emotion without labeling behavior as “aggressive” based only on tone or volume.</a:t>
            </a:r>
          </a:p>
          <a:p>
            <a:pPr marL="174708" indent="-174708">
              <a:buFont typeface="Arial" panose="020B0604020202020204" pitchFamily="34" charset="0"/>
              <a:buChar char="•"/>
            </a:pPr>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9</a:t>
            </a:fld>
            <a:endParaRPr lang="en-US" dirty="0"/>
          </a:p>
        </p:txBody>
      </p:sp>
    </p:spTree>
    <p:extLst>
      <p:ext uri="{BB962C8B-B14F-4D97-AF65-F5344CB8AC3E}">
        <p14:creationId xmlns:p14="http://schemas.microsoft.com/office/powerpoint/2010/main" val="30110901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10</a:t>
            </a:fld>
            <a:endParaRPr lang="en-US" dirty="0"/>
          </a:p>
        </p:txBody>
      </p:sp>
    </p:spTree>
    <p:extLst>
      <p:ext uri="{BB962C8B-B14F-4D97-AF65-F5344CB8AC3E}">
        <p14:creationId xmlns:p14="http://schemas.microsoft.com/office/powerpoint/2010/main" val="35762480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Questions for the group:</a:t>
            </a:r>
          </a:p>
          <a:p>
            <a:pPr marL="174708" indent="-174708">
              <a:buFont typeface="Arial" panose="020B0604020202020204" pitchFamily="34" charset="0"/>
              <a:buChar char="•"/>
            </a:pPr>
            <a:r>
              <a:rPr lang="en-US" dirty="0"/>
              <a:t>What are some common triggers that escalate situations? Do you have any personal examples of times where you became upset, agitated, or angry?</a:t>
            </a:r>
          </a:p>
          <a:p>
            <a:pPr marL="174708" indent="-174708">
              <a:buFont typeface="Arial" panose="020B0604020202020204" pitchFamily="34" charset="0"/>
              <a:buChar char="•"/>
            </a:pPr>
            <a:r>
              <a:rPr lang="en-US" dirty="0"/>
              <a:t>What are some common triggers that you think a patient might experience? What experiences have you had when accessing your own healthcare that may have been frustrating? How did you handle it? How did the staff handle it?</a:t>
            </a:r>
          </a:p>
          <a:p>
            <a:endParaRPr lang="en-US" dirty="0"/>
          </a:p>
          <a:p>
            <a:r>
              <a:rPr lang="en-US" dirty="0"/>
              <a:t>Content:</a:t>
            </a:r>
          </a:p>
          <a:p>
            <a:pPr marL="174708" indent="-174708">
              <a:buFont typeface="Arial" panose="020B0604020202020204" pitchFamily="34" charset="0"/>
              <a:buChar char="•"/>
            </a:pPr>
            <a:r>
              <a:rPr lang="en-US" dirty="0"/>
              <a:t>Long wait times: Not being seen on time; Other being called ahead of them (perception); No clear communication about the wait time.</a:t>
            </a:r>
          </a:p>
          <a:p>
            <a:pPr marL="174708" indent="-174708">
              <a:buFont typeface="Arial" panose="020B0604020202020204" pitchFamily="34" charset="0"/>
              <a:buChar char="•"/>
            </a:pPr>
            <a:r>
              <a:rPr lang="en-US" dirty="0"/>
              <a:t>Communication Breakdowns: Conflicting instructions; medical jargon or unclear instructions/explanations; staff appearing rushed or dismissive; discussing patients in public spaces.</a:t>
            </a:r>
          </a:p>
          <a:p>
            <a:pPr marL="174708" indent="-174708">
              <a:buFont typeface="Arial" panose="020B0604020202020204" pitchFamily="34" charset="0"/>
              <a:buChar char="•"/>
            </a:pPr>
            <a:r>
              <a:rPr lang="en-US" dirty="0"/>
              <a:t>Billing Issues: Surprise costs; Insurance issues; frustration with insurance or payment processes.</a:t>
            </a:r>
          </a:p>
          <a:p>
            <a:pPr marL="174708" indent="-174708">
              <a:buFont typeface="Arial" panose="020B0604020202020204" pitchFamily="34" charset="0"/>
              <a:buChar char="•"/>
            </a:pPr>
            <a:r>
              <a:rPr lang="en-US" dirty="0"/>
              <a:t>Perceived Rudeness: Short responses; lack of eye contact; being asked to repeat themselves; being “corrected”; assumptions made about patients; tone and body language.</a:t>
            </a:r>
          </a:p>
          <a:p>
            <a:pPr marL="174708" indent="-174708">
              <a:buFont typeface="Arial" panose="020B0604020202020204" pitchFamily="34" charset="0"/>
              <a:buChar char="•"/>
            </a:pPr>
            <a:r>
              <a:rPr lang="en-US" dirty="0"/>
              <a:t>Fear, pain or anxiety: fear of diagnosis or treatment; physical discomfort; anxiety or other behavioral health concerns; fear of being ignored, forgotten, or judged due to previous experiences. </a:t>
            </a:r>
          </a:p>
          <a:p>
            <a:pPr marL="174708" indent="-174708">
              <a:buFont typeface="Arial" panose="020B0604020202020204" pitchFamily="34" charset="0"/>
              <a:buChar char="•"/>
            </a:pPr>
            <a:r>
              <a:rPr lang="en-US" dirty="0"/>
              <a:t>Loss of Control/Choice: Being told “what to do,” with no reason or easily understood instructions; no options or alternatives offered (or explanations why there may be only one option); Feeling “talked down to” or disregarded; receiving negative news regarding their health.</a:t>
            </a:r>
          </a:p>
          <a:p>
            <a:pPr marL="174708" indent="-174708">
              <a:buFont typeface="Arial" panose="020B0604020202020204" pitchFamily="34" charset="0"/>
              <a:buChar char="•"/>
            </a:pPr>
            <a:r>
              <a:rPr lang="en-US" dirty="0"/>
              <a:t>BH Concerns: Withdrawal symptoms; Hallucinations or delusions; Executive functioning issues (e.g., difficulty waiting); Feelings of being misunderstood.</a:t>
            </a:r>
          </a:p>
          <a:p>
            <a:pPr marL="174708" indent="-174708">
              <a:buFont typeface="Arial" panose="020B0604020202020204" pitchFamily="34" charset="0"/>
              <a:buChar char="•"/>
            </a:pPr>
            <a:endParaRPr lang="en-US" dirty="0"/>
          </a:p>
          <a:p>
            <a:pPr marL="174708" indent="-174708">
              <a:buFont typeface="Arial" panose="020B0604020202020204" pitchFamily="34" charset="0"/>
              <a:buChar char="•"/>
            </a:pPr>
            <a:r>
              <a:rPr lang="en-US" dirty="0"/>
              <a:t>It is important to recognize that we may never know why someone may be reacting the way that they are, or that we may disagree with their reasoning or reasons they are providing. Understanding that our perception and someone else’s perception may not always align is essential, as it can allow us to attempt to move toward a solutions-based approach, rather than a problems-focused or defensive one. </a:t>
            </a:r>
          </a:p>
          <a:p>
            <a:pPr marL="174708" indent="-174708">
              <a:buFont typeface="Arial" panose="020B0604020202020204" pitchFamily="34" charset="0"/>
              <a:buChar char="•"/>
            </a:pPr>
            <a:endParaRPr lang="en-US" dirty="0"/>
          </a:p>
          <a:p>
            <a:pPr marL="174708" indent="-174708">
              <a:buFont typeface="Arial" panose="020B0604020202020204" pitchFamily="34" charset="0"/>
              <a:buChar char="•"/>
            </a:pPr>
            <a:endParaRPr lang="en-US" dirty="0"/>
          </a:p>
          <a:p>
            <a:pPr marL="174708" indent="-174708">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11</a:t>
            </a:fld>
            <a:endParaRPr lang="en-US" dirty="0"/>
          </a:p>
        </p:txBody>
      </p:sp>
    </p:spTree>
    <p:extLst>
      <p:ext uri="{BB962C8B-B14F-4D97-AF65-F5344CB8AC3E}">
        <p14:creationId xmlns:p14="http://schemas.microsoft.com/office/powerpoint/2010/main" val="7398535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Early warning sides are a great way to begin to address situations before the escalate or become worse. We all show signs of how we are feeling, whether we notice or not. –Give a personal example- </a:t>
            </a:r>
          </a:p>
          <a:p>
            <a:endParaRPr lang="en-US" dirty="0"/>
          </a:p>
          <a:p>
            <a:pPr marL="174708" indent="-174708">
              <a:buFont typeface="Arial" panose="020B0604020202020204" pitchFamily="34" charset="0"/>
              <a:buChar char="•"/>
            </a:pPr>
            <a:r>
              <a:rPr lang="en-US" dirty="0"/>
              <a:t>Verbal Indicators: This may be one of the more obvious indicators – Changes in tone (more direct, curt, volume); passive or aggressive remarks; sarcasm.</a:t>
            </a:r>
          </a:p>
          <a:p>
            <a:pPr marL="174708" indent="-174708">
              <a:buFont typeface="Arial" panose="020B0604020202020204" pitchFamily="34" charset="0"/>
              <a:buChar char="•"/>
            </a:pPr>
            <a:r>
              <a:rPr lang="en-US" dirty="0"/>
              <a:t>Non-verbal behaviors: Fidgeting, restlessness, clenched fists, pacing, stiff posture, deep sighs, tapping hands or feet.</a:t>
            </a:r>
          </a:p>
          <a:p>
            <a:pPr marL="174708" indent="-174708">
              <a:buFont typeface="Arial" panose="020B0604020202020204" pitchFamily="34" charset="0"/>
              <a:buChar char="•"/>
            </a:pPr>
            <a:r>
              <a:rPr lang="en-US" dirty="0"/>
              <a:t>Facial Expressions: Eye rolling, narrowed eyes, grinding teeth, forced or insincere smile, flushed face, pursing of lips.</a:t>
            </a:r>
          </a:p>
          <a:p>
            <a:pPr marL="174708" indent="-174708">
              <a:buFont typeface="Arial" panose="020B0604020202020204" pitchFamily="34" charset="0"/>
              <a:buChar char="•"/>
            </a:pPr>
            <a:r>
              <a:rPr lang="en-US" dirty="0"/>
              <a:t>Emotional Indicators: Irritability, impatience; visible frustration, emotional verbal cues (“you’re not listening;” cursing, etc.)</a:t>
            </a:r>
          </a:p>
          <a:p>
            <a:pPr marL="174708" indent="-174708">
              <a:buFont typeface="Arial" panose="020B0604020202020204" pitchFamily="34" charset="0"/>
              <a:buChar char="•"/>
            </a:pPr>
            <a:r>
              <a:rPr lang="en-US" dirty="0"/>
              <a:t>Boundary Testing: Interrupting staff, questioning rules repeatedly, “pushing back” subtly or aggressively.</a:t>
            </a:r>
          </a:p>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12</a:t>
            </a:fld>
            <a:endParaRPr lang="en-US" dirty="0"/>
          </a:p>
        </p:txBody>
      </p:sp>
    </p:spTree>
    <p:extLst>
      <p:ext uri="{BB962C8B-B14F-4D97-AF65-F5344CB8AC3E}">
        <p14:creationId xmlns:p14="http://schemas.microsoft.com/office/powerpoint/2010/main" val="23631579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times we may unintentionally escalate a situation, which commonly occurs when we are not mindful of how we may be delivering information, both through verbal and on-verbal cues.</a:t>
            </a:r>
          </a:p>
          <a:p>
            <a:endParaRPr lang="en-US" dirty="0"/>
          </a:p>
          <a:p>
            <a:r>
              <a:rPr lang="en-US" b="1" dirty="0"/>
              <a:t>Using a sharp, rushed, or impatient tone</a:t>
            </a:r>
            <a:endParaRPr lang="en-US" dirty="0"/>
          </a:p>
          <a:p>
            <a:r>
              <a:rPr lang="en-US" dirty="0"/>
              <a:t>“What’s the problem now?” or “You’re going to have to calm down,” even if you think you’re being neutral.</a:t>
            </a:r>
          </a:p>
          <a:p>
            <a:r>
              <a:rPr lang="en-US" b="1" dirty="0"/>
              <a:t>Sounding dismissive or minimizing</a:t>
            </a:r>
            <a:endParaRPr lang="en-US" dirty="0"/>
          </a:p>
          <a:p>
            <a:r>
              <a:rPr lang="en-US" dirty="0"/>
              <a:t>“It’s not that bad.”</a:t>
            </a:r>
          </a:p>
          <a:p>
            <a:r>
              <a:rPr lang="en-US" dirty="0"/>
              <a:t>“Other patients have it worse.”</a:t>
            </a:r>
          </a:p>
          <a:p>
            <a:r>
              <a:rPr lang="en-US" dirty="0"/>
              <a:t>“We already explained this.”</a:t>
            </a:r>
          </a:p>
          <a:p>
            <a:r>
              <a:rPr lang="en-US" b="1" dirty="0"/>
              <a:t>Overly clinical language with no translation</a:t>
            </a:r>
            <a:endParaRPr lang="en-US" dirty="0"/>
          </a:p>
          <a:p>
            <a:r>
              <a:rPr lang="en-US" dirty="0"/>
              <a:t>Rapid-fire medical jargon that makes the person feel stupid, excluded, or scared.</a:t>
            </a:r>
          </a:p>
          <a:p>
            <a:r>
              <a:rPr lang="en-US" b="1" dirty="0"/>
              <a:t>Talking about the patient as if they’re not in the room</a:t>
            </a:r>
            <a:endParaRPr lang="en-US" dirty="0"/>
          </a:p>
          <a:p>
            <a:r>
              <a:rPr lang="en-US" dirty="0"/>
              <a:t>“She’s non-compliant,” “He’s dramatic,” said to another staff member within earshot.</a:t>
            </a:r>
          </a:p>
          <a:p>
            <a:r>
              <a:rPr lang="en-US" b="1" dirty="0"/>
              <a:t>Correcting or arguing about “small” details</a:t>
            </a:r>
            <a:endParaRPr lang="en-US" dirty="0"/>
          </a:p>
          <a:p>
            <a:r>
              <a:rPr lang="en-US" dirty="0"/>
              <a:t>“It wasn’t three hours, it was two.”</a:t>
            </a:r>
          </a:p>
          <a:p>
            <a:r>
              <a:rPr lang="en-US" dirty="0"/>
              <a:t>“You didn’t call three times, I only see one call here.”</a:t>
            </a:r>
            <a:br>
              <a:rPr lang="en-US" dirty="0"/>
            </a:br>
            <a:r>
              <a:rPr lang="en-US" dirty="0"/>
              <a:t>This can feel invalidating when they’re trying to express distress.</a:t>
            </a:r>
          </a:p>
          <a:p>
            <a:endParaRPr lang="en-US" dirty="0"/>
          </a:p>
          <a:p>
            <a:endParaRPr lang="en-US" dirty="0"/>
          </a:p>
          <a:p>
            <a:r>
              <a:rPr lang="en-US" b="1" dirty="0"/>
              <a:t>. Body Language &amp; Nonverbal Cues</a:t>
            </a:r>
          </a:p>
          <a:p>
            <a:r>
              <a:rPr lang="en-US" b="1" dirty="0"/>
              <a:t>Standing over the person</a:t>
            </a:r>
            <a:r>
              <a:rPr lang="en-US" dirty="0"/>
              <a:t> (towering at the bedside, arms crossed)</a:t>
            </a:r>
          </a:p>
          <a:p>
            <a:pPr lvl="1"/>
            <a:r>
              <a:rPr lang="en-US" dirty="0"/>
              <a:t>Feels intimidating or like a power move even without intending it.</a:t>
            </a:r>
          </a:p>
          <a:p>
            <a:r>
              <a:rPr lang="en-US" b="1" dirty="0"/>
              <a:t>Lack of eye contact or turning your back while they’re talking</a:t>
            </a:r>
            <a:endParaRPr lang="en-US" dirty="0"/>
          </a:p>
          <a:p>
            <a:pPr lvl="1"/>
            <a:r>
              <a:rPr lang="en-US" dirty="0"/>
              <a:t>Can feel like, “You’re not worth my time.”</a:t>
            </a:r>
          </a:p>
          <a:p>
            <a:r>
              <a:rPr lang="en-US" b="1" dirty="0"/>
              <a:t>Heavy sighing, eye-rolling, checking the clock/door</a:t>
            </a:r>
            <a:endParaRPr lang="en-US" dirty="0"/>
          </a:p>
          <a:p>
            <a:pPr lvl="1"/>
            <a:r>
              <a:rPr lang="en-US" dirty="0"/>
              <a:t>Signals annoyance or wanting to escape, which can provoke anger or shame.</a:t>
            </a:r>
          </a:p>
          <a:p>
            <a:r>
              <a:rPr lang="en-US" b="1" dirty="0"/>
              <a:t>Moving too close or touching without clear consent</a:t>
            </a:r>
            <a:endParaRPr lang="en-US" dirty="0"/>
          </a:p>
          <a:p>
            <a:endParaRPr lang="en-US" dirty="0"/>
          </a:p>
          <a:p>
            <a:endParaRPr lang="en-US" dirty="0"/>
          </a:p>
          <a:p>
            <a:r>
              <a:rPr lang="en-US" b="1" dirty="0"/>
              <a:t>4. Control, Rules, and Boundaries (The Way They’re Communicated)</a:t>
            </a:r>
          </a:p>
          <a:p>
            <a:r>
              <a:rPr lang="en-US" b="1" dirty="0"/>
              <a:t>Quoting policy instead of acknowledging feelings first</a:t>
            </a:r>
            <a:endParaRPr lang="en-US" dirty="0"/>
          </a:p>
          <a:p>
            <a:r>
              <a:rPr lang="en-US" dirty="0"/>
              <a:t>“That’s the rule,” “We don’t do that here,” without any empathic lead-in can sound cold and authoritarian.</a:t>
            </a:r>
          </a:p>
          <a:p>
            <a:r>
              <a:rPr lang="en-US" b="1" dirty="0"/>
              <a:t>Sudden changes without preparation</a:t>
            </a:r>
            <a:endParaRPr lang="en-US" dirty="0"/>
          </a:p>
          <a:p>
            <a:r>
              <a:rPr lang="en-US" dirty="0"/>
              <a:t>New provider, new room, new plan, or long delay with no update = the person feels powerless and suspicious.</a:t>
            </a:r>
          </a:p>
          <a:p>
            <a:r>
              <a:rPr lang="en-US" b="1" dirty="0"/>
              <a:t>Using threats (even subtle ones)</a:t>
            </a:r>
            <a:endParaRPr lang="en-US" dirty="0"/>
          </a:p>
          <a:p>
            <a:r>
              <a:rPr lang="en-US" dirty="0"/>
              <a:t>“If you keep this up, I’ll have to call security,” said too early or too casually.</a:t>
            </a:r>
          </a:p>
          <a:p>
            <a:endParaRPr lang="en-US" dirty="0"/>
          </a:p>
          <a:p>
            <a:r>
              <a:rPr lang="en-US" b="1" dirty="0"/>
              <a:t>Documentation &amp; “Side Conversations” That Patients Overhear</a:t>
            </a:r>
          </a:p>
          <a:p>
            <a:r>
              <a:rPr lang="en-US" b="1" dirty="0"/>
              <a:t>Saying “difficult,” “non-compliant,” or “attention-seeking” out loud while charting</a:t>
            </a:r>
            <a:endParaRPr lang="en-US" dirty="0"/>
          </a:p>
          <a:p>
            <a:r>
              <a:rPr lang="en-US" dirty="0"/>
              <a:t>If the patient hears/reads this later, it can destroy trust and escalate future encounters.</a:t>
            </a:r>
          </a:p>
          <a:p>
            <a:r>
              <a:rPr lang="en-US" b="1" dirty="0"/>
              <a:t>Vent sessions at the nurses’ station within earshot</a:t>
            </a:r>
            <a:endParaRPr lang="en-US" dirty="0"/>
          </a:p>
          <a:p>
            <a:r>
              <a:rPr lang="en-US" dirty="0"/>
              <a:t>“That guy in Room 4 is driving me nuts,” can travel quickly and fuel conflict.</a:t>
            </a:r>
          </a:p>
          <a:p>
            <a:endParaRPr lang="en-US" dirty="0"/>
          </a:p>
          <a:p>
            <a:r>
              <a:rPr lang="en-US" b="1" dirty="0"/>
              <a:t>Promising something and not circling back</a:t>
            </a:r>
            <a:endParaRPr lang="en-US" dirty="0"/>
          </a:p>
          <a:p>
            <a:r>
              <a:rPr lang="en-US" dirty="0"/>
              <a:t>“I’ll be right back,” “I’ll check on that,” and then hours pass = mistrust + frustration.</a:t>
            </a:r>
          </a:p>
          <a:p>
            <a:r>
              <a:rPr lang="en-US" b="1" dirty="0"/>
              <a:t>Inconsistent limits between staff</a:t>
            </a:r>
            <a:endParaRPr lang="en-US" dirty="0"/>
          </a:p>
          <a:p>
            <a:r>
              <a:rPr lang="en-US" dirty="0"/>
              <a:t>One staff says “yes” to something, the next says “absolutely not,” without explanation.</a:t>
            </a:r>
            <a:br>
              <a:rPr lang="en-US" dirty="0"/>
            </a:br>
            <a:r>
              <a:rPr lang="en-US" dirty="0"/>
              <a:t>Patients often escalate when the system feels unfair or arbitrary.</a:t>
            </a:r>
          </a:p>
          <a:p>
            <a:endParaRPr lang="en-US" dirty="0"/>
          </a:p>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13</a:t>
            </a:fld>
            <a:endParaRPr lang="en-US" dirty="0"/>
          </a:p>
        </p:txBody>
      </p:sp>
    </p:spTree>
    <p:extLst>
      <p:ext uri="{BB962C8B-B14F-4D97-AF65-F5344CB8AC3E}">
        <p14:creationId xmlns:p14="http://schemas.microsoft.com/office/powerpoint/2010/main" val="34734672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Before diving into some of the principal of de-escalation, it is important to recognize that the most powerful tool in this process is not a technique, it is ourselves. How we carry ourselves in situations can make the difference of a situation escalating further, or de-escalating.</a:t>
            </a:r>
          </a:p>
          <a:p>
            <a:pPr marL="465887" lvl="1"/>
            <a:endParaRPr lang="en-US" dirty="0"/>
          </a:p>
          <a:p>
            <a:endParaRPr lang="en-US" dirty="0"/>
          </a:p>
          <a:p>
            <a:pPr marL="640594" lvl="1" indent="-174708">
              <a:buFont typeface="Arial" panose="020B0604020202020204" pitchFamily="34" charset="0"/>
              <a:buChar char="•"/>
            </a:pPr>
            <a:endParaRPr lang="en-US" b="1" dirty="0"/>
          </a:p>
          <a:p>
            <a:r>
              <a:rPr lang="en-US" b="1" dirty="0"/>
              <a:t>Non-Verbal Awareness</a:t>
            </a:r>
          </a:p>
          <a:p>
            <a:pPr marL="174708" indent="-174708">
              <a:buFont typeface="Arial" panose="020B0604020202020204" pitchFamily="34" charset="0"/>
              <a:buChar char="•"/>
            </a:pPr>
            <a:r>
              <a:rPr lang="en-US" b="0" dirty="0"/>
              <a:t>Why it matters: Body language often communicates more than words.</a:t>
            </a:r>
          </a:p>
          <a:p>
            <a:pPr marL="174708" indent="-174708">
              <a:buFont typeface="Arial" panose="020B0604020202020204" pitchFamily="34" charset="0"/>
              <a:buChar char="•"/>
            </a:pPr>
            <a:r>
              <a:rPr lang="en-US" b="0" dirty="0"/>
              <a:t>How to do it:</a:t>
            </a:r>
          </a:p>
          <a:p>
            <a:pPr marL="640594" lvl="1" indent="-174708">
              <a:buFont typeface="Arial" panose="020B0604020202020204" pitchFamily="34" charset="0"/>
              <a:buChar char="•"/>
            </a:pPr>
            <a:r>
              <a:rPr lang="en-US" b="0" dirty="0"/>
              <a:t>Keep your posture open, hands visible, and movements slow.</a:t>
            </a:r>
          </a:p>
          <a:p>
            <a:pPr marL="640594" lvl="1" indent="-174708">
              <a:buFont typeface="Arial" panose="020B0604020202020204" pitchFamily="34" charset="0"/>
              <a:buChar char="•"/>
            </a:pPr>
            <a:r>
              <a:rPr lang="en-US" b="0" dirty="0"/>
              <a:t>Make eye contact that is respectful but not staring.</a:t>
            </a:r>
          </a:p>
          <a:p>
            <a:pPr marL="640594" lvl="1" indent="-174708">
              <a:buFont typeface="Arial" panose="020B0604020202020204" pitchFamily="34" charset="0"/>
              <a:buChar char="•"/>
            </a:pPr>
            <a:r>
              <a:rPr lang="en-US" b="0" dirty="0"/>
              <a:t>Avoid crossing arms, pointing, or appearing rushed.</a:t>
            </a:r>
          </a:p>
          <a:p>
            <a:pPr marL="640594" lvl="1" indent="-174708">
              <a:buFont typeface="Arial" panose="020B0604020202020204" pitchFamily="34" charset="0"/>
              <a:buChar char="•"/>
            </a:pPr>
            <a:r>
              <a:rPr lang="en-US" b="0" dirty="0"/>
              <a:t>Avoid showing non-verbal cues of frustration.</a:t>
            </a:r>
          </a:p>
          <a:p>
            <a:pPr marL="640594" lvl="1" indent="-174708">
              <a:buFont typeface="Arial" panose="020B0604020202020204" pitchFamily="34" charset="0"/>
              <a:buChar char="•"/>
            </a:pPr>
            <a:endParaRPr lang="en-US" b="0" dirty="0"/>
          </a:p>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14</a:t>
            </a:fld>
            <a:endParaRPr lang="en-US" dirty="0"/>
          </a:p>
        </p:txBody>
      </p:sp>
    </p:spTree>
    <p:extLst>
      <p:ext uri="{BB962C8B-B14F-4D97-AF65-F5344CB8AC3E}">
        <p14:creationId xmlns:p14="http://schemas.microsoft.com/office/powerpoint/2010/main" val="9583636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 heated moment, you can’t control someone else’s behavior, but you can control yours and the energy you bring into the room. Calm isn’t passive; it’s power with purpose. Your tone, body language, and emotional state often set the tone for the interaction. When tension rises, your calm can be contagious</a:t>
            </a:r>
            <a:r>
              <a:rPr lang="en-US" i="1" dirty="0"/>
              <a:t>.</a:t>
            </a:r>
            <a:r>
              <a:rPr lang="en-US" dirty="0"/>
              <a:t> Staying composed communicates safety, confidence, and control, not dominance. Remember, in a crisis, the other person might not be able to think rationally, their brain is in fight, flight, or freeze mode. Our calm presence helps signal that they don’t need to stay in that heightened state. This doesn’t mean to approach these situations without any emotion, rather it is about approaching an interaction with calmness to assist in regulating how someone else may be feeling.</a:t>
            </a:r>
          </a:p>
          <a:p>
            <a:endParaRPr lang="en-US" dirty="0"/>
          </a:p>
          <a:p>
            <a:pPr marL="174708" indent="-174708">
              <a:buFont typeface="Arial" panose="020B0604020202020204" pitchFamily="34" charset="0"/>
              <a:buChar char="•"/>
            </a:pPr>
            <a:r>
              <a:rPr lang="en-US" b="1" dirty="0"/>
              <a:t>How to do it: </a:t>
            </a:r>
          </a:p>
          <a:p>
            <a:pPr marL="640594" lvl="1" indent="-174708">
              <a:buFont typeface="Arial" panose="020B0604020202020204" pitchFamily="34" charset="0"/>
              <a:buChar char="•"/>
            </a:pPr>
            <a:r>
              <a:rPr lang="en-US" b="1" dirty="0"/>
              <a:t>Breathe intentionally</a:t>
            </a:r>
            <a:r>
              <a:rPr lang="en-US" dirty="0"/>
              <a:t>: Slow, steady breathing helps regulate your own body before addressing others. Practically, that means taking slow, deep breaths — even if it’s just one in the middle of the conversation. It is important to be mindful of taking a deep breath and sighing in frustration. This can make a difference in the other person’s perception of our own behavior, even if not intentional.</a:t>
            </a:r>
          </a:p>
          <a:p>
            <a:pPr marL="640594" lvl="1" indent="-174708">
              <a:buFont typeface="Arial" panose="020B0604020202020204" pitchFamily="34" charset="0"/>
              <a:buChar char="•"/>
            </a:pPr>
            <a:r>
              <a:rPr lang="en-US" b="1" dirty="0"/>
              <a:t>Lower your tone &amp; volume</a:t>
            </a:r>
            <a:r>
              <a:rPr lang="en-US" dirty="0"/>
              <a:t>: Speak slowly, clearly, and softly, it reduces the likelihood of someone feeling threatened, even if its only a perceived threat. Sometimes, silence is more powerful than any words we may use. Silence can be uncomfortable, but it often gives the other person space to breathe, think, and regain control.</a:t>
            </a:r>
          </a:p>
          <a:p>
            <a:pPr marL="640594" lvl="1" indent="-174708">
              <a:buFont typeface="Arial" panose="020B0604020202020204" pitchFamily="34" charset="0"/>
              <a:buChar char="•"/>
            </a:pPr>
            <a:r>
              <a:rPr lang="en-US" b="1" dirty="0"/>
              <a:t>Keep neutral posture: </a:t>
            </a:r>
            <a:r>
              <a:rPr lang="en-US" dirty="0"/>
              <a:t>Body language matters too. Keep your hands visible and relaxed, don’t cross your arms, and maintain a safe distance. This shows you’re not a threat but you’re also not afraid. </a:t>
            </a:r>
          </a:p>
          <a:p>
            <a:pPr marL="640594" lvl="1" indent="-174708">
              <a:buFont typeface="Arial" panose="020B0604020202020204" pitchFamily="34" charset="0"/>
              <a:buChar char="•"/>
            </a:pPr>
            <a:r>
              <a:rPr lang="en-US" b="1" dirty="0"/>
              <a:t>Name your own cues</a:t>
            </a:r>
            <a:r>
              <a:rPr lang="en-US" dirty="0"/>
              <a:t>: Recognize signs of stress (tight jaw, raised voice, racing thoughts) and reset in the moment. Do a 3-count. In emotionally heightened situations, we often lean more into our emotional mind, rather than our rational one. Doing a short 3-count make a big difference in how we respond. It allows us the time to make a choice, rather than reacting.</a:t>
            </a:r>
          </a:p>
          <a:p>
            <a:endParaRPr lang="en-US" b="1" dirty="0"/>
          </a:p>
          <a:p>
            <a:r>
              <a:rPr lang="en-US" b="0" dirty="0"/>
              <a:t>Lastly, staying calm doesn’t mean you are being passive. It means that you are grounded. That you are able to respond thoughtfully, respectfully, and rationally. As a reminder, you cannot control someone else’s behavior, but you can control yours. This can often be the difference between an escalating situation and a manageable one.</a:t>
            </a:r>
          </a:p>
        </p:txBody>
      </p:sp>
      <p:sp>
        <p:nvSpPr>
          <p:cNvPr id="4" name="Slide Number Placeholder 3"/>
          <p:cNvSpPr>
            <a:spLocks noGrp="1"/>
          </p:cNvSpPr>
          <p:nvPr>
            <p:ph type="sldNum" sz="quarter" idx="5"/>
          </p:nvPr>
        </p:nvSpPr>
        <p:spPr/>
        <p:txBody>
          <a:bodyPr/>
          <a:lstStyle/>
          <a:p>
            <a:fld id="{A89C7E07-3C67-C64C-8DA0-0404F6303970}" type="slidenum">
              <a:rPr lang="en-US" smtClean="0"/>
              <a:t>15</a:t>
            </a:fld>
            <a:endParaRPr lang="en-US" dirty="0"/>
          </a:p>
        </p:txBody>
      </p:sp>
    </p:spTree>
    <p:extLst>
      <p:ext uri="{BB962C8B-B14F-4D97-AF65-F5344CB8AC3E}">
        <p14:creationId xmlns:p14="http://schemas.microsoft.com/office/powerpoint/2010/main" val="36052221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ECFF1F-5C88-7EB5-813C-8DF96B960F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D17896-AF3D-8568-1970-5247CAD5F9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BB2F5D-C5D2-48FC-B8C9-5F872E0A2BBC}"/>
              </a:ext>
            </a:extLst>
          </p:cNvPr>
          <p:cNvSpPr>
            <a:spLocks noGrp="1"/>
          </p:cNvSpPr>
          <p:nvPr>
            <p:ph type="body" idx="1"/>
          </p:nvPr>
        </p:nvSpPr>
        <p:spPr/>
        <p:txBody>
          <a:bodyPr/>
          <a:lstStyle/>
          <a:p>
            <a:r>
              <a:rPr lang="en-US" dirty="0"/>
              <a:t>Validate feelings without judgment. When tension is high, people often feel unheard, dismissed, or disrespected and that’s where empathy and respect make the biggest impact. Showing empathy doesn’t mean you agree with the person’s behavior; it means you recognize their emotions in that moment.</a:t>
            </a:r>
          </a:p>
          <a:p>
            <a:pPr marL="174708" indent="-174708">
              <a:buFont typeface="Arial" panose="020B0604020202020204" pitchFamily="34" charset="0"/>
              <a:buChar char="•"/>
            </a:pPr>
            <a:r>
              <a:rPr lang="en-US" b="1" dirty="0"/>
              <a:t>How to do it</a:t>
            </a:r>
            <a:r>
              <a:rPr lang="en-US" dirty="0"/>
              <a:t>:</a:t>
            </a:r>
          </a:p>
          <a:p>
            <a:pPr marL="640594" lvl="1" indent="-174708">
              <a:buFont typeface="Arial" panose="020B0604020202020204" pitchFamily="34" charset="0"/>
              <a:buChar char="•"/>
            </a:pPr>
            <a:r>
              <a:rPr lang="en-US" b="1" dirty="0"/>
              <a:t>Treat every person with dignity, regardless of behavior</a:t>
            </a:r>
            <a:r>
              <a:rPr lang="en-US" dirty="0"/>
              <a:t>: Respect starts with small things, using someone’s name, keeping your tone polite, avoiding sarcasm, and giving them personal space. Even when someone is yelling or being unreasonable, how we speak to them can completely shift the energy of the interaction.</a:t>
            </a:r>
          </a:p>
          <a:p>
            <a:pPr marL="640594" lvl="1" indent="-174708">
              <a:buFont typeface="Arial" panose="020B0604020202020204" pitchFamily="34" charset="0"/>
              <a:buChar char="•"/>
            </a:pPr>
            <a:r>
              <a:rPr lang="en-US" b="1" dirty="0"/>
              <a:t>Listen to understand, not to respond</a:t>
            </a:r>
            <a:r>
              <a:rPr lang="en-US" dirty="0"/>
              <a:t>: Empathy is about understanding why someone might be reacting the way they are. Maybe they’re scared, frustrated, or feel powerless. When we take a step back and look at the emotion driving the behavior, we can respond more effectively</a:t>
            </a:r>
          </a:p>
          <a:p>
            <a:pPr marL="640594" lvl="1" indent="-174708">
              <a:buFont typeface="Arial" panose="020B0604020202020204" pitchFamily="34" charset="0"/>
              <a:buChar char="•"/>
            </a:pPr>
            <a:r>
              <a:rPr lang="en-US" b="1" dirty="0"/>
              <a:t>Acknowledge feelings before addressing actions</a:t>
            </a:r>
            <a:r>
              <a:rPr lang="en-US" b="0" dirty="0"/>
              <a:t>: </a:t>
            </a:r>
            <a:r>
              <a:rPr lang="en-US" dirty="0"/>
              <a:t>A good rule of thumb is</a:t>
            </a:r>
            <a:r>
              <a:rPr lang="en-US" b="0" dirty="0"/>
              <a:t> to acknowledge feelings before addressing behavior. </a:t>
            </a:r>
            <a:r>
              <a:rPr lang="en-US" dirty="0"/>
              <a:t>For example, instead of saying, ‘You need to calm down,’ you might say, ‘I can see this is really upsetting, let’s figure out how we can make this better.’ That statement recognizes their emotion and offers collaboration rather than control.</a:t>
            </a:r>
            <a:endParaRPr lang="en-US" b="1" dirty="0"/>
          </a:p>
          <a:p>
            <a:pPr marL="640594" lvl="1" indent="-174708">
              <a:buFont typeface="Arial" panose="020B0604020202020204" pitchFamily="34" charset="0"/>
              <a:buChar char="•"/>
            </a:pPr>
            <a:r>
              <a:rPr lang="en-US" b="1" dirty="0"/>
              <a:t>Use validating language</a:t>
            </a:r>
            <a:r>
              <a:rPr lang="en-US" dirty="0"/>
              <a:t>: When we use validating language, we’re acknowledging how someone feels before we try to correct or calm them. It’s a simple way of saying, </a:t>
            </a:r>
            <a:r>
              <a:rPr lang="en-US" i="1" dirty="0"/>
              <a:t>‘</a:t>
            </a:r>
            <a:r>
              <a:rPr lang="en-US" i="0" dirty="0"/>
              <a:t>I see you, and what you’re feeling makes sense.’</a:t>
            </a:r>
            <a:r>
              <a:rPr lang="en-US" dirty="0"/>
              <a:t> That recognition alone can start lowering defensiveness.” Validation doesn’t mean agreeing or approving, it just means understanding. For example, instead of saying ‘You’re overreacting,’ we can say ‘I can see this is really upsetting for you.’ That shift changes the entire tone of the conversation.” When people feel understood, they stop needing to prove their emotions are real. That’s when they start to calm down and are more open to working with you</a:t>
            </a:r>
          </a:p>
          <a:p>
            <a:pPr marL="640594" lvl="1" indent="-174708">
              <a:buFont typeface="Arial" panose="020B0604020202020204" pitchFamily="34" charset="0"/>
              <a:buChar char="•"/>
            </a:pPr>
            <a:r>
              <a:rPr lang="en-US" b="1" dirty="0"/>
              <a:t>Respect personal space, culture, and autonomy</a:t>
            </a:r>
            <a:r>
              <a:rPr lang="en-US" dirty="0"/>
              <a:t>: It’s also critical to remember that every person we interact with comes from their own background and life experiences, including experiences with bias, discrimination, or trauma. Being mindful of those histories shows cultural humility and helps prevent re-traumatization.</a:t>
            </a:r>
          </a:p>
        </p:txBody>
      </p:sp>
      <p:sp>
        <p:nvSpPr>
          <p:cNvPr id="4" name="Slide Number Placeholder 3">
            <a:extLst>
              <a:ext uri="{FF2B5EF4-FFF2-40B4-BE49-F238E27FC236}">
                <a16:creationId xmlns:a16="http://schemas.microsoft.com/office/drawing/2014/main" id="{AD2772AB-44BD-7F72-9D07-7CF464168A16}"/>
              </a:ext>
            </a:extLst>
          </p:cNvPr>
          <p:cNvSpPr>
            <a:spLocks noGrp="1"/>
          </p:cNvSpPr>
          <p:nvPr>
            <p:ph type="sldNum" sz="quarter" idx="5"/>
          </p:nvPr>
        </p:nvSpPr>
        <p:spPr/>
        <p:txBody>
          <a:bodyPr/>
          <a:lstStyle/>
          <a:p>
            <a:fld id="{A89C7E07-3C67-C64C-8DA0-0404F6303970}" type="slidenum">
              <a:rPr lang="en-US" smtClean="0"/>
              <a:t>16</a:t>
            </a:fld>
            <a:endParaRPr lang="en-US" dirty="0"/>
          </a:p>
        </p:txBody>
      </p:sp>
    </p:spTree>
    <p:extLst>
      <p:ext uri="{BB962C8B-B14F-4D97-AF65-F5344CB8AC3E}">
        <p14:creationId xmlns:p14="http://schemas.microsoft.com/office/powerpoint/2010/main" val="33307746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BAB7FF-9B62-3FB7-79D6-4421B7B7EE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251FCA-5D2E-C166-704E-4FEB092D31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982CB4-7307-73B5-EFE8-BFB74FCBBB35}"/>
              </a:ext>
            </a:extLst>
          </p:cNvPr>
          <p:cNvSpPr>
            <a:spLocks noGrp="1"/>
          </p:cNvSpPr>
          <p:nvPr>
            <p:ph type="body" idx="1"/>
          </p:nvPr>
        </p:nvSpPr>
        <p:spPr/>
        <p:txBody>
          <a:bodyPr/>
          <a:lstStyle/>
          <a:p>
            <a:r>
              <a:rPr lang="en-US" dirty="0"/>
              <a:t>When someone is escalated or under stress, their ability to process information goes way down. Even people who are usually calm and articulate can struggle to take in complex details when emotions are high. That’s why clarity becomes a de-escalation tool.</a:t>
            </a:r>
          </a:p>
          <a:p>
            <a:endParaRPr lang="en-US" dirty="0"/>
          </a:p>
          <a:p>
            <a:pPr marL="174708" indent="-174708">
              <a:buFont typeface="Arial" panose="020B0604020202020204" pitchFamily="34" charset="0"/>
              <a:buChar char="•"/>
            </a:pPr>
            <a:r>
              <a:rPr lang="en-US" b="1" dirty="0"/>
              <a:t>How to do it: </a:t>
            </a:r>
          </a:p>
          <a:p>
            <a:pPr marL="640594" lvl="1" indent="-174708">
              <a:buFont typeface="Arial" panose="020B0604020202020204" pitchFamily="34" charset="0"/>
              <a:buChar char="•"/>
            </a:pPr>
            <a:r>
              <a:rPr lang="en-US" b="1" dirty="0"/>
              <a:t>Use short, simple sentences</a:t>
            </a:r>
            <a:r>
              <a:rPr lang="en-US" dirty="0"/>
              <a:t>: Using short, simple sentences helps people actually hear you. Instead of giving long explanations or multiple steps at once, break things down. For example, instead of saying, ‘I need you to sit down so we can take your vitals and get your medication ready,’ you might say, ‘Let’s start by sitting down together.’ One direction at a time.</a:t>
            </a:r>
          </a:p>
          <a:p>
            <a:pPr marL="640594" lvl="1" indent="-174708">
              <a:buFont typeface="Arial" panose="020B0604020202020204" pitchFamily="34" charset="0"/>
              <a:buChar char="•"/>
            </a:pPr>
            <a:r>
              <a:rPr lang="en-US" b="1" dirty="0"/>
              <a:t>Avoid medical jargon when possible</a:t>
            </a:r>
            <a:r>
              <a:rPr lang="en-US" dirty="0"/>
              <a:t>: Avoiding medical jargon is also key. Words that make sense to us — like ‘triage,’ ‘compliance,’ or ‘vitals’ might sound confusing or even intimidating to someone who’s upset. Plain language helps build trust and makes your message more accessible.. </a:t>
            </a:r>
          </a:p>
          <a:p>
            <a:pPr marL="640594" lvl="1" indent="-174708">
              <a:buFont typeface="Arial" panose="020B0604020202020204" pitchFamily="34" charset="0"/>
              <a:buChar char="•"/>
            </a:pPr>
            <a:r>
              <a:rPr lang="en-US" dirty="0"/>
              <a:t>Give one instruction at a time.</a:t>
            </a:r>
          </a:p>
          <a:p>
            <a:pPr marL="465887" lvl="1"/>
            <a:endParaRPr lang="en-US" dirty="0"/>
          </a:p>
          <a:p>
            <a:r>
              <a:rPr lang="en-US" dirty="0"/>
              <a:t>When you keep communication simple and calm, it reduces overwhelm, prevents misunderstanding, and gives the person a sense of control. That’s exactly what we’re aiming for in de-escalation. </a:t>
            </a:r>
          </a:p>
        </p:txBody>
      </p:sp>
      <p:sp>
        <p:nvSpPr>
          <p:cNvPr id="4" name="Slide Number Placeholder 3">
            <a:extLst>
              <a:ext uri="{FF2B5EF4-FFF2-40B4-BE49-F238E27FC236}">
                <a16:creationId xmlns:a16="http://schemas.microsoft.com/office/drawing/2014/main" id="{6F5C68F1-01AA-4BBA-7DDF-2B87F0BCF6C3}"/>
              </a:ext>
            </a:extLst>
          </p:cNvPr>
          <p:cNvSpPr>
            <a:spLocks noGrp="1"/>
          </p:cNvSpPr>
          <p:nvPr>
            <p:ph type="sldNum" sz="quarter" idx="5"/>
          </p:nvPr>
        </p:nvSpPr>
        <p:spPr/>
        <p:txBody>
          <a:bodyPr/>
          <a:lstStyle/>
          <a:p>
            <a:fld id="{A89C7E07-3C67-C64C-8DA0-0404F6303970}" type="slidenum">
              <a:rPr lang="en-US" smtClean="0"/>
              <a:t>17</a:t>
            </a:fld>
            <a:endParaRPr lang="en-US" dirty="0"/>
          </a:p>
        </p:txBody>
      </p:sp>
    </p:spTree>
    <p:extLst>
      <p:ext uri="{BB962C8B-B14F-4D97-AF65-F5344CB8AC3E}">
        <p14:creationId xmlns:p14="http://schemas.microsoft.com/office/powerpoint/2010/main" val="36931456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18998A-9E78-23CF-F742-998713F884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A42D6D-6C43-C655-AF9E-064A71F016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DBB19A-A474-89E9-E167-7A5931040AB0}"/>
              </a:ext>
            </a:extLst>
          </p:cNvPr>
          <p:cNvSpPr>
            <a:spLocks noGrp="1"/>
          </p:cNvSpPr>
          <p:nvPr>
            <p:ph type="body" idx="1"/>
          </p:nvPr>
        </p:nvSpPr>
        <p:spPr/>
        <p:txBody>
          <a:bodyPr/>
          <a:lstStyle/>
          <a:p>
            <a:r>
              <a:rPr lang="en-US" dirty="0"/>
              <a:t>In any tense interaction, physical space communicates just as much as words. When someone feels cornered, blocked in, or physically overpowered, their brain shifts into a survival mode, activating our fight, flight, or freeze responses. Our goal is to reduce that sense of threat by maintaining a safe, open space.</a:t>
            </a:r>
          </a:p>
          <a:p>
            <a:endParaRPr lang="en-US" dirty="0"/>
          </a:p>
          <a:p>
            <a:pPr marL="174708" indent="-174708">
              <a:buFont typeface="Arial" panose="020B0604020202020204" pitchFamily="34" charset="0"/>
              <a:buChar char="•"/>
            </a:pPr>
            <a:r>
              <a:rPr lang="en-US" b="1" dirty="0"/>
              <a:t>How to do it:</a:t>
            </a:r>
          </a:p>
          <a:p>
            <a:pPr marL="640594" lvl="1" indent="-174708">
              <a:buFont typeface="Arial" panose="020B0604020202020204" pitchFamily="34" charset="0"/>
              <a:buChar char="•"/>
            </a:pPr>
            <a:r>
              <a:rPr lang="en-US" b="1" dirty="0"/>
              <a:t>Respect personal space</a:t>
            </a:r>
            <a:r>
              <a:rPr lang="en-US" dirty="0"/>
              <a:t>: As a general rule, keep about two arm’s lengths of distance whenever possible. This gives both you and the other person room to move and breathe, and it communicates that you’re not trying to control or contain them.</a:t>
            </a:r>
          </a:p>
          <a:p>
            <a:pPr marL="640594" lvl="1" indent="-174708">
              <a:buFont typeface="Arial" panose="020B0604020202020204" pitchFamily="34" charset="0"/>
              <a:buChar char="•"/>
            </a:pPr>
            <a:r>
              <a:rPr lang="en-US" b="1" dirty="0"/>
              <a:t>Keep exits visible and accessible</a:t>
            </a:r>
            <a:r>
              <a:rPr lang="en-US" dirty="0"/>
              <a:t>: Make sure exits are visible and accessible, not because you expect danger, but because people instinctively feel safer when they know they have a way out. If someone feels trapped, even unintentionally, their anxiety will spike and they’re more likely to escalate</a:t>
            </a:r>
          </a:p>
          <a:p>
            <a:pPr marL="640594" lvl="1" indent="-174708">
              <a:buFont typeface="Arial" panose="020B0604020202020204" pitchFamily="34" charset="0"/>
              <a:buChar char="•"/>
            </a:pPr>
            <a:r>
              <a:rPr lang="en-US" b="1" dirty="0"/>
              <a:t>Avoid standing or cornering</a:t>
            </a:r>
            <a:r>
              <a:rPr lang="en-US" dirty="0"/>
              <a:t>: Avoid standing directly over someone who’s sitting or crouching. That posture can feel intimidating or dominant. If appropriate, lower yourself slightly so you’re at eye level, it shows respect and reduces the power imbalance</a:t>
            </a:r>
          </a:p>
          <a:p>
            <a:pPr marL="640594" lvl="1" indent="-174708">
              <a:buFont typeface="Arial" panose="020B0604020202020204" pitchFamily="34" charset="0"/>
              <a:buChar char="•"/>
            </a:pPr>
            <a:endParaRPr lang="en-US" dirty="0"/>
          </a:p>
          <a:p>
            <a:r>
              <a:rPr lang="en-US" dirty="0"/>
              <a:t>The key idea is that safety is mutual. When the other person feels physically safe, </a:t>
            </a:r>
            <a:r>
              <a:rPr lang="en-US" i="1" dirty="0"/>
              <a:t>you</a:t>
            </a:r>
            <a:r>
              <a:rPr lang="en-US" dirty="0"/>
              <a:t> are actually safer too, because it lowers the chance of panic or aggression. Space isn’t just about comfort, it’s about maintaining control through maintaining calm and showing respect</a:t>
            </a:r>
          </a:p>
        </p:txBody>
      </p:sp>
      <p:sp>
        <p:nvSpPr>
          <p:cNvPr id="4" name="Slide Number Placeholder 3">
            <a:extLst>
              <a:ext uri="{FF2B5EF4-FFF2-40B4-BE49-F238E27FC236}">
                <a16:creationId xmlns:a16="http://schemas.microsoft.com/office/drawing/2014/main" id="{F31A7B85-7A54-8C65-2724-5426565DD024}"/>
              </a:ext>
            </a:extLst>
          </p:cNvPr>
          <p:cNvSpPr>
            <a:spLocks noGrp="1"/>
          </p:cNvSpPr>
          <p:nvPr>
            <p:ph type="sldNum" sz="quarter" idx="5"/>
          </p:nvPr>
        </p:nvSpPr>
        <p:spPr/>
        <p:txBody>
          <a:bodyPr/>
          <a:lstStyle/>
          <a:p>
            <a:fld id="{A89C7E07-3C67-C64C-8DA0-0404F6303970}" type="slidenum">
              <a:rPr lang="en-US" smtClean="0"/>
              <a:t>18</a:t>
            </a:fld>
            <a:endParaRPr lang="en-US" dirty="0"/>
          </a:p>
        </p:txBody>
      </p:sp>
    </p:spTree>
    <p:extLst>
      <p:ext uri="{BB962C8B-B14F-4D97-AF65-F5344CB8AC3E}">
        <p14:creationId xmlns:p14="http://schemas.microsoft.com/office/powerpoint/2010/main" val="125171782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50362A-B72D-1936-5CE0-86FD0737D4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D7FBFA-CB29-A1BF-18A2-F3400442BB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0702EF-4844-227C-6269-21D247353085}"/>
              </a:ext>
            </a:extLst>
          </p:cNvPr>
          <p:cNvSpPr>
            <a:spLocks noGrp="1"/>
          </p:cNvSpPr>
          <p:nvPr>
            <p:ph type="body" idx="1"/>
          </p:nvPr>
        </p:nvSpPr>
        <p:spPr/>
        <p:txBody>
          <a:bodyPr/>
          <a:lstStyle/>
          <a:p>
            <a:r>
              <a:rPr lang="en-US" i="0" dirty="0"/>
              <a:t>When someone is agitated, one of the main things they’ve often lost is a sense of control. They may feel powerless, unheard, or like decisions are being made to them instead of with them. </a:t>
            </a:r>
            <a:r>
              <a:rPr lang="en-US" dirty="0"/>
              <a:t>Offering choices, even small ones, helps restore their sense of autonomy. </a:t>
            </a:r>
          </a:p>
          <a:p>
            <a:pPr marL="174708" indent="-174708">
              <a:buFont typeface="Arial" panose="020B0604020202020204" pitchFamily="34" charset="0"/>
              <a:buChar char="•"/>
            </a:pPr>
            <a:r>
              <a:rPr lang="en-US" b="1" dirty="0"/>
              <a:t>How to do it:</a:t>
            </a:r>
          </a:p>
          <a:p>
            <a:pPr marL="640594" lvl="1" indent="-174708">
              <a:buFont typeface="Arial" panose="020B0604020202020204" pitchFamily="34" charset="0"/>
              <a:buChar char="•"/>
            </a:pPr>
            <a:r>
              <a:rPr lang="en-US" b="1" dirty="0"/>
              <a:t>Frame requests as options</a:t>
            </a:r>
            <a:r>
              <a:rPr lang="en-US" dirty="0"/>
              <a:t>: It doesn’t mean letting the person run the situation. It means reframing how we give direction. Instead of saying, ‘You need to sit down,’ you might say, ‘Would you like to sit here or over by the window?’ The task stays the same, but the tone shifts from command to collaboration.</a:t>
            </a:r>
          </a:p>
          <a:p>
            <a:pPr marL="640594" lvl="1" indent="-174708">
              <a:buFont typeface="Arial" panose="020B0604020202020204" pitchFamily="34" charset="0"/>
              <a:buChar char="•"/>
            </a:pPr>
            <a:r>
              <a:rPr lang="en-US" b="1" dirty="0"/>
              <a:t>Allow the person to say ‘no’ when it is safe to do so</a:t>
            </a:r>
            <a:r>
              <a:rPr lang="en-US" dirty="0"/>
              <a:t>: When we give people safe opportunities to say ‘no,’ we actually reduce their need to resist. It gives them a sense that their voice matters. And when people feel they have some control, their anxiety and defensiveness drop</a:t>
            </a:r>
          </a:p>
          <a:p>
            <a:pPr marL="640594" lvl="1" indent="-174708">
              <a:buFont typeface="Arial" panose="020B0604020202020204" pitchFamily="34" charset="0"/>
              <a:buChar char="•"/>
            </a:pPr>
            <a:r>
              <a:rPr lang="en-US" b="1" dirty="0"/>
              <a:t>Reinforce autonomy, while keeping clear boundaries</a:t>
            </a:r>
            <a:r>
              <a:rPr lang="en-US" dirty="0"/>
              <a:t>: You can also use this technique to reinforce boundaries. For example, </a:t>
            </a:r>
            <a:r>
              <a:rPr lang="en-US" i="0" dirty="0"/>
              <a:t>‘We can’t continue the conversation while voices are raised, but we can step outside or take a short break, which would you prefer?’ </a:t>
            </a:r>
            <a:r>
              <a:rPr lang="en-US" dirty="0"/>
              <a:t>That keeps the limit clear while still giving choice and dignity.</a:t>
            </a:r>
          </a:p>
          <a:p>
            <a:endParaRPr lang="en-US" dirty="0"/>
          </a:p>
          <a:p>
            <a:r>
              <a:rPr lang="en-US" i="0" dirty="0"/>
              <a:t>Offering choices communicates partnership. It says, ‘I respect your ability to decide,’ which builds trust and trust is what keeps de-escalation safe and effective.</a:t>
            </a:r>
          </a:p>
        </p:txBody>
      </p:sp>
      <p:sp>
        <p:nvSpPr>
          <p:cNvPr id="4" name="Slide Number Placeholder 3">
            <a:extLst>
              <a:ext uri="{FF2B5EF4-FFF2-40B4-BE49-F238E27FC236}">
                <a16:creationId xmlns:a16="http://schemas.microsoft.com/office/drawing/2014/main" id="{6E29060F-22AB-830B-00F6-3664D4DB059C}"/>
              </a:ext>
            </a:extLst>
          </p:cNvPr>
          <p:cNvSpPr>
            <a:spLocks noGrp="1"/>
          </p:cNvSpPr>
          <p:nvPr>
            <p:ph type="sldNum" sz="quarter" idx="5"/>
          </p:nvPr>
        </p:nvSpPr>
        <p:spPr/>
        <p:txBody>
          <a:bodyPr/>
          <a:lstStyle/>
          <a:p>
            <a:fld id="{A89C7E07-3C67-C64C-8DA0-0404F6303970}" type="slidenum">
              <a:rPr lang="en-US" smtClean="0"/>
              <a:t>19</a:t>
            </a:fld>
            <a:endParaRPr lang="en-US" dirty="0"/>
          </a:p>
        </p:txBody>
      </p:sp>
    </p:spTree>
    <p:extLst>
      <p:ext uri="{BB962C8B-B14F-4D97-AF65-F5344CB8AC3E}">
        <p14:creationId xmlns:p14="http://schemas.microsoft.com/office/powerpoint/2010/main" val="11597145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2A388-CDA0-D5F7-37E0-5A5F5566F0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3A7868-DA2A-9BA7-C7A6-A43B147466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149CF7-3531-5354-A2F1-9F046B055690}"/>
              </a:ext>
            </a:extLst>
          </p:cNvPr>
          <p:cNvSpPr>
            <a:spLocks noGrp="1"/>
          </p:cNvSpPr>
          <p:nvPr>
            <p:ph type="body" idx="1"/>
          </p:nvPr>
        </p:nvSpPr>
        <p:spPr/>
        <p:txBody>
          <a:bodyPr/>
          <a:lstStyle/>
          <a:p>
            <a:r>
              <a:rPr lang="en-US" i="0" dirty="0"/>
              <a:t>How we communicate is often more important than what we say. Our body language, tone, and facial expressions send powerful messages, sometimes louder than our words. People in distress are hyper-aware of non-verbal cues, so the way we carry ourselves can either calm or escalate the situation. Intention is only part of communication, how it is received is just as important as our intention.</a:t>
            </a:r>
          </a:p>
          <a:p>
            <a:pPr marL="174708" indent="-174708">
              <a:buFont typeface="Arial" panose="020B0604020202020204" pitchFamily="34" charset="0"/>
              <a:buChar char="•"/>
            </a:pPr>
            <a:r>
              <a:rPr lang="en-US" b="1" i="0" dirty="0"/>
              <a:t>How to do it:</a:t>
            </a:r>
          </a:p>
          <a:p>
            <a:pPr marL="640594" lvl="1" indent="-174708">
              <a:buFont typeface="Arial" panose="020B0604020202020204" pitchFamily="34" charset="0"/>
              <a:buChar char="•"/>
            </a:pPr>
            <a:r>
              <a:rPr lang="en-US" b="1" dirty="0"/>
              <a:t>Open Posture</a:t>
            </a:r>
            <a:r>
              <a:rPr lang="en-US" dirty="0"/>
              <a:t>: Keep your posture open and relaxed, with your hands visible. Hidden hands, crossed arms, or a defensive stance can make someone feel unsafe or like you’re closing off communication. Slow, deliberate movements show calmness, while quick or abrupt gestures can be misinterpreted as aggression, appearing rushed, or impatience.</a:t>
            </a:r>
          </a:p>
          <a:p>
            <a:pPr marL="640594" lvl="1" indent="-174708">
              <a:buFont typeface="Arial" panose="020B0604020202020204" pitchFamily="34" charset="0"/>
              <a:buChar char="•"/>
            </a:pPr>
            <a:r>
              <a:rPr lang="en-US" b="1" dirty="0"/>
              <a:t>Make eye contact</a:t>
            </a:r>
            <a:r>
              <a:rPr lang="en-US" dirty="0"/>
              <a:t>: Eye contact is important, but balance matters. Too little can seem dismissive, but too much can feel intimidating or confrontational. Aim for brief, respectful eye contact that communicates attention, not challenge</a:t>
            </a:r>
          </a:p>
          <a:p>
            <a:pPr marL="640594" lvl="1" indent="-174708">
              <a:buFont typeface="Arial" panose="020B0604020202020204" pitchFamily="34" charset="0"/>
              <a:buChar char="•"/>
            </a:pPr>
            <a:r>
              <a:rPr lang="en-US" b="1" dirty="0"/>
              <a:t>Avoid showing non-verbal cues</a:t>
            </a:r>
            <a:r>
              <a:rPr lang="en-US" dirty="0"/>
              <a:t>: Try to be aware of your facial expressions and tone. Even small signs of frustration, like sighing, eye-rolling, or checking your watch, can signal impatience or disrespect. The goal is to project calm, focus, and genuine presence.</a:t>
            </a:r>
          </a:p>
          <a:p>
            <a:pPr marL="640594" lvl="1" indent="-174708">
              <a:buFont typeface="Arial" panose="020B0604020202020204" pitchFamily="34" charset="0"/>
              <a:buChar char="•"/>
            </a:pPr>
            <a:endParaRPr lang="en-US" dirty="0"/>
          </a:p>
          <a:p>
            <a:pPr marL="640594" lvl="1" indent="-174708">
              <a:buFont typeface="Arial" panose="020B0604020202020204" pitchFamily="34" charset="0"/>
              <a:buChar char="•"/>
            </a:pPr>
            <a:endParaRPr lang="en-US" i="0" dirty="0"/>
          </a:p>
          <a:p>
            <a:endParaRPr lang="en-US" i="0" dirty="0"/>
          </a:p>
        </p:txBody>
      </p:sp>
      <p:sp>
        <p:nvSpPr>
          <p:cNvPr id="4" name="Slide Number Placeholder 3">
            <a:extLst>
              <a:ext uri="{FF2B5EF4-FFF2-40B4-BE49-F238E27FC236}">
                <a16:creationId xmlns:a16="http://schemas.microsoft.com/office/drawing/2014/main" id="{2A61666F-4EB1-9E49-D23B-6D376EA09288}"/>
              </a:ext>
            </a:extLst>
          </p:cNvPr>
          <p:cNvSpPr>
            <a:spLocks noGrp="1"/>
          </p:cNvSpPr>
          <p:nvPr>
            <p:ph type="sldNum" sz="quarter" idx="5"/>
          </p:nvPr>
        </p:nvSpPr>
        <p:spPr/>
        <p:txBody>
          <a:bodyPr/>
          <a:lstStyle/>
          <a:p>
            <a:fld id="{A89C7E07-3C67-C64C-8DA0-0404F6303970}" type="slidenum">
              <a:rPr lang="en-US" smtClean="0"/>
              <a:t>20</a:t>
            </a:fld>
            <a:endParaRPr lang="en-US" dirty="0"/>
          </a:p>
        </p:txBody>
      </p:sp>
    </p:spTree>
    <p:extLst>
      <p:ext uri="{BB962C8B-B14F-4D97-AF65-F5344CB8AC3E}">
        <p14:creationId xmlns:p14="http://schemas.microsoft.com/office/powerpoint/2010/main" val="34731355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Safety is the foundation of de-escalation, for both staff and the individual in distress. Clear boundaries protect everyone involved and maintain professionalism. De-escalation isn’t about forcing calm; it’s about guiding it, but only when it’s safe to do so. One of the most important skills is knowing when to engage, and when to disengage. Our goal is to reduce risk, not to win an argument or ‘fix’ the situation at all costs. We should not be ‘in it to win it,’ when approaching de-escalation. We should be utilizing a solutions-focused approach and to bring calm.</a:t>
            </a:r>
          </a:p>
          <a:p>
            <a:pPr marL="174708" indent="-174708">
              <a:buFont typeface="Arial" panose="020B0604020202020204" pitchFamily="34" charset="0"/>
              <a:buChar char="•"/>
            </a:pPr>
            <a:r>
              <a:rPr lang="en-US" dirty="0"/>
              <a:t>How to do it:</a:t>
            </a:r>
          </a:p>
          <a:p>
            <a:pPr marL="640594" lvl="1" indent="-174708">
              <a:buFont typeface="Arial" panose="020B0604020202020204" pitchFamily="34" charset="0"/>
              <a:buChar char="•"/>
            </a:pPr>
            <a:r>
              <a:rPr lang="en-US" b="1" i="0" dirty="0"/>
              <a:t>Know when to disengage if the situation becomes unsafe</a:t>
            </a:r>
            <a:r>
              <a:rPr lang="en-US" b="0" i="0" dirty="0"/>
              <a:t>: </a:t>
            </a:r>
            <a:r>
              <a:rPr lang="en-US" i="0" dirty="0"/>
              <a:t>If someone’s behavior becomes threatening, for example, yelling aggressively, making physical threats, or closing distance in a way that feels unsafe, it’s appropriate to step back and disengage. Calmly explain that you’ll return once everyone can communicate safely. This keeps the interaction respectful while reinforcing boundaries. Boundaries protect both parties. They communicate that we’re willing to help, but only within limits that keep everyone safe. Saying something like, ‘I want to continue this conversation, but I can’t do that while voices are raised,’ maintains respect while setting a clear expectation.</a:t>
            </a:r>
            <a:endParaRPr lang="en-US" b="0" i="0" dirty="0"/>
          </a:p>
          <a:p>
            <a:pPr marL="640594" lvl="1" indent="-174708">
              <a:buFont typeface="Arial" panose="020B0604020202020204" pitchFamily="34" charset="0"/>
              <a:buChar char="•"/>
            </a:pPr>
            <a:r>
              <a:rPr lang="en-US" b="0" dirty="0"/>
              <a:t>Follow established safety protocols (team response, code words): </a:t>
            </a:r>
            <a:r>
              <a:rPr lang="en-US" dirty="0"/>
              <a:t>Always follow your organization’s safety protocols, whether that means activating an alert system, calling a supervisor, or using a team approach. Safety plans exist for a reason and using them early prevents escalation from becoming a crisis.</a:t>
            </a:r>
            <a:endParaRPr lang="en-US" b="0" dirty="0"/>
          </a:p>
          <a:p>
            <a:pPr marL="640594" lvl="1" indent="-174708">
              <a:buFont typeface="Arial" panose="020B0604020202020204" pitchFamily="34" charset="0"/>
              <a:buChar char="•"/>
            </a:pPr>
            <a:r>
              <a:rPr lang="en-US" b="1" dirty="0"/>
              <a:t>Maintain awareness of escape routes and environmental hazards</a:t>
            </a:r>
            <a:r>
              <a:rPr lang="en-US" b="0" dirty="0"/>
              <a:t>: </a:t>
            </a:r>
            <a:r>
              <a:rPr lang="en-US" dirty="0"/>
              <a:t>Environmental awareness also matters: know where your exits are, keep a clear path between yourself and the door, and avoid getting trapped in corners or behind desks. Your physical positioning should allow a calm exit if needed.</a:t>
            </a:r>
            <a:endParaRPr lang="en-US" b="0" dirty="0"/>
          </a:p>
          <a:p>
            <a:pPr marL="640594" lvl="1" indent="-174708">
              <a:buFont typeface="Arial" panose="020B0604020202020204" pitchFamily="34" charset="0"/>
              <a:buChar char="•"/>
            </a:pPr>
            <a:r>
              <a:rPr lang="en-US" b="1" dirty="0"/>
              <a:t>Use team communication to coordinate safely</a:t>
            </a:r>
            <a:r>
              <a:rPr lang="en-US" b="0" dirty="0"/>
              <a:t>: </a:t>
            </a:r>
            <a:r>
              <a:rPr lang="en-US" dirty="0"/>
              <a:t>Finally, communicate with your team. If you sense tension building, use code phrases to alert others. De-escalation works best as a </a:t>
            </a:r>
            <a:r>
              <a:rPr lang="en-US" i="1" dirty="0"/>
              <a:t>team process</a:t>
            </a:r>
            <a:r>
              <a:rPr lang="en-US" dirty="0"/>
              <a:t>, not a solo effort.</a:t>
            </a:r>
            <a:endParaRPr lang="en-US" b="0" dirty="0"/>
          </a:p>
          <a:p>
            <a:pPr marL="640594" lvl="1" indent="-174708">
              <a:buFont typeface="Arial" panose="020B0604020202020204" pitchFamily="34" charset="0"/>
              <a:buChar char="•"/>
            </a:pPr>
            <a:r>
              <a:rPr lang="en-US" b="1" dirty="0"/>
              <a:t>Set firm but respectful limits when behavior crosses safe boundaries</a:t>
            </a:r>
            <a:r>
              <a:rPr lang="en-US" b="0" dirty="0"/>
              <a:t>: </a:t>
            </a:r>
            <a:r>
              <a:rPr lang="en-US" dirty="0"/>
              <a:t>Boundaries don’t shut people down, they make the space safe enough for true connection to happen. You can’t offer empathy or validation if you don’t feel safe. So protecting your safety is actually part of providing compassionate care.</a:t>
            </a:r>
          </a:p>
          <a:p>
            <a:pPr marL="640594" lvl="1" indent="-174708">
              <a:buFont typeface="Arial" panose="020B0604020202020204" pitchFamily="34" charset="0"/>
              <a:buChar char="•"/>
            </a:pPr>
            <a:r>
              <a:rPr lang="en-US" b="1" dirty="0"/>
              <a:t>Involve law enforcement only as a last resort: </a:t>
            </a:r>
            <a:r>
              <a:rPr lang="en-US" dirty="0"/>
              <a:t>In rare cases, even with the best de-escalation efforts, a situation can reach a point where safety can’t be maintained. That’s when calling for additional help including law enforcement, may become necessary. But this should always be a </a:t>
            </a:r>
            <a:r>
              <a:rPr lang="en-US" i="1" dirty="0"/>
              <a:t>last resort</a:t>
            </a:r>
            <a:r>
              <a:rPr lang="en-US" dirty="0"/>
              <a:t>. If that call needs to be made, it’s important to remain calm, use clear communication, and debrief afterward with your team. Reflect on what led to that point and consider whether earlier interventions or environmental changes could reduce the likelihood of reaching that stage again. Most importantly, we continue to treat the individual with dignity — even during a crisis response. Safety and empathy can coexist. The person should never feel like they’ve been abandoned or criminalized for struggling</a:t>
            </a:r>
          </a:p>
        </p:txBody>
      </p:sp>
      <p:sp>
        <p:nvSpPr>
          <p:cNvPr id="4" name="Slide Number Placeholder 3"/>
          <p:cNvSpPr>
            <a:spLocks noGrp="1"/>
          </p:cNvSpPr>
          <p:nvPr>
            <p:ph type="sldNum" sz="quarter" idx="5"/>
          </p:nvPr>
        </p:nvSpPr>
        <p:spPr/>
        <p:txBody>
          <a:bodyPr/>
          <a:lstStyle/>
          <a:p>
            <a:fld id="{A89C7E07-3C67-C64C-8DA0-0404F6303970}" type="slidenum">
              <a:rPr lang="en-US" smtClean="0"/>
              <a:t>21</a:t>
            </a:fld>
            <a:endParaRPr lang="en-US" dirty="0"/>
          </a:p>
        </p:txBody>
      </p:sp>
    </p:spTree>
    <p:extLst>
      <p:ext uri="{BB962C8B-B14F-4D97-AF65-F5344CB8AC3E}">
        <p14:creationId xmlns:p14="http://schemas.microsoft.com/office/powerpoint/2010/main" val="97454442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bring everything back to the core message of de-escalation, this isn’t about control; it’s about making connections. The way we show up in these moments often determines how safe and supported someone feels. </a:t>
            </a:r>
          </a:p>
          <a:p>
            <a:endParaRPr lang="en-US" dirty="0"/>
          </a:p>
          <a:p>
            <a:r>
              <a:rPr lang="en-US" dirty="0"/>
              <a:t>When you stay calm and respectful, you help stabilize the situation. </a:t>
            </a:r>
          </a:p>
          <a:p>
            <a:r>
              <a:rPr lang="en-US" dirty="0"/>
              <a:t>When you validate and listen, you help people feel seen. </a:t>
            </a:r>
          </a:p>
          <a:p>
            <a:r>
              <a:rPr lang="en-US" dirty="0"/>
              <a:t>When you set clear boundaries and maintain safety, you protect not only yourself, but everyone involved.</a:t>
            </a:r>
          </a:p>
          <a:p>
            <a:endParaRPr lang="en-US" dirty="0"/>
          </a:p>
          <a:p>
            <a:r>
              <a:rPr lang="en-US" dirty="0"/>
              <a:t>Remember that every person we encounter is carrying their own story, trauma, stress, fear, or frustration. De-escalation isn’t about fixing someone; it’s about responding with professionalism, empathy, and calm.</a:t>
            </a:r>
          </a:p>
          <a:p>
            <a:endParaRPr lang="en-US" dirty="0"/>
          </a:p>
          <a:p>
            <a:r>
              <a:rPr lang="en-US" dirty="0"/>
              <a:t>De-escalation takes practice. It’s okay if you don’t always get it perfect, what matters is your awareness and your effort to keep learning and improving. In closing, keep these tools in mind: calm presence, empathy, validation, clear communication, safe space, and strong boundaries. Ultimately, successful de-escalation isn’t just about avoiding conflict. It’s about preserving dignity, theirs and yours, and helping every interaction end a little safer and a little more human.</a:t>
            </a:r>
          </a:p>
        </p:txBody>
      </p:sp>
      <p:sp>
        <p:nvSpPr>
          <p:cNvPr id="4" name="Slide Number Placeholder 3"/>
          <p:cNvSpPr>
            <a:spLocks noGrp="1"/>
          </p:cNvSpPr>
          <p:nvPr>
            <p:ph type="sldNum" sz="quarter" idx="5"/>
          </p:nvPr>
        </p:nvSpPr>
        <p:spPr/>
        <p:txBody>
          <a:bodyPr/>
          <a:lstStyle/>
          <a:p>
            <a:fld id="{A89C7E07-3C67-C64C-8DA0-0404F6303970}" type="slidenum">
              <a:rPr lang="en-US" smtClean="0"/>
              <a:t>22</a:t>
            </a:fld>
            <a:endParaRPr lang="en-US" dirty="0"/>
          </a:p>
        </p:txBody>
      </p:sp>
    </p:spTree>
    <p:extLst>
      <p:ext uri="{BB962C8B-B14F-4D97-AF65-F5344CB8AC3E}">
        <p14:creationId xmlns:p14="http://schemas.microsoft.com/office/powerpoint/2010/main" val="399742358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89C7E07-3C67-C64C-8DA0-0404F6303970}" type="slidenum">
              <a:rPr lang="en-US" smtClean="0"/>
              <a:t>23</a:t>
            </a:fld>
            <a:endParaRPr lang="en-US" dirty="0"/>
          </a:p>
        </p:txBody>
      </p:sp>
    </p:spTree>
    <p:extLst>
      <p:ext uri="{BB962C8B-B14F-4D97-AF65-F5344CB8AC3E}">
        <p14:creationId xmlns:p14="http://schemas.microsoft.com/office/powerpoint/2010/main" val="383345435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24</a:t>
            </a:fld>
            <a:endParaRPr lang="en-US" dirty="0"/>
          </a:p>
        </p:txBody>
      </p:sp>
    </p:spTree>
    <p:extLst>
      <p:ext uri="{BB962C8B-B14F-4D97-AF65-F5344CB8AC3E}">
        <p14:creationId xmlns:p14="http://schemas.microsoft.com/office/powerpoint/2010/main" val="176592317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25</a:t>
            </a:fld>
            <a:endParaRPr lang="en-US" dirty="0"/>
          </a:p>
        </p:txBody>
      </p:sp>
    </p:spTree>
    <p:extLst>
      <p:ext uri="{BB962C8B-B14F-4D97-AF65-F5344CB8AC3E}">
        <p14:creationId xmlns:p14="http://schemas.microsoft.com/office/powerpoint/2010/main" val="3909397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1">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a:off x="1" y="758752"/>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cxnSp>
        <p:nvCxnSpPr>
          <p:cNvPr id="13" name="Straight Connector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413275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806C6F65-35CD-D64B-992A-0C1C1E00384D}"/>
              </a:ext>
              <a:ext uri="{C183D7F6-B498-43B3-948B-1728B52AA6E4}">
                <adec:decorative xmlns:adec="http://schemas.microsoft.com/office/drawing/2017/decorative" val="1"/>
              </a:ext>
            </a:extLst>
          </p:cNvPr>
          <p:cNvGrpSpPr/>
          <p:nvPr userDrawn="1"/>
        </p:nvGrpSpPr>
        <p:grpSpPr>
          <a:xfrm>
            <a:off x="6362700" y="0"/>
            <a:ext cx="5829298" cy="3235602"/>
            <a:chOff x="5612972" y="1"/>
            <a:chExt cx="6615961" cy="3672246"/>
          </a:xfrm>
        </p:grpSpPr>
        <p:sp>
          <p:nvSpPr>
            <p:cNvPr id="7" name="AutoShape 24">
              <a:extLst>
                <a:ext uri="{FF2B5EF4-FFF2-40B4-BE49-F238E27FC236}">
                  <a16:creationId xmlns:a16="http://schemas.microsoft.com/office/drawing/2014/main" id="{CFD467E2-FF13-7E4F-BEF9-EA1A17665B2D}"/>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8" name="Freeform 7">
              <a:extLst>
                <a:ext uri="{FF2B5EF4-FFF2-40B4-BE49-F238E27FC236}">
                  <a16:creationId xmlns:a16="http://schemas.microsoft.com/office/drawing/2014/main" id="{CA85A327-3157-B442-993A-6900F71249AC}"/>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9" name="Freeform 8">
              <a:extLst>
                <a:ext uri="{FF2B5EF4-FFF2-40B4-BE49-F238E27FC236}">
                  <a16:creationId xmlns:a16="http://schemas.microsoft.com/office/drawing/2014/main" id="{9A459CB4-74AF-0544-AB1E-7CC6D10F84EB}"/>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0" name="Freeform 9">
              <a:extLst>
                <a:ext uri="{FF2B5EF4-FFF2-40B4-BE49-F238E27FC236}">
                  <a16:creationId xmlns:a16="http://schemas.microsoft.com/office/drawing/2014/main" id="{95A20BFD-9142-D64A-A78A-61B75FCA0D76}"/>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B80736DF-C890-DB47-AEAA-D3D92505E632}"/>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2" name="Title 1">
            <a:extLst>
              <a:ext uri="{FF2B5EF4-FFF2-40B4-BE49-F238E27FC236}">
                <a16:creationId xmlns:a16="http://schemas.microsoft.com/office/drawing/2014/main" id="{39F93F26-ED5C-E74E-BFBD-E3054DC1B9C1}"/>
              </a:ext>
            </a:extLst>
          </p:cNvPr>
          <p:cNvSpPr>
            <a:spLocks noGrp="1"/>
          </p:cNvSpPr>
          <p:nvPr>
            <p:ph type="title" hasCustomPrompt="1"/>
          </p:nvPr>
        </p:nvSpPr>
        <p:spPr>
          <a:xfrm>
            <a:off x="594360" y="189572"/>
            <a:ext cx="6787747" cy="1593507"/>
          </a:xfrm>
          <a:prstGeom prst="rect">
            <a:avLst/>
          </a:prstGeom>
        </p:spPr>
        <p:txBody>
          <a:bodyPr lIns="0" tIns="0" rIns="0" bIns="0" anchor="b" anchorCtr="0">
            <a:noAutofit/>
          </a:bodyPr>
          <a:lstStyle>
            <a:lvl1pPr>
              <a:defRPr sz="4400" b="1" i="0" spc="50" baseline="0">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186153BD-9D2B-47EB-3553-1D3F6663B2A3}"/>
              </a:ext>
            </a:extLst>
          </p:cNvPr>
          <p:cNvSpPr>
            <a:spLocks noGrp="1"/>
          </p:cNvSpPr>
          <p:nvPr>
            <p:ph sz="quarter" idx="13" hasCustomPrompt="1"/>
          </p:nvPr>
        </p:nvSpPr>
        <p:spPr>
          <a:xfrm>
            <a:off x="594359" y="2281918"/>
            <a:ext cx="6787747" cy="3708517"/>
          </a:xfrm>
        </p:spPr>
        <p:txBody>
          <a:bodyPr lIns="0" tIns="228600" rIns="0" bIns="0">
            <a:normAutofit/>
          </a:bodyPr>
          <a:lstStyle>
            <a:lvl1pPr marL="283464" indent="-283464">
              <a:lnSpc>
                <a:spcPct val="80000"/>
              </a:lnSpc>
              <a:spcBef>
                <a:spcPts val="2200"/>
              </a:spcBef>
              <a:buFont typeface="Arial" panose="020B0604020202020204" pitchFamily="34" charset="0"/>
              <a:buChar char="•"/>
              <a:defRPr lang="en-US" sz="2400" b="1" i="0" kern="1200" dirty="0">
                <a:solidFill>
                  <a:schemeClr val="tx2">
                    <a:lumMod val="75000"/>
                  </a:schemeClr>
                </a:solidFill>
                <a:latin typeface="+mn-lt"/>
                <a:ea typeface="+mn-ea"/>
                <a:cs typeface="+mn-cs"/>
              </a:defRPr>
            </a:lvl1pPr>
            <a:lvl2pPr indent="-283464">
              <a:spcBef>
                <a:spcPts val="6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3" name="Slide Number Placeholder 42">
            <a:extLst>
              <a:ext uri="{FF2B5EF4-FFF2-40B4-BE49-F238E27FC236}">
                <a16:creationId xmlns:a16="http://schemas.microsoft.com/office/drawing/2014/main" id="{D80CCC8F-9CF1-9621-04EB-DFA68FEE42D2}"/>
              </a:ext>
            </a:extLst>
          </p:cNvPr>
          <p:cNvSpPr>
            <a:spLocks noGrp="1"/>
          </p:cNvSpPr>
          <p:nvPr>
            <p:ph type="sldNum" sz="quarter" idx="26"/>
          </p:nvPr>
        </p:nvSpPr>
        <p:spPr/>
        <p:txBody>
          <a:bodyPr/>
          <a:lstStyle/>
          <a:p>
            <a:fld id="{294A09A9-5501-47C1-A89A-A340965A2BE2}" type="slidenum">
              <a:rPr lang="en-US" smtClean="0"/>
              <a:pPr/>
              <a:t>‹#›</a:t>
            </a:fld>
            <a:endParaRPr lang="en-US" dirty="0">
              <a:latin typeface="+mn-lt"/>
            </a:endParaRPr>
          </a:p>
        </p:txBody>
      </p:sp>
      <p:sp>
        <p:nvSpPr>
          <p:cNvPr id="42" name="Date Placeholder 41">
            <a:extLst>
              <a:ext uri="{FF2B5EF4-FFF2-40B4-BE49-F238E27FC236}">
                <a16:creationId xmlns:a16="http://schemas.microsoft.com/office/drawing/2014/main" id="{29CE2856-DB8F-5603-C085-74C70560FAC8}"/>
              </a:ext>
            </a:extLst>
          </p:cNvPr>
          <p:cNvSpPr>
            <a:spLocks noGrp="1"/>
          </p:cNvSpPr>
          <p:nvPr>
            <p:ph type="dt" sz="half" idx="25"/>
          </p:nvPr>
        </p:nvSpPr>
        <p:spPr/>
        <p:txBody>
          <a:bodyPr/>
          <a:lstStyle/>
          <a:p>
            <a:endParaRPr lang="en-US" dirty="0">
              <a:latin typeface="+mn-lt"/>
            </a:endParaRPr>
          </a:p>
        </p:txBody>
      </p:sp>
      <p:cxnSp>
        <p:nvCxnSpPr>
          <p:cNvPr id="4" name="Straight Connector 3">
            <a:extLst>
              <a:ext uri="{FF2B5EF4-FFF2-40B4-BE49-F238E27FC236}">
                <a16:creationId xmlns:a16="http://schemas.microsoft.com/office/drawing/2014/main" id="{979826C1-7A52-DA25-F422-EE62DED7D1B6}"/>
              </a:ext>
              <a:ext uri="{C183D7F6-B498-43B3-948B-1728B52AA6E4}">
                <adec:decorative xmlns:adec="http://schemas.microsoft.com/office/drawing/2017/decorative" val="1"/>
              </a:ext>
            </a:extLst>
          </p:cNvPr>
          <p:cNvCxnSpPr>
            <a:cxnSpLocks/>
          </p:cNvCxnSpPr>
          <p:nvPr userDrawn="1"/>
        </p:nvCxnSpPr>
        <p:spPr>
          <a:xfrm>
            <a:off x="594360" y="2148840"/>
            <a:ext cx="2130552" cy="0"/>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518089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accent3"/>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B79D0555-EBDC-B53A-212D-A5921795FEC8}"/>
              </a:ext>
            </a:extLst>
          </p:cNvPr>
          <p:cNvSpPr>
            <a:spLocks noGrp="1"/>
          </p:cNvSpPr>
          <p:nvPr>
            <p:ph type="pic" sz="quarter" idx="13"/>
          </p:nvPr>
        </p:nvSpPr>
        <p:spPr>
          <a:xfrm>
            <a:off x="0" y="0"/>
            <a:ext cx="12192000" cy="6880543"/>
          </a:xfrm>
          <a:custGeom>
            <a:avLst/>
            <a:gdLst>
              <a:gd name="connsiteX0" fmla="*/ 6309360 w 12192000"/>
              <a:gd name="connsiteY0" fmla="*/ 3951843 h 6880543"/>
              <a:gd name="connsiteX1" fmla="*/ 6309360 w 12192000"/>
              <a:gd name="connsiteY1" fmla="*/ 4052427 h 6880543"/>
              <a:gd name="connsiteX2" fmla="*/ 8442960 w 12192000"/>
              <a:gd name="connsiteY2" fmla="*/ 4052427 h 6880543"/>
              <a:gd name="connsiteX3" fmla="*/ 8442960 w 12192000"/>
              <a:gd name="connsiteY3" fmla="*/ 3951843 h 6880543"/>
              <a:gd name="connsiteX4" fmla="*/ 0 w 12192000"/>
              <a:gd name="connsiteY4" fmla="*/ 0 h 6880543"/>
              <a:gd name="connsiteX5" fmla="*/ 12192000 w 12192000"/>
              <a:gd name="connsiteY5" fmla="*/ 0 h 6880543"/>
              <a:gd name="connsiteX6" fmla="*/ 12192000 w 12192000"/>
              <a:gd name="connsiteY6" fmla="*/ 6880543 h 6880543"/>
              <a:gd name="connsiteX7" fmla="*/ 0 w 12192000"/>
              <a:gd name="connsiteY7" fmla="*/ 6880543 h 688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80543">
                <a:moveTo>
                  <a:pt x="6309360" y="3951843"/>
                </a:moveTo>
                <a:lnTo>
                  <a:pt x="6309360" y="4052427"/>
                </a:lnTo>
                <a:lnTo>
                  <a:pt x="8442960" y="4052427"/>
                </a:lnTo>
                <a:lnTo>
                  <a:pt x="8442960" y="3951843"/>
                </a:lnTo>
                <a:close/>
                <a:moveTo>
                  <a:pt x="0" y="0"/>
                </a:moveTo>
                <a:lnTo>
                  <a:pt x="12192000" y="0"/>
                </a:lnTo>
                <a:lnTo>
                  <a:pt x="12192000" y="6880543"/>
                </a:lnTo>
                <a:lnTo>
                  <a:pt x="0" y="6880543"/>
                </a:lnTo>
                <a:close/>
              </a:path>
            </a:pathLst>
          </a:custGeom>
        </p:spPr>
        <p:txBody>
          <a:bodyPr wrap="square" tIns="182880">
            <a:noAutofit/>
          </a:bodyPr>
          <a:lstStyle>
            <a:lvl1pPr marL="0" indent="0" algn="ctr">
              <a:buNone/>
              <a:defRPr sz="2000">
                <a:solidFill>
                  <a:schemeClr val="tx1"/>
                </a:solidFill>
              </a:defRPr>
            </a:lvl1pPr>
          </a:lstStyle>
          <a:p>
            <a:r>
              <a:rPr lang="en-US"/>
              <a:t>Click icon to add picture</a:t>
            </a:r>
            <a:endParaRPr lang="en-US" dirty="0"/>
          </a:p>
        </p:txBody>
      </p:sp>
      <p:sp>
        <p:nvSpPr>
          <p:cNvPr id="18" name="Title 1">
            <a:extLst>
              <a:ext uri="{FF2B5EF4-FFF2-40B4-BE49-F238E27FC236}">
                <a16:creationId xmlns:a16="http://schemas.microsoft.com/office/drawing/2014/main" id="{8D492973-78E3-D34E-835E-CF2D4517016D}"/>
              </a:ext>
            </a:extLst>
          </p:cNvPr>
          <p:cNvSpPr>
            <a:spLocks noGrp="1"/>
          </p:cNvSpPr>
          <p:nvPr>
            <p:ph type="title" hasCustomPrompt="1"/>
          </p:nvPr>
        </p:nvSpPr>
        <p:spPr>
          <a:xfrm>
            <a:off x="6309359" y="444933"/>
            <a:ext cx="5477479" cy="3291840"/>
          </a:xfrm>
          <a:prstGeom prst="rect">
            <a:avLst/>
          </a:prstGeom>
        </p:spPr>
        <p:txBody>
          <a:bodyPr lIns="0" tIns="0" rIns="0" bIns="0" anchor="b" anchorCtr="0">
            <a:noAutofit/>
          </a:bodyPr>
          <a:lstStyle>
            <a:lvl1pPr>
              <a:defRPr sz="6000" b="1" i="0" baseline="0">
                <a:solidFill>
                  <a:schemeClr val="tx1"/>
                </a:solidFill>
                <a:latin typeface="+mj-lt"/>
              </a:defRPr>
            </a:lvl1pPr>
          </a:lstStyle>
          <a:p>
            <a:r>
              <a:rPr lang="en-US" dirty="0"/>
              <a:t>Click to add title </a:t>
            </a:r>
          </a:p>
        </p:txBody>
      </p:sp>
      <p:sp>
        <p:nvSpPr>
          <p:cNvPr id="7" name="Rectangle 6">
            <a:extLst>
              <a:ext uri="{FF2B5EF4-FFF2-40B4-BE49-F238E27FC236}">
                <a16:creationId xmlns:a16="http://schemas.microsoft.com/office/drawing/2014/main" id="{D96BA398-1ED2-1FCA-63B9-8915A8C7A524}"/>
              </a:ext>
              <a:ext uri="{C183D7F6-B498-43B3-948B-1728B52AA6E4}">
                <adec:decorative xmlns:adec="http://schemas.microsoft.com/office/drawing/2017/decorative" val="1"/>
              </a:ext>
            </a:extLst>
          </p:cNvPr>
          <p:cNvSpPr/>
          <p:nvPr userDrawn="1"/>
        </p:nvSpPr>
        <p:spPr>
          <a:xfrm>
            <a:off x="6309360" y="3951843"/>
            <a:ext cx="2133600" cy="10058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729169562"/>
      </p:ext>
    </p:extLst>
  </p:cSld>
  <p:clrMapOvr>
    <a:masterClrMapping/>
  </p:clrMapOvr>
  <p:extLst>
    <p:ext uri="{DCECCB84-F9BA-43D5-87BE-67443E8EF086}">
      <p15:sldGuideLst xmlns:p15="http://schemas.microsoft.com/office/powerpoint/2012/main">
        <p15:guide id="2" pos="7104">
          <p15:clr>
            <a:srgbClr val="FBAE40"/>
          </p15:clr>
        </p15:guide>
        <p15:guide id="3" pos="4344" userDrawn="1">
          <p15:clr>
            <a:srgbClr val="FBAE40"/>
          </p15:clr>
        </p15:guide>
        <p15:guide id="4" pos="4560" userDrawn="1">
          <p15:clr>
            <a:srgbClr val="FBAE40"/>
          </p15:clr>
        </p15:guide>
        <p15:guide id="8" orient="horz" pos="184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2">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299835" y="43052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sp>
        <p:nvSpPr>
          <p:cNvPr id="6" name="Picture Placeholder 5">
            <a:extLst>
              <a:ext uri="{FF2B5EF4-FFF2-40B4-BE49-F238E27FC236}">
                <a16:creationId xmlns:a16="http://schemas.microsoft.com/office/drawing/2014/main" id="{A9973BC6-F6E5-0B3B-C8AB-0AC4020D4E8B}"/>
              </a:ext>
            </a:extLst>
          </p:cNvPr>
          <p:cNvSpPr>
            <a:spLocks noGrp="1"/>
          </p:cNvSpPr>
          <p:nvPr>
            <p:ph type="pic" sz="quarter" idx="12"/>
          </p:nvPr>
        </p:nvSpPr>
        <p:spPr>
          <a:xfrm>
            <a:off x="0" y="-11113"/>
            <a:ext cx="5791200" cy="6880226"/>
          </a:xfrm>
        </p:spPr>
        <p:txBody>
          <a:bodyPr>
            <a:normAutofit/>
          </a:bodyPr>
          <a:lstStyle>
            <a:lvl1pPr marL="0" indent="0" algn="ctr">
              <a:buNone/>
              <a:defRPr sz="2000"/>
            </a:lvl1pPr>
          </a:lstStyle>
          <a:p>
            <a:r>
              <a:rPr lang="en-US"/>
              <a:t>Click icon to add picture</a:t>
            </a:r>
            <a:endParaRPr lang="en-US" dirty="0"/>
          </a:p>
        </p:txBody>
      </p: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299835" y="456860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cxnSp>
        <p:nvCxnSpPr>
          <p:cNvPr id="7" name="Straight Connector 6">
            <a:extLst>
              <a:ext uri="{FF2B5EF4-FFF2-40B4-BE49-F238E27FC236}">
                <a16:creationId xmlns:a16="http://schemas.microsoft.com/office/drawing/2014/main" id="{29169ED6-4B82-6844-119F-AC15CDF2D3E5}"/>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9879140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ummary 2">
    <p:bg>
      <p:bgPr>
        <a:solidFill>
          <a:schemeClr val="tx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C57F1500-1A16-D1EF-4F0C-030852B291FC}"/>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grpSp>
        <p:nvGrpSpPr>
          <p:cNvPr id="10" name="Group 9">
            <a:extLst>
              <a:ext uri="{FF2B5EF4-FFF2-40B4-BE49-F238E27FC236}">
                <a16:creationId xmlns:a16="http://schemas.microsoft.com/office/drawing/2014/main" id="{2D07A0BE-3890-193E-9439-F294E61A71B9}"/>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11" name="Freeform 19">
              <a:extLst>
                <a:ext uri="{FF2B5EF4-FFF2-40B4-BE49-F238E27FC236}">
                  <a16:creationId xmlns:a16="http://schemas.microsoft.com/office/drawing/2014/main" id="{C05217ED-C258-E6CE-BA7F-28A6EA41BCD3}"/>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20">
              <a:extLst>
                <a:ext uri="{FF2B5EF4-FFF2-40B4-BE49-F238E27FC236}">
                  <a16:creationId xmlns:a16="http://schemas.microsoft.com/office/drawing/2014/main" id="{F3E11A1F-14DD-BA35-D7D7-4D4ADEAA348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21">
              <a:extLst>
                <a:ext uri="{FF2B5EF4-FFF2-40B4-BE49-F238E27FC236}">
                  <a16:creationId xmlns:a16="http://schemas.microsoft.com/office/drawing/2014/main" id="{F14541B0-973F-7E21-1019-D2FB83C8C0D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32" name="Title 1">
            <a:extLst>
              <a:ext uri="{FF2B5EF4-FFF2-40B4-BE49-F238E27FC236}">
                <a16:creationId xmlns:a16="http://schemas.microsoft.com/office/drawing/2014/main" id="{467E05B6-B7CB-1E4F-96BA-4B8CFE8B63D9}"/>
              </a:ext>
            </a:extLst>
          </p:cNvPr>
          <p:cNvSpPr>
            <a:spLocks noGrp="1"/>
          </p:cNvSpPr>
          <p:nvPr>
            <p:ph type="title" hasCustomPrompt="1"/>
          </p:nvPr>
        </p:nvSpPr>
        <p:spPr>
          <a:xfrm>
            <a:off x="594360" y="102875"/>
            <a:ext cx="10873740" cy="1680205"/>
          </a:xfrm>
          <a:prstGeom prst="rect">
            <a:avLst/>
          </a:prstGeom>
        </p:spPr>
        <p:txBody>
          <a:bodyPr lIns="0" tIns="0" rIns="0" bIns="0" anchor="b" anchorCtr="0">
            <a:noAutofit/>
          </a:bodyPr>
          <a:lstStyle>
            <a:lvl1pPr>
              <a:defRPr sz="4400" b="1" i="0">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F6FE0DC0-B0D7-F4D6-8038-177AD7A8C211}"/>
              </a:ext>
            </a:extLst>
          </p:cNvPr>
          <p:cNvSpPr>
            <a:spLocks noGrp="1"/>
          </p:cNvSpPr>
          <p:nvPr>
            <p:ph sz="quarter" idx="13" hasCustomPrompt="1"/>
          </p:nvPr>
        </p:nvSpPr>
        <p:spPr>
          <a:xfrm>
            <a:off x="3657600" y="2282008"/>
            <a:ext cx="7810500" cy="3699328"/>
          </a:xfrm>
        </p:spPr>
        <p:txBody>
          <a:bodyPr lIns="0" tIns="228600" rIns="0" bIns="0">
            <a:normAutofit/>
          </a:bodyPr>
          <a:lstStyle>
            <a:lvl1pPr marL="283464" indent="-283464">
              <a:spcBef>
                <a:spcPts val="1800"/>
              </a:spcBef>
              <a:buFont typeface="Arial" panose="020B0604020202020204" pitchFamily="34" charset="0"/>
              <a:buChar char="•"/>
              <a:defRPr sz="2000"/>
            </a:lvl1pPr>
            <a:lvl2pPr indent="-283464">
              <a:spcBef>
                <a:spcPts val="18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7">
            <a:extLst>
              <a:ext uri="{FF2B5EF4-FFF2-40B4-BE49-F238E27FC236}">
                <a16:creationId xmlns:a16="http://schemas.microsoft.com/office/drawing/2014/main" id="{7ED58739-4346-5104-B1AC-89ED035912AF}"/>
              </a:ext>
            </a:extLst>
          </p:cNvPr>
          <p:cNvSpPr>
            <a:spLocks noGrp="1"/>
          </p:cNvSpPr>
          <p:nvPr>
            <p:ph type="sldNum" sz="quarter" idx="22"/>
          </p:nvPr>
        </p:nvSpPr>
        <p:spPr/>
        <p:txBody>
          <a:bodyPr/>
          <a:lstStyle/>
          <a:p>
            <a:fld id="{294A09A9-5501-47C1-A89A-A340965A2BE2}" type="slidenum">
              <a:rPr lang="en-US" smtClean="0"/>
              <a:pPr/>
              <a:t>‹#›</a:t>
            </a:fld>
            <a:endParaRPr lang="en-US" dirty="0">
              <a:latin typeface="+mn-lt"/>
            </a:endParaRPr>
          </a:p>
        </p:txBody>
      </p:sp>
      <p:sp>
        <p:nvSpPr>
          <p:cNvPr id="5" name="Date Placeholder 4">
            <a:extLst>
              <a:ext uri="{FF2B5EF4-FFF2-40B4-BE49-F238E27FC236}">
                <a16:creationId xmlns:a16="http://schemas.microsoft.com/office/drawing/2014/main" id="{E9272B8D-F380-9F1A-C8E6-BDD2352B1763}"/>
              </a:ext>
            </a:extLst>
          </p:cNvPr>
          <p:cNvSpPr>
            <a:spLocks noGrp="1"/>
          </p:cNvSpPr>
          <p:nvPr>
            <p:ph type="dt" sz="half" idx="21"/>
          </p:nvPr>
        </p:nvSpPr>
        <p:spPr/>
        <p:txBody>
          <a:bodyPr/>
          <a:lstStyle/>
          <a:p>
            <a:endParaRPr lang="en-US" dirty="0">
              <a:latin typeface="+mn-lt"/>
            </a:endParaRPr>
          </a:p>
        </p:txBody>
      </p:sp>
    </p:spTree>
    <p:extLst>
      <p:ext uri="{BB962C8B-B14F-4D97-AF65-F5344CB8AC3E}">
        <p14:creationId xmlns:p14="http://schemas.microsoft.com/office/powerpoint/2010/main" val="140296414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a:off x="1" y="758752"/>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cxnSp>
        <p:nvCxnSpPr>
          <p:cNvPr id="13" name="Straight Connector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309905" y="454955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spTree>
    <p:extLst>
      <p:ext uri="{BB962C8B-B14F-4D97-AF65-F5344CB8AC3E}">
        <p14:creationId xmlns:p14="http://schemas.microsoft.com/office/powerpoint/2010/main" val="20271085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2">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2" name="Freeform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78129"/>
            <a:ext cx="9778365" cy="1494596"/>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F14DA3C5-63E4-BAFB-1D68-47F71EEEE538}"/>
              </a:ext>
            </a:extLst>
          </p:cNvPr>
          <p:cNvSpPr>
            <a:spLocks noGrp="1"/>
          </p:cNvSpPr>
          <p:nvPr>
            <p:ph sz="quarter" idx="15" hasCustomPrompt="1"/>
          </p:nvPr>
        </p:nvSpPr>
        <p:spPr>
          <a:xfrm>
            <a:off x="594360" y="2676525"/>
            <a:ext cx="4490827" cy="3597470"/>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9436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5">
            <a:extLst>
              <a:ext uri="{FF2B5EF4-FFF2-40B4-BE49-F238E27FC236}">
                <a16:creationId xmlns:a16="http://schemas.microsoft.com/office/drawing/2014/main" id="{BD11386D-847E-8CF5-E56A-42E80A65A089}"/>
              </a:ext>
            </a:extLst>
          </p:cNvPr>
          <p:cNvSpPr>
            <a:spLocks noGrp="1"/>
          </p:cNvSpPr>
          <p:nvPr>
            <p:ph sz="quarter" idx="16" hasCustomPrompt="1"/>
          </p:nvPr>
        </p:nvSpPr>
        <p:spPr>
          <a:xfrm>
            <a:off x="5881898" y="2676525"/>
            <a:ext cx="4490827" cy="3597470"/>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4864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41056953"/>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42E558A9-6DD6-E21D-3A8F-6707E1DD19F1}"/>
              </a:ext>
              <a:ext uri="{C183D7F6-B498-43B3-948B-1728B52AA6E4}">
                <adec:decorative xmlns:adec="http://schemas.microsoft.com/office/drawing/2017/decorative" val="1"/>
              </a:ext>
            </a:extLst>
          </p:cNvPr>
          <p:cNvGrpSpPr/>
          <p:nvPr userDrawn="1"/>
        </p:nvGrpSpPr>
        <p:grpSpPr>
          <a:xfrm>
            <a:off x="6362700" y="0"/>
            <a:ext cx="5829298" cy="3235602"/>
            <a:chOff x="5612972" y="1"/>
            <a:chExt cx="6615961" cy="3672246"/>
          </a:xfrm>
        </p:grpSpPr>
        <p:sp>
          <p:nvSpPr>
            <p:cNvPr id="12" name="AutoShape 24">
              <a:extLst>
                <a:ext uri="{FF2B5EF4-FFF2-40B4-BE49-F238E27FC236}">
                  <a16:creationId xmlns:a16="http://schemas.microsoft.com/office/drawing/2014/main" id="{3FC994E4-318C-1E66-B4E4-8F8FD08E098F}"/>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7">
              <a:extLst>
                <a:ext uri="{FF2B5EF4-FFF2-40B4-BE49-F238E27FC236}">
                  <a16:creationId xmlns:a16="http://schemas.microsoft.com/office/drawing/2014/main" id="{17C00E6B-F625-6D6C-8364-9DD9F3C3628F}"/>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8">
              <a:extLst>
                <a:ext uri="{FF2B5EF4-FFF2-40B4-BE49-F238E27FC236}">
                  <a16:creationId xmlns:a16="http://schemas.microsoft.com/office/drawing/2014/main" id="{C6197B87-4F65-7981-9463-84830CD3687F}"/>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8" name="Freeform 9">
              <a:extLst>
                <a:ext uri="{FF2B5EF4-FFF2-40B4-BE49-F238E27FC236}">
                  <a16:creationId xmlns:a16="http://schemas.microsoft.com/office/drawing/2014/main" id="{86AA517C-7217-D864-B7E7-40984A2880DB}"/>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dirty="0"/>
            </a:p>
          </p:txBody>
        </p:sp>
        <p:sp>
          <p:nvSpPr>
            <p:cNvPr id="19" name="Freeform 10">
              <a:extLst>
                <a:ext uri="{FF2B5EF4-FFF2-40B4-BE49-F238E27FC236}">
                  <a16:creationId xmlns:a16="http://schemas.microsoft.com/office/drawing/2014/main" id="{524013C6-491C-CAA2-5BD6-7C73596711CC}"/>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6318885" y="3499667"/>
            <a:ext cx="4939666" cy="2542810"/>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6347460" y="631317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03885" y="457201"/>
            <a:ext cx="5198269" cy="2305050"/>
          </a:xfrm>
        </p:spPr>
        <p:txBody>
          <a:bodyPr lIns="0" tIns="274320">
            <a:normAutofit/>
          </a:bodyPr>
          <a:lstStyle>
            <a:lvl1pPr marL="457200" indent="-457200">
              <a:spcBef>
                <a:spcPts val="1800"/>
              </a:spcBef>
              <a:buFont typeface="+mj-lt"/>
              <a:buAutoNum type="arabicPeriod"/>
              <a:defRPr sz="2000"/>
            </a:lvl1pPr>
            <a:lvl2pPr marL="914400" indent="-457200">
              <a:spcBef>
                <a:spcPts val="1800"/>
              </a:spcBef>
              <a:buFont typeface="+mj-lt"/>
              <a:buAutoNum type="alphaLcPeriod"/>
              <a:defRPr sz="2000"/>
            </a:lvl2pPr>
            <a:lvl3pPr marL="1371600" indent="-457200">
              <a:spcBef>
                <a:spcPts val="1800"/>
              </a:spcBef>
              <a:buFont typeface="+mj-lt"/>
              <a:buAutoNum type="arabicParenR"/>
              <a:defRPr sz="2000"/>
            </a:lvl3pPr>
            <a:lvl4pPr marL="1371600" indent="0">
              <a:spcBef>
                <a:spcPts val="1800"/>
              </a:spcBef>
              <a:buFont typeface="+mj-lt"/>
              <a:buNone/>
              <a:defRPr sz="2000"/>
            </a:lvl4pPr>
            <a:lvl5pPr marL="2286000" indent="-457200">
              <a:spcBef>
                <a:spcPts val="1800"/>
              </a:spcBef>
              <a:buFont typeface="+mj-lt"/>
              <a:buAutoNum type="arabicPeriod"/>
              <a:defRPr sz="2000"/>
            </a:lvl5pPr>
          </a:lstStyle>
          <a:p>
            <a:pPr lvl="0"/>
            <a:r>
              <a:rPr lang="en-US" dirty="0"/>
              <a:t>Click to add content</a:t>
            </a:r>
          </a:p>
          <a:p>
            <a:pPr lvl="1"/>
            <a:r>
              <a:rPr lang="en-US" dirty="0"/>
              <a:t>Second level</a:t>
            </a:r>
          </a:p>
          <a:p>
            <a:pPr lvl="2"/>
            <a:r>
              <a:rPr lang="en-US" dirty="0"/>
              <a:t>Third level</a:t>
            </a:r>
          </a:p>
          <a:p>
            <a:pPr lvl="3"/>
            <a:endParaRPr lang="en-US" dirty="0"/>
          </a:p>
        </p:txBody>
      </p:sp>
      <p:sp>
        <p:nvSpPr>
          <p:cNvPr id="2" name="Content Placeholder 5">
            <a:extLst>
              <a:ext uri="{FF2B5EF4-FFF2-40B4-BE49-F238E27FC236}">
                <a16:creationId xmlns:a16="http://schemas.microsoft.com/office/drawing/2014/main" id="{3AC171DA-232D-44C1-6B93-40BACB298F4B}"/>
              </a:ext>
            </a:extLst>
          </p:cNvPr>
          <p:cNvSpPr>
            <a:spLocks noGrp="1"/>
          </p:cNvSpPr>
          <p:nvPr>
            <p:ph sz="quarter" idx="15" hasCustomPrompt="1"/>
          </p:nvPr>
        </p:nvSpPr>
        <p:spPr>
          <a:xfrm>
            <a:off x="594360" y="2810595"/>
            <a:ext cx="5198269" cy="3319513"/>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4864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Tree>
    <p:extLst>
      <p:ext uri="{BB962C8B-B14F-4D97-AF65-F5344CB8AC3E}">
        <p14:creationId xmlns:p14="http://schemas.microsoft.com/office/powerpoint/2010/main" val="554606805"/>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Content and Picture">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75310" y="278129"/>
            <a:ext cx="5063490" cy="2354026"/>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3" name="Content Placeholder 5">
            <a:extLst>
              <a:ext uri="{FF2B5EF4-FFF2-40B4-BE49-F238E27FC236}">
                <a16:creationId xmlns:a16="http://schemas.microsoft.com/office/drawing/2014/main" id="{1EF4505D-6803-3813-7738-049963427819}"/>
              </a:ext>
            </a:extLst>
          </p:cNvPr>
          <p:cNvSpPr>
            <a:spLocks noGrp="1"/>
          </p:cNvSpPr>
          <p:nvPr>
            <p:ph sz="quarter" idx="16" hasCustomPrompt="1"/>
          </p:nvPr>
        </p:nvSpPr>
        <p:spPr>
          <a:xfrm>
            <a:off x="594360" y="3279579"/>
            <a:ext cx="5044440" cy="2994415"/>
          </a:xfrm>
        </p:spPr>
        <p:txBody>
          <a:bodyPr lIns="0" tIns="228600" rIns="0" bIns="0">
            <a:normAutofit/>
          </a:bodyPr>
          <a:lstStyle>
            <a:lvl1pPr marL="0" indent="0">
              <a:spcBef>
                <a:spcPts val="1800"/>
              </a:spcBef>
              <a:buFont typeface="Arial" panose="020B0604020202020204" pitchFamily="34" charset="0"/>
              <a:buNone/>
              <a:defRPr sz="2000"/>
            </a:lvl1pPr>
            <a:lvl2pPr indent="-283464">
              <a:spcBef>
                <a:spcPts val="18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997459"/>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2" name="Picture Placeholder 11">
            <a:extLst>
              <a:ext uri="{FF2B5EF4-FFF2-40B4-BE49-F238E27FC236}">
                <a16:creationId xmlns:a16="http://schemas.microsoft.com/office/drawing/2014/main" id="{4658637A-5D36-6127-19BC-C203E23FA49F}"/>
              </a:ext>
            </a:extLst>
          </p:cNvPr>
          <p:cNvSpPr>
            <a:spLocks noGrp="1"/>
          </p:cNvSpPr>
          <p:nvPr>
            <p:ph type="pic" sz="quarter" idx="15"/>
          </p:nvPr>
        </p:nvSpPr>
        <p:spPr>
          <a:xfrm>
            <a:off x="6096000" y="0"/>
            <a:ext cx="6118225" cy="6858000"/>
          </a:xfrm>
        </p:spPr>
        <p:txBody>
          <a:bodyPr>
            <a:normAutofit/>
          </a:bodyPr>
          <a:lstStyle>
            <a:lvl1pPr marL="0" indent="0" algn="ctr">
              <a:buNone/>
              <a:defRPr sz="2000">
                <a:solidFill>
                  <a:schemeClr val="bg1"/>
                </a:solidFill>
              </a:defRPr>
            </a:lvl1pPr>
          </a:lstStyle>
          <a:p>
            <a:r>
              <a:rPr lang="en-US"/>
              <a:t>Click icon to add picture</a:t>
            </a:r>
            <a:endParaRPr lang="en-US" dirty="0"/>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Tree>
    <p:extLst>
      <p:ext uri="{BB962C8B-B14F-4D97-AF65-F5344CB8AC3E}">
        <p14:creationId xmlns:p14="http://schemas.microsoft.com/office/powerpoint/2010/main" val="1429319764"/>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Content and Table">
    <p:bg>
      <p:bgPr>
        <a:solidFill>
          <a:schemeClr val="tx1"/>
        </a:solidFill>
        <a:effectLst/>
      </p:bgPr>
    </p:bg>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CF555767-B3D8-BD57-1D42-7F6E1E66892B}"/>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9" name="Freeform 13">
              <a:extLst>
                <a:ext uri="{FF2B5EF4-FFF2-40B4-BE49-F238E27FC236}">
                  <a16:creationId xmlns:a16="http://schemas.microsoft.com/office/drawing/2014/main" id="{BC972B6D-098C-52F6-E990-52623B368FB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5" name="Freeform 14">
              <a:extLst>
                <a:ext uri="{FF2B5EF4-FFF2-40B4-BE49-F238E27FC236}">
                  <a16:creationId xmlns:a16="http://schemas.microsoft.com/office/drawing/2014/main" id="{3F0D3EE3-9A8C-531D-1EEE-1AFAB9F3BCAE}"/>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7" name="Freeform 15">
              <a:extLst>
                <a:ext uri="{FF2B5EF4-FFF2-40B4-BE49-F238E27FC236}">
                  <a16:creationId xmlns:a16="http://schemas.microsoft.com/office/drawing/2014/main" id="{A2BE192C-1768-890B-EC1B-5ED6E1F8259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3661409" y="4661717"/>
            <a:ext cx="7936230" cy="1380760"/>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3670935" y="631317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03885" y="584005"/>
            <a:ext cx="2825115" cy="3999060"/>
          </a:xfrm>
        </p:spPr>
        <p:txBody>
          <a:bodyPr lIns="0" tIns="274320">
            <a:normAutofit/>
          </a:bodyPr>
          <a:lstStyle>
            <a:lvl1pPr marL="0" indent="0">
              <a:spcBef>
                <a:spcPts val="1800"/>
              </a:spcBef>
              <a:buFont typeface="Arial" panose="020B0604020202020204" pitchFamily="34" charset="0"/>
              <a:buNone/>
              <a:defRPr sz="2000"/>
            </a:lvl1pPr>
            <a:lvl2pPr marL="457200" indent="0">
              <a:spcBef>
                <a:spcPts val="1800"/>
              </a:spcBef>
              <a:buNone/>
              <a:defRPr sz="2000"/>
            </a:lvl2pPr>
            <a:lvl3pPr marL="914400" indent="0">
              <a:spcBef>
                <a:spcPts val="1800"/>
              </a:spcBef>
              <a:buNone/>
              <a:defRPr sz="2000"/>
            </a:lvl3pPr>
            <a:lvl4pPr marL="1371600" indent="0">
              <a:spcBef>
                <a:spcPts val="1800"/>
              </a:spcBef>
              <a:buNone/>
              <a:defRPr sz="2000"/>
            </a:lvl4pPr>
            <a:lvl5pPr marL="1828800" indent="0">
              <a:spcBef>
                <a:spcPts val="1800"/>
              </a:spcBef>
              <a:buNone/>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3670934" y="584005"/>
            <a:ext cx="7926705" cy="3999060"/>
          </a:xfrm>
        </p:spPr>
        <p:txBody>
          <a:bodyPr lIns="0">
            <a:normAutofit/>
          </a:bodyPr>
          <a:lstStyle>
            <a:lvl1pPr marL="0" indent="0">
              <a:spcBef>
                <a:spcPts val="1800"/>
              </a:spcBef>
              <a:buNone/>
              <a:defRPr sz="2000"/>
            </a:lvl1pPr>
            <a:lvl2pPr>
              <a:spcBef>
                <a:spcPts val="6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Tree>
    <p:extLst>
      <p:ext uri="{BB962C8B-B14F-4D97-AF65-F5344CB8AC3E}">
        <p14:creationId xmlns:p14="http://schemas.microsoft.com/office/powerpoint/2010/main" val="2244329111"/>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2" name="Freeform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198408"/>
            <a:ext cx="10972800" cy="1574317"/>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6" name="Content Placeholder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595523" y="2676525"/>
            <a:ext cx="5746750" cy="3597470"/>
          </a:xfrm>
        </p:spPr>
        <p:txBody>
          <a:bodyPr lIns="0">
            <a:normAutofit/>
          </a:bodyPr>
          <a:lstStyle>
            <a:lvl1pPr marL="0" indent="0">
              <a:spcBef>
                <a:spcPts val="1800"/>
              </a:spcBef>
              <a:buNone/>
              <a:defRPr sz="2000"/>
            </a:lvl1pPr>
            <a:lvl2pPr>
              <a:spcBef>
                <a:spcPts val="6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7620000" y="2676525"/>
            <a:ext cx="3947160" cy="3597470"/>
          </a:xfrm>
        </p:spPr>
        <p:txBody>
          <a:bodyPr lIns="0">
            <a:normAutofit/>
          </a:bodyPr>
          <a:lstStyle>
            <a:lvl1pPr marL="342900" indent="-342900">
              <a:spcBef>
                <a:spcPts val="1800"/>
              </a:spcBef>
              <a:buFont typeface="Arial" panose="020B0604020202020204" pitchFamily="34" charset="0"/>
              <a:buChar char="•"/>
              <a:defRPr sz="2000"/>
            </a:lvl1pPr>
            <a:lvl2pPr>
              <a:spcBef>
                <a:spcPts val="18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Tree>
    <p:extLst>
      <p:ext uri="{BB962C8B-B14F-4D97-AF65-F5344CB8AC3E}">
        <p14:creationId xmlns:p14="http://schemas.microsoft.com/office/powerpoint/2010/main" val="649744719"/>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2">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02400"/>
            <a:ext cx="10972800" cy="1570325"/>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9" name="Table Placeholder 2">
            <a:extLst>
              <a:ext uri="{FF2B5EF4-FFF2-40B4-BE49-F238E27FC236}">
                <a16:creationId xmlns:a16="http://schemas.microsoft.com/office/drawing/2014/main" id="{1506B022-475A-6647-98FF-D5C319A0C7C4}"/>
              </a:ext>
            </a:extLst>
          </p:cNvPr>
          <p:cNvSpPr>
            <a:spLocks noGrp="1"/>
          </p:cNvSpPr>
          <p:nvPr>
            <p:ph type="tbl" sz="quarter" idx="10"/>
          </p:nvPr>
        </p:nvSpPr>
        <p:spPr>
          <a:xfrm>
            <a:off x="594360" y="2628629"/>
            <a:ext cx="10972800" cy="3636740"/>
          </a:xfrm>
        </p:spPr>
        <p:txBody>
          <a:bodyPr>
            <a:noAutofit/>
          </a:bodyPr>
          <a:lstStyle>
            <a:lvl1pPr>
              <a:defRPr/>
            </a:lvl1pPr>
          </a:lstStyle>
          <a:p>
            <a:r>
              <a:rPr lang="en-US"/>
              <a:t>Click icon to add table</a:t>
            </a:r>
            <a:endParaRPr lang="en-US" dirty="0"/>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0410957"/>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594360"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flipH="1" flipV="1">
            <a:off x="6092752" y="0"/>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594360" y="454955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cxnSp>
        <p:nvCxnSpPr>
          <p:cNvPr id="4" name="Straight Connector 3">
            <a:extLst>
              <a:ext uri="{FF2B5EF4-FFF2-40B4-BE49-F238E27FC236}">
                <a16:creationId xmlns:a16="http://schemas.microsoft.com/office/drawing/2014/main" id="{58B149C6-5AAC-B8E5-5411-EA38821F6754}"/>
              </a:ext>
              <a:ext uri="{C183D7F6-B498-43B3-948B-1728B52AA6E4}">
                <adec:decorative xmlns:adec="http://schemas.microsoft.com/office/drawing/2017/decorative" val="1"/>
              </a:ext>
            </a:extLst>
          </p:cNvPr>
          <p:cNvCxnSpPr>
            <a:cxnSpLocks/>
          </p:cNvCxnSpPr>
          <p:nvPr userDrawn="1"/>
        </p:nvCxnSpPr>
        <p:spPr>
          <a:xfrm>
            <a:off x="594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692738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EED84C6-50E6-6C43-8031-AFF6268E0C06}"/>
              </a:ext>
            </a:extLst>
          </p:cNvPr>
          <p:cNvSpPr>
            <a:spLocks noGrp="1"/>
          </p:cNvSpPr>
          <p:nvPr>
            <p:ph type="body" idx="1"/>
          </p:nvPr>
        </p:nvSpPr>
        <p:spPr>
          <a:xfrm>
            <a:off x="594360" y="1825625"/>
            <a:ext cx="1038225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itle Placeholder 11">
            <a:extLst>
              <a:ext uri="{FF2B5EF4-FFF2-40B4-BE49-F238E27FC236}">
                <a16:creationId xmlns:a16="http://schemas.microsoft.com/office/drawing/2014/main" id="{D41FC0AE-253D-D242-9C88-017078F8A23A}"/>
              </a:ext>
            </a:extLst>
          </p:cNvPr>
          <p:cNvSpPr>
            <a:spLocks noGrp="1"/>
          </p:cNvSpPr>
          <p:nvPr>
            <p:ph type="title"/>
          </p:nvPr>
        </p:nvSpPr>
        <p:spPr>
          <a:xfrm>
            <a:off x="594360" y="365125"/>
            <a:ext cx="104013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0" name="Date Placeholder 3">
            <a:extLst>
              <a:ext uri="{FF2B5EF4-FFF2-40B4-BE49-F238E27FC236}">
                <a16:creationId xmlns:a16="http://schemas.microsoft.com/office/drawing/2014/main" id="{EF47083A-6D76-4B4D-87CA-E08E212F781D}"/>
              </a:ext>
            </a:extLst>
          </p:cNvPr>
          <p:cNvSpPr>
            <a:spLocks noGrp="1"/>
          </p:cNvSpPr>
          <p:nvPr>
            <p:ph type="dt" sz="half" idx="2"/>
          </p:nvPr>
        </p:nvSpPr>
        <p:spPr>
          <a:xfrm>
            <a:off x="1133648" y="6332220"/>
            <a:ext cx="1313180" cy="247651"/>
          </a:xfrm>
          <a:prstGeom prst="rect">
            <a:avLst/>
          </a:prstGeom>
        </p:spPr>
        <p:txBody>
          <a:bodyPr vert="horz" lIns="0" tIns="0" rIns="0" bIns="0" rtlCol="0" anchor="t" anchorCtr="0"/>
          <a:lstStyle>
            <a:lvl1pPr algn="l">
              <a:defRPr sz="1100" b="0" i="0">
                <a:solidFill>
                  <a:schemeClr val="bg1"/>
                </a:solidFill>
                <a:latin typeface="+mn-lt"/>
              </a:defRPr>
            </a:lvl1pPr>
          </a:lstStyle>
          <a:p>
            <a:endParaRPr lang="en-US" dirty="0">
              <a:latin typeface="+mn-lt"/>
            </a:endParaRPr>
          </a:p>
        </p:txBody>
      </p:sp>
      <p:sp>
        <p:nvSpPr>
          <p:cNvPr id="32" name="Slide Number Placeholder 5">
            <a:extLst>
              <a:ext uri="{FF2B5EF4-FFF2-40B4-BE49-F238E27FC236}">
                <a16:creationId xmlns:a16="http://schemas.microsoft.com/office/drawing/2014/main" id="{C8ADA0DF-3751-9A48-8A21-59F01C782D7C}"/>
              </a:ext>
            </a:extLst>
          </p:cNvPr>
          <p:cNvSpPr>
            <a:spLocks noGrp="1"/>
          </p:cNvSpPr>
          <p:nvPr>
            <p:ph type="sldNum" sz="quarter" idx="4"/>
          </p:nvPr>
        </p:nvSpPr>
        <p:spPr>
          <a:xfrm>
            <a:off x="594360" y="6332220"/>
            <a:ext cx="523240" cy="247651"/>
          </a:xfrm>
          <a:prstGeom prst="rect">
            <a:avLst/>
          </a:prstGeom>
        </p:spPr>
        <p:txBody>
          <a:bodyPr vert="horz" lIns="0" tIns="0" rIns="0" bIns="0" rtlCol="0" anchor="t" anchorCtr="0"/>
          <a:lstStyle>
            <a:lvl1pPr algn="l">
              <a:defRPr sz="1100" b="1" i="0">
                <a:solidFill>
                  <a:schemeClr val="bg1"/>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515892240"/>
      </p:ext>
    </p:extLst>
  </p:cSld>
  <p:clrMap bg1="dk1" tx1="lt1" bg2="dk2" tx2="lt2" accent1="accent1" accent2="accent2" accent3="accent3" accent4="accent4" accent5="accent5" accent6="accent6" hlink="hlink" folHlink="folHlink"/>
  <p:sldLayoutIdLst>
    <p:sldLayoutId id="2147483711" r:id="rId1"/>
    <p:sldLayoutId id="2147483698" r:id="rId2"/>
    <p:sldLayoutId id="2147483710" r:id="rId3"/>
    <p:sldLayoutId id="2147483700" r:id="rId4"/>
    <p:sldLayoutId id="2147483701" r:id="rId5"/>
    <p:sldLayoutId id="2147483659" r:id="rId6"/>
    <p:sldLayoutId id="2147483709" r:id="rId7"/>
    <p:sldLayoutId id="2147483708" r:id="rId8"/>
    <p:sldLayoutId id="2147483707" r:id="rId9"/>
    <p:sldLayoutId id="2147483706" r:id="rId10"/>
    <p:sldLayoutId id="2147483705" r:id="rId11"/>
    <p:sldLayoutId id="2147483704" r:id="rId12"/>
    <p:sldLayoutId id="2147483703" r:id="rId13"/>
  </p:sldLayoutIdLst>
  <p:hf sldNum="0" hdr="0" ftr="0" dt="0"/>
  <p:txStyles>
    <p:titleStyle>
      <a:lvl1pPr algn="l" defTabSz="914400" rtl="0" eaLnBrk="1" latinLnBrk="0" hangingPunct="1">
        <a:lnSpc>
          <a:spcPct val="80000"/>
        </a:lnSpc>
        <a:spcBef>
          <a:spcPct val="0"/>
        </a:spcBef>
        <a:buNone/>
        <a:defRPr sz="44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83464" algn="l" defTabSz="914400" rtl="0" eaLnBrk="1" latinLnBrk="0" hangingPunct="1">
        <a:lnSpc>
          <a:spcPct val="90000"/>
        </a:lnSpc>
        <a:spcBef>
          <a:spcPts val="1000"/>
        </a:spcBef>
        <a:buFont typeface="Arial" panose="020B0604020202020204" pitchFamily="34" charset="0"/>
        <a:buChar char="•"/>
        <a:defRPr sz="2800" b="0" i="0" kern="1200">
          <a:solidFill>
            <a:schemeClr val="bg1"/>
          </a:solidFill>
          <a:latin typeface="+mn-lt"/>
          <a:ea typeface="+mn-ea"/>
          <a:cs typeface="+mn-cs"/>
        </a:defRPr>
      </a:lvl1pPr>
      <a:lvl2pPr marL="685800" indent="-283464" algn="l" defTabSz="914400" rtl="0" eaLnBrk="1" latinLnBrk="0" hangingPunct="1">
        <a:lnSpc>
          <a:spcPct val="90000"/>
        </a:lnSpc>
        <a:spcBef>
          <a:spcPts val="500"/>
        </a:spcBef>
        <a:buFont typeface="Arial" panose="020B0604020202020204" pitchFamily="34" charset="0"/>
        <a:buChar char="•"/>
        <a:defRPr sz="2400" b="0" i="0" kern="1200">
          <a:solidFill>
            <a:schemeClr val="bg1"/>
          </a:solidFill>
          <a:latin typeface="+mn-lt"/>
          <a:ea typeface="+mn-ea"/>
          <a:cs typeface="+mn-cs"/>
        </a:defRPr>
      </a:lvl2pPr>
      <a:lvl3pPr marL="1143000" indent="-283464"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83464"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4pPr>
      <a:lvl5pPr marL="2057400" indent="-283464"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userDrawn="1">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mailto:sdelardas@chcrichmond.org"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1.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8.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8.xml"/><Relationship Id="rId1" Type="http://schemas.openxmlformats.org/officeDocument/2006/relationships/slideLayout" Target="../slideLayouts/slideLayout11.xml"/><Relationship Id="rId4" Type="http://schemas.openxmlformats.org/officeDocument/2006/relationships/hyperlink" Target="https://ansjournalblog.com/2014/03/20/exploring-the-meaning-of-cultural-competence/" TargetMode="External"/></Relationships>
</file>

<file path=ppt/slides/_rels/slide9.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9.jpeg"/><Relationship Id="rId7" Type="http://schemas.openxmlformats.org/officeDocument/2006/relationships/diagramColors" Target="../diagrams/colors1.xml"/><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8" Type="http://schemas.openxmlformats.org/officeDocument/2006/relationships/image" Target="../media/image10.jp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hyperlink" Target="mailto:sdelardas@chcrichmond.org" TargetMode="External"/><Relationship Id="rId2" Type="http://schemas.openxmlformats.org/officeDocument/2006/relationships/notesSlide" Target="../notesSlides/notesSlide24.xml"/><Relationship Id="rId1" Type="http://schemas.openxmlformats.org/officeDocument/2006/relationships/slideLayout" Target="../slideLayouts/slideLayout13.xml"/><Relationship Id="rId4" Type="http://schemas.openxmlformats.org/officeDocument/2006/relationships/image" Target="../media/image1.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1D9D6-2977-ABCD-FDF8-51AFA5064E54}"/>
              </a:ext>
            </a:extLst>
          </p:cNvPr>
          <p:cNvSpPr>
            <a:spLocks noGrp="1"/>
          </p:cNvSpPr>
          <p:nvPr>
            <p:ph type="ctrTitle"/>
          </p:nvPr>
        </p:nvSpPr>
        <p:spPr>
          <a:xfrm>
            <a:off x="6309904" y="411479"/>
            <a:ext cx="5486400" cy="3291840"/>
          </a:xfrm>
        </p:spPr>
        <p:txBody>
          <a:bodyPr/>
          <a:lstStyle/>
          <a:p>
            <a:r>
              <a:rPr lang="en-US" dirty="0"/>
              <a:t>De-escalation Training</a:t>
            </a:r>
          </a:p>
        </p:txBody>
      </p:sp>
      <p:sp>
        <p:nvSpPr>
          <p:cNvPr id="3" name="TextBox 2">
            <a:extLst>
              <a:ext uri="{FF2B5EF4-FFF2-40B4-BE49-F238E27FC236}">
                <a16:creationId xmlns:a16="http://schemas.microsoft.com/office/drawing/2014/main" id="{89116D5F-6D2D-B454-8D35-3266030C5E3F}"/>
              </a:ext>
            </a:extLst>
          </p:cNvPr>
          <p:cNvSpPr txBox="1"/>
          <p:nvPr/>
        </p:nvSpPr>
        <p:spPr>
          <a:xfrm>
            <a:off x="6323888" y="5426579"/>
            <a:ext cx="5315484" cy="1200329"/>
          </a:xfrm>
          <a:prstGeom prst="rect">
            <a:avLst/>
          </a:prstGeom>
          <a:noFill/>
        </p:spPr>
        <p:txBody>
          <a:bodyPr wrap="square" rtlCol="0">
            <a:spAutoFit/>
          </a:bodyPr>
          <a:lstStyle/>
          <a:p>
            <a:r>
              <a:rPr lang="en-US" dirty="0">
                <a:solidFill>
                  <a:schemeClr val="bg1"/>
                </a:solidFill>
              </a:rPr>
              <a:t>Stavros E. Delardas, LMSW, C-DBT, PMH-C, CLC</a:t>
            </a:r>
          </a:p>
          <a:p>
            <a:r>
              <a:rPr lang="en-US" dirty="0">
                <a:solidFill>
                  <a:schemeClr val="bg1"/>
                </a:solidFill>
              </a:rPr>
              <a:t>Manager, Maternal &amp; Child Health Operations</a:t>
            </a:r>
          </a:p>
          <a:p>
            <a:r>
              <a:rPr lang="en-US" dirty="0">
                <a:solidFill>
                  <a:schemeClr val="bg1"/>
                </a:solidFill>
                <a:hlinkClick r:id="rId3"/>
              </a:rPr>
              <a:t>sdelardas@chcrichmond.org</a:t>
            </a:r>
            <a:endParaRPr lang="en-US" dirty="0">
              <a:solidFill>
                <a:schemeClr val="bg1"/>
              </a:solidFill>
            </a:endParaRPr>
          </a:p>
          <a:p>
            <a:endParaRPr lang="en-US" dirty="0">
              <a:solidFill>
                <a:schemeClr val="bg1"/>
              </a:solidFill>
            </a:endParaRPr>
          </a:p>
        </p:txBody>
      </p:sp>
      <p:pic>
        <p:nvPicPr>
          <p:cNvPr id="5" name="Picture 4" descr="A logo for a community health center&#10;&#10;AI-generated content may be incorrect.">
            <a:extLst>
              <a:ext uri="{FF2B5EF4-FFF2-40B4-BE49-F238E27FC236}">
                <a16:creationId xmlns:a16="http://schemas.microsoft.com/office/drawing/2014/main" id="{6BECF006-72A4-0B40-3FDD-7F3BF95C1CE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35144" y="4054860"/>
            <a:ext cx="2746486" cy="1371719"/>
          </a:xfrm>
          <a:prstGeom prst="rect">
            <a:avLst/>
          </a:prstGeom>
        </p:spPr>
      </p:pic>
    </p:spTree>
    <p:extLst>
      <p:ext uri="{BB962C8B-B14F-4D97-AF65-F5344CB8AC3E}">
        <p14:creationId xmlns:p14="http://schemas.microsoft.com/office/powerpoint/2010/main" val="3390304222"/>
      </p:ext>
    </p:extLst>
  </p:cSld>
  <p:clrMapOvr>
    <a:masterClrMapping/>
  </p:clrMapOvr>
  <mc:AlternateContent xmlns:mc="http://schemas.openxmlformats.org/markup-compatibility/2006" xmlns:p14="http://schemas.microsoft.com/office/powerpoint/2010/main">
    <mc:Choice Requires="p14">
      <p:transition spd="slow" p14:dur="2000" advTm="36285"/>
    </mc:Choice>
    <mc:Fallback xmlns="">
      <p:transition spd="slow" advTm="36285"/>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3DE98E2-2C84-975E-C3C9-3D55AE225568}"/>
              </a:ext>
            </a:extLst>
          </p:cNvPr>
          <p:cNvSpPr>
            <a:spLocks noGrp="1"/>
          </p:cNvSpPr>
          <p:nvPr>
            <p:ph type="title"/>
          </p:nvPr>
        </p:nvSpPr>
        <p:spPr>
          <a:xfrm>
            <a:off x="3661409" y="4661717"/>
            <a:ext cx="7936230" cy="1380760"/>
          </a:xfrm>
        </p:spPr>
        <p:txBody>
          <a:bodyPr vert="horz" lIns="0" tIns="0" rIns="0" bIns="0" rtlCol="0" anchor="b" anchorCtr="0">
            <a:normAutofit/>
          </a:bodyPr>
          <a:lstStyle/>
          <a:p>
            <a:r>
              <a:rPr lang="en-US" b="1" i="0" kern="1200" spc="100" baseline="0" dirty="0">
                <a:latin typeface="+mj-lt"/>
                <a:ea typeface="+mj-ea"/>
                <a:cs typeface="+mj-cs"/>
              </a:rPr>
              <a:t>About the Facilitator</a:t>
            </a:r>
          </a:p>
        </p:txBody>
      </p:sp>
      <p:pic>
        <p:nvPicPr>
          <p:cNvPr id="14" name="Picture 13" descr="A person with a beard and a green cardigan&#10;&#10;AI-generated content may be incorrect.">
            <a:extLst>
              <a:ext uri="{FF2B5EF4-FFF2-40B4-BE49-F238E27FC236}">
                <a16:creationId xmlns:a16="http://schemas.microsoft.com/office/drawing/2014/main" id="{EB4DDAE9-BB60-8C83-323C-593AC1400BAD}"/>
              </a:ext>
            </a:extLst>
          </p:cNvPr>
          <p:cNvPicPr>
            <a:picLocks noChangeAspect="1"/>
          </p:cNvPicPr>
          <p:nvPr/>
        </p:nvPicPr>
        <p:blipFill>
          <a:blip r:embed="rId3">
            <a:extLst>
              <a:ext uri="{28A0092B-C50C-407E-A947-70E740481C1C}">
                <a14:useLocalDpi xmlns:a14="http://schemas.microsoft.com/office/drawing/2010/main" val="0"/>
              </a:ext>
            </a:extLst>
          </a:blip>
          <a:srcRect r="7658" b="4"/>
          <a:stretch>
            <a:fillRect/>
          </a:stretch>
        </p:blipFill>
        <p:spPr>
          <a:xfrm>
            <a:off x="1030262" y="662657"/>
            <a:ext cx="2825115" cy="3999060"/>
          </a:xfrm>
          <a:prstGeom prst="rect">
            <a:avLst/>
          </a:prstGeom>
          <a:noFill/>
        </p:spPr>
      </p:pic>
      <p:sp>
        <p:nvSpPr>
          <p:cNvPr id="6" name="TextBox 5">
            <a:extLst>
              <a:ext uri="{FF2B5EF4-FFF2-40B4-BE49-F238E27FC236}">
                <a16:creationId xmlns:a16="http://schemas.microsoft.com/office/drawing/2014/main" id="{6DBE89CE-BDC8-1B89-F46F-994A8CC35D04}"/>
              </a:ext>
            </a:extLst>
          </p:cNvPr>
          <p:cNvSpPr txBox="1"/>
          <p:nvPr/>
        </p:nvSpPr>
        <p:spPr>
          <a:xfrm>
            <a:off x="4117584" y="897518"/>
            <a:ext cx="7621296" cy="3764199"/>
          </a:xfrm>
          <a:prstGeom prst="rect">
            <a:avLst/>
          </a:prstGeom>
        </p:spPr>
        <p:txBody>
          <a:bodyPr vert="horz" lIns="0" tIns="45720" rIns="91440" bIns="45720" rtlCol="0">
            <a:normAutofit/>
          </a:bodyPr>
          <a:lstStyle/>
          <a:p>
            <a:pPr>
              <a:lnSpc>
                <a:spcPct val="90000"/>
              </a:lnSpc>
              <a:spcBef>
                <a:spcPts val="1800"/>
              </a:spcBef>
              <a:buFont typeface="Arial" panose="020B0604020202020204" pitchFamily="34" charset="0"/>
            </a:pPr>
            <a:r>
              <a:rPr lang="en-US" sz="2000" dirty="0">
                <a:solidFill>
                  <a:schemeClr val="bg1"/>
                </a:solidFill>
              </a:rPr>
              <a:t>Stavros Efstratios Delardas is a Licensed  Master Social Worker who has been with the Community Health Center of Richmond since 2014. As the Manager of Maternal &amp; Child Health Operations, he oversees the Perinatal &amp; Infant Community Health Collaborative (PICHC) &amp; CHCR’s Behavioral Health department, while also serving as Chairman of the Workplace Safety &amp; Infection Control Committee.</a:t>
            </a:r>
          </a:p>
          <a:p>
            <a:pPr>
              <a:lnSpc>
                <a:spcPct val="90000"/>
              </a:lnSpc>
              <a:spcBef>
                <a:spcPts val="1800"/>
              </a:spcBef>
              <a:buFont typeface="Arial" panose="020B0604020202020204" pitchFamily="34" charset="0"/>
            </a:pPr>
            <a:r>
              <a:rPr lang="en-US" sz="2000" dirty="0">
                <a:solidFill>
                  <a:schemeClr val="bg1"/>
                </a:solidFill>
              </a:rPr>
              <a:t>Stavros earned his Master of Social Work degree from Sacred Heart University and his Bachelor of Science in Human Services from Empire State College. He holds licensure as a Licensed Master Social Worker (LMSW) in New York &amp; New Jersey. He is a trained Birth Doula and maintains certifications in Perinatal Mental Health &amp; Lactation Counseling.</a:t>
            </a:r>
          </a:p>
        </p:txBody>
      </p:sp>
    </p:spTree>
    <p:extLst>
      <p:ext uri="{BB962C8B-B14F-4D97-AF65-F5344CB8AC3E}">
        <p14:creationId xmlns:p14="http://schemas.microsoft.com/office/powerpoint/2010/main" val="1495346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81F690E1-CD11-C600-5954-B4B6136F76D1}"/>
              </a:ext>
            </a:extLst>
          </p:cNvPr>
          <p:cNvSpPr>
            <a:spLocks noGrp="1"/>
          </p:cNvSpPr>
          <p:nvPr>
            <p:ph type="title"/>
          </p:nvPr>
        </p:nvSpPr>
        <p:spPr>
          <a:xfrm>
            <a:off x="6318885" y="3623127"/>
            <a:ext cx="5296522" cy="1992176"/>
          </a:xfrm>
        </p:spPr>
        <p:txBody>
          <a:bodyPr anchor="b">
            <a:normAutofit/>
          </a:bodyPr>
          <a:lstStyle/>
          <a:p>
            <a:r>
              <a:rPr lang="en-US" sz="1800" b="0" dirty="0">
                <a:latin typeface="+mn-lt"/>
              </a:rPr>
              <a:t>Our mission is to sustain a vibrant, healthy and strong community through affordable, culturally competent, quality primary health care. We aim to eliminate health disparities for underserved populations through accessibility. We empower people to take control of their physical and mental wellbeing through health education, prevention services and wellness programs.</a:t>
            </a:r>
          </a:p>
        </p:txBody>
      </p:sp>
      <p:pic>
        <p:nvPicPr>
          <p:cNvPr id="6" name="Content Placeholder 5" descr="A logo for a community health center&#10;&#10;AI-generated content may be incorrect.">
            <a:extLst>
              <a:ext uri="{FF2B5EF4-FFF2-40B4-BE49-F238E27FC236}">
                <a16:creationId xmlns:a16="http://schemas.microsoft.com/office/drawing/2014/main" id="{52BD82B8-45FA-DB0C-D4AC-1FE774F4FABB}"/>
              </a:ext>
            </a:extLst>
          </p:cNvPr>
          <p:cNvPicPr>
            <a:picLocks noGrp="1" noChangeAspect="1"/>
          </p:cNvPicPr>
          <p:nvPr>
            <p:ph sz="quarter" idx="15"/>
          </p:nvPr>
        </p:nvPicPr>
        <p:blipFill>
          <a:blip r:embed="rId3">
            <a:extLst>
              <a:ext uri="{28A0092B-C50C-407E-A947-70E740481C1C}">
                <a14:useLocalDpi xmlns:a14="http://schemas.microsoft.com/office/drawing/2010/main" val="0"/>
              </a:ext>
            </a:extLst>
          </a:blip>
          <a:stretch/>
        </p:blipFill>
        <p:spPr>
          <a:xfrm>
            <a:off x="576593" y="1238983"/>
            <a:ext cx="5198269" cy="2599135"/>
          </a:xfrm>
          <a:noFill/>
        </p:spPr>
      </p:pic>
      <p:grpSp>
        <p:nvGrpSpPr>
          <p:cNvPr id="9" name="Group 8">
            <a:extLst>
              <a:ext uri="{FF2B5EF4-FFF2-40B4-BE49-F238E27FC236}">
                <a16:creationId xmlns:a16="http://schemas.microsoft.com/office/drawing/2014/main" id="{C83F8C44-08A4-349A-0976-DBE86C485750}"/>
              </a:ext>
            </a:extLst>
          </p:cNvPr>
          <p:cNvGrpSpPr/>
          <p:nvPr/>
        </p:nvGrpSpPr>
        <p:grpSpPr>
          <a:xfrm>
            <a:off x="576593" y="4050301"/>
            <a:ext cx="5198271" cy="1137828"/>
            <a:chOff x="2569162" y="2383695"/>
            <a:chExt cx="4445787" cy="906367"/>
          </a:xfrm>
        </p:grpSpPr>
        <p:pic>
          <p:nvPicPr>
            <p:cNvPr id="1028" name="Picture 4" descr="gold seal">
              <a:extLst>
                <a:ext uri="{FF2B5EF4-FFF2-40B4-BE49-F238E27FC236}">
                  <a16:creationId xmlns:a16="http://schemas.microsoft.com/office/drawing/2014/main" id="{1E352238-EEE5-6912-8DC4-B6EBA404C05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69162" y="2383695"/>
              <a:ext cx="863251" cy="906367"/>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descr="chcr award">
              <a:extLst>
                <a:ext uri="{FF2B5EF4-FFF2-40B4-BE49-F238E27FC236}">
                  <a16:creationId xmlns:a16="http://schemas.microsoft.com/office/drawing/2014/main" id="{7315DF7F-7A3E-913C-1CE5-062BE706CE2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64796" y="2383695"/>
              <a:ext cx="863251" cy="906367"/>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award 3">
              <a:extLst>
                <a:ext uri="{FF2B5EF4-FFF2-40B4-BE49-F238E27FC236}">
                  <a16:creationId xmlns:a16="http://schemas.microsoft.com/office/drawing/2014/main" id="{FF2B031B-64C9-FB3A-45EC-657205E3812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60430" y="2383695"/>
              <a:ext cx="863251" cy="906367"/>
            </a:xfrm>
            <a:prstGeom prst="rect">
              <a:avLst/>
            </a:prstGeom>
            <a:noFill/>
            <a:extLst>
              <a:ext uri="{909E8E84-426E-40DD-AFC4-6F175D3DCCD1}">
                <a14:hiddenFill xmlns:a14="http://schemas.microsoft.com/office/drawing/2010/main">
                  <a:solidFill>
                    <a:srgbClr val="FFFFFF"/>
                  </a:solidFill>
                </a14:hiddenFill>
              </a:ext>
            </a:extLst>
          </p:spPr>
        </p:pic>
        <p:pic>
          <p:nvPicPr>
            <p:cNvPr id="1031" name="Picture 7" descr="chcr award">
              <a:extLst>
                <a:ext uri="{FF2B5EF4-FFF2-40B4-BE49-F238E27FC236}">
                  <a16:creationId xmlns:a16="http://schemas.microsoft.com/office/drawing/2014/main" id="{0FF74C4D-7474-73E9-B0A9-26DC9FAB4ED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56064" y="2383695"/>
              <a:ext cx="863251" cy="906367"/>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ncqa seal logo">
              <a:extLst>
                <a:ext uri="{FF2B5EF4-FFF2-40B4-BE49-F238E27FC236}">
                  <a16:creationId xmlns:a16="http://schemas.microsoft.com/office/drawing/2014/main" id="{8F9F8139-6523-9E44-79BB-72F6416FB5D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151698" y="2383695"/>
              <a:ext cx="863251" cy="906367"/>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40307167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0BF65-C84B-45C3-72CA-AFDA68851174}"/>
              </a:ext>
            </a:extLst>
          </p:cNvPr>
          <p:cNvSpPr>
            <a:spLocks noGrp="1"/>
          </p:cNvSpPr>
          <p:nvPr>
            <p:ph type="title"/>
          </p:nvPr>
        </p:nvSpPr>
        <p:spPr>
          <a:xfrm>
            <a:off x="594360" y="189572"/>
            <a:ext cx="6787747" cy="1593507"/>
          </a:xfrm>
        </p:spPr>
        <p:txBody>
          <a:bodyPr/>
          <a:lstStyle/>
          <a:p>
            <a:r>
              <a:rPr lang="en-US" dirty="0"/>
              <a:t>Agenda</a:t>
            </a:r>
          </a:p>
        </p:txBody>
      </p:sp>
      <p:sp>
        <p:nvSpPr>
          <p:cNvPr id="3" name="Text Placeholder 2">
            <a:extLst>
              <a:ext uri="{FF2B5EF4-FFF2-40B4-BE49-F238E27FC236}">
                <a16:creationId xmlns:a16="http://schemas.microsoft.com/office/drawing/2014/main" id="{3B8EBC2C-6DD7-5003-38EB-40753046FE8C}"/>
              </a:ext>
            </a:extLst>
          </p:cNvPr>
          <p:cNvSpPr>
            <a:spLocks noGrp="1"/>
          </p:cNvSpPr>
          <p:nvPr>
            <p:ph sz="quarter" idx="13"/>
          </p:nvPr>
        </p:nvSpPr>
        <p:spPr>
          <a:xfrm>
            <a:off x="593725" y="2281238"/>
            <a:ext cx="6788150" cy="3709987"/>
          </a:xfrm>
        </p:spPr>
        <p:txBody>
          <a:bodyPr tIns="457200"/>
          <a:lstStyle/>
          <a:p>
            <a:r>
              <a:rPr lang="en-US" dirty="0"/>
              <a:t>What is de-escalation?</a:t>
            </a:r>
          </a:p>
          <a:p>
            <a:r>
              <a:rPr lang="en-US" dirty="0"/>
              <a:t>Cultural Humility</a:t>
            </a:r>
          </a:p>
          <a:p>
            <a:r>
              <a:rPr lang="en-US" dirty="0"/>
              <a:t>Recognizing Escalation</a:t>
            </a:r>
          </a:p>
          <a:p>
            <a:r>
              <a:rPr lang="en-US" dirty="0"/>
              <a:t>Core De-Escalation Skills &amp; Principles</a:t>
            </a:r>
          </a:p>
          <a:p>
            <a:r>
              <a:rPr lang="en-US" dirty="0"/>
              <a:t>Wrap-Up &amp; Takeaways</a:t>
            </a:r>
          </a:p>
        </p:txBody>
      </p:sp>
    </p:spTree>
    <p:extLst>
      <p:ext uri="{BB962C8B-B14F-4D97-AF65-F5344CB8AC3E}">
        <p14:creationId xmlns:p14="http://schemas.microsoft.com/office/powerpoint/2010/main" val="3346685798"/>
      </p:ext>
    </p:extLst>
  </p:cSld>
  <p:clrMapOvr>
    <a:masterClrMapping/>
  </p:clrMapOvr>
  <mc:AlternateContent xmlns:mc="http://schemas.openxmlformats.org/markup-compatibility/2006" xmlns:p14="http://schemas.microsoft.com/office/powerpoint/2010/main">
    <mc:Choice Requires="p14">
      <p:transition spd="slow" p14:dur="2000" advTm="72180"/>
    </mc:Choice>
    <mc:Fallback xmlns="">
      <p:transition spd="slow" advTm="7218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2EACB6E-F9F5-603C-2CDF-5EB4F1638E82}"/>
              </a:ext>
            </a:extLst>
          </p:cNvPr>
          <p:cNvSpPr>
            <a:spLocks noGrp="1"/>
          </p:cNvSpPr>
          <p:nvPr>
            <p:ph type="title"/>
          </p:nvPr>
        </p:nvSpPr>
        <p:spPr/>
        <p:txBody>
          <a:bodyPr/>
          <a:lstStyle/>
          <a:p>
            <a:r>
              <a:rPr lang="en-US" dirty="0"/>
              <a:t>Why is de-escalation important?</a:t>
            </a:r>
          </a:p>
        </p:txBody>
      </p:sp>
      <p:sp>
        <p:nvSpPr>
          <p:cNvPr id="5" name="Content Placeholder 4">
            <a:extLst>
              <a:ext uri="{FF2B5EF4-FFF2-40B4-BE49-F238E27FC236}">
                <a16:creationId xmlns:a16="http://schemas.microsoft.com/office/drawing/2014/main" id="{36D35116-AF3B-DBFA-309A-13DB68354115}"/>
              </a:ext>
            </a:extLst>
          </p:cNvPr>
          <p:cNvSpPr>
            <a:spLocks noGrp="1"/>
          </p:cNvSpPr>
          <p:nvPr>
            <p:ph sz="quarter" idx="15"/>
          </p:nvPr>
        </p:nvSpPr>
        <p:spPr/>
        <p:txBody>
          <a:bodyPr/>
          <a:lstStyle/>
          <a:p>
            <a:r>
              <a:rPr lang="en-US" dirty="0"/>
              <a:t>What is it?</a:t>
            </a:r>
          </a:p>
          <a:p>
            <a:pPr marL="342900" indent="-342900">
              <a:buFont typeface="Arial" panose="020B0604020202020204" pitchFamily="34" charset="0"/>
              <a:buChar char="•"/>
            </a:pPr>
            <a:r>
              <a:rPr lang="en-US" dirty="0"/>
              <a:t>a set of strategies used to reduce the intensity of conflict, agitation, or distress.</a:t>
            </a:r>
          </a:p>
          <a:p>
            <a:pPr marL="342900" indent="-342900">
              <a:buFont typeface="Arial" panose="020B0604020202020204" pitchFamily="34" charset="0"/>
              <a:buChar char="•"/>
            </a:pPr>
            <a:r>
              <a:rPr lang="en-US" dirty="0"/>
              <a:t>to create safety, restore calm, and prevent harm—without the need for physical intervention.</a:t>
            </a:r>
          </a:p>
          <a:p>
            <a:pPr marL="342900" indent="-342900">
              <a:buFont typeface="Arial" panose="020B0604020202020204" pitchFamily="34" charset="0"/>
              <a:buChar char="•"/>
            </a:pPr>
            <a:r>
              <a:rPr lang="en-US" dirty="0"/>
              <a:t>It is especially important in healthcare, where patients may be vulnerable, scared, or in crisis.</a:t>
            </a:r>
          </a:p>
        </p:txBody>
      </p:sp>
      <p:sp>
        <p:nvSpPr>
          <p:cNvPr id="6" name="Content Placeholder 5">
            <a:extLst>
              <a:ext uri="{FF2B5EF4-FFF2-40B4-BE49-F238E27FC236}">
                <a16:creationId xmlns:a16="http://schemas.microsoft.com/office/drawing/2014/main" id="{0D8B8713-1445-D2FB-AE49-42D0A40A845B}"/>
              </a:ext>
            </a:extLst>
          </p:cNvPr>
          <p:cNvSpPr>
            <a:spLocks noGrp="1"/>
          </p:cNvSpPr>
          <p:nvPr>
            <p:ph sz="quarter" idx="16"/>
          </p:nvPr>
        </p:nvSpPr>
        <p:spPr/>
        <p:txBody>
          <a:bodyPr>
            <a:normAutofit fontScale="92500" lnSpcReduction="10000"/>
          </a:bodyPr>
          <a:lstStyle/>
          <a:p>
            <a:r>
              <a:rPr lang="en-US" dirty="0"/>
              <a:t>Why does it matter?</a:t>
            </a:r>
          </a:p>
          <a:p>
            <a:pPr marL="342900" indent="-342900">
              <a:buFont typeface="Arial" panose="020B0604020202020204" pitchFamily="34" charset="0"/>
              <a:buChar char="•"/>
            </a:pPr>
            <a:r>
              <a:rPr lang="en-US" b="1" dirty="0"/>
              <a:t>Protects</a:t>
            </a:r>
            <a:r>
              <a:rPr lang="en-US" dirty="0"/>
              <a:t> safety of patients, staff, and visitors.</a:t>
            </a:r>
          </a:p>
          <a:p>
            <a:pPr marL="342900" indent="-342900">
              <a:buFont typeface="Arial" panose="020B0604020202020204" pitchFamily="34" charset="0"/>
              <a:buChar char="•"/>
            </a:pPr>
            <a:r>
              <a:rPr lang="en-US" b="1" dirty="0"/>
              <a:t>Preserves</a:t>
            </a:r>
            <a:r>
              <a:rPr lang="en-US" dirty="0"/>
              <a:t> dignity of individuals experiencing stress, confusion, or agitation.</a:t>
            </a:r>
          </a:p>
          <a:p>
            <a:pPr marL="342900" indent="-342900">
              <a:buFont typeface="Arial" panose="020B0604020202020204" pitchFamily="34" charset="0"/>
              <a:buChar char="•"/>
            </a:pPr>
            <a:r>
              <a:rPr lang="en-US" b="1" dirty="0"/>
              <a:t>Supports</a:t>
            </a:r>
            <a:r>
              <a:rPr lang="en-US" dirty="0"/>
              <a:t> therapeutic relationships by showing empathy and respect.</a:t>
            </a:r>
          </a:p>
          <a:p>
            <a:pPr marL="342900" indent="-342900">
              <a:buFont typeface="Arial" panose="020B0604020202020204" pitchFamily="34" charset="0"/>
              <a:buChar char="•"/>
            </a:pPr>
            <a:r>
              <a:rPr lang="en-US" b="1" dirty="0"/>
              <a:t>Meets compliance &amp; best practice standards </a:t>
            </a:r>
            <a:r>
              <a:rPr lang="en-US" dirty="0"/>
              <a:t>(CMS, OSHA, Joint Commission, etc.)</a:t>
            </a:r>
          </a:p>
        </p:txBody>
      </p:sp>
      <p:pic>
        <p:nvPicPr>
          <p:cNvPr id="7" name="Picture 6" descr="A logo for a community health center&#10;&#10;AI-generated content may be incorrect.">
            <a:extLst>
              <a:ext uri="{FF2B5EF4-FFF2-40B4-BE49-F238E27FC236}">
                <a16:creationId xmlns:a16="http://schemas.microsoft.com/office/drawing/2014/main" id="{50BC2C91-2EE2-C84C-F290-53D2FF44B3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600" y="5900214"/>
            <a:ext cx="1917700" cy="957786"/>
          </a:xfrm>
          <a:prstGeom prst="rect">
            <a:avLst/>
          </a:prstGeom>
        </p:spPr>
      </p:pic>
    </p:spTree>
    <p:extLst>
      <p:ext uri="{BB962C8B-B14F-4D97-AF65-F5344CB8AC3E}">
        <p14:creationId xmlns:p14="http://schemas.microsoft.com/office/powerpoint/2010/main" val="253608169"/>
      </p:ext>
    </p:extLst>
  </p:cSld>
  <p:clrMapOvr>
    <a:masterClrMapping/>
  </p:clrMapOvr>
  <mc:AlternateContent xmlns:mc="http://schemas.openxmlformats.org/markup-compatibility/2006" xmlns:p14="http://schemas.microsoft.com/office/powerpoint/2010/main">
    <mc:Choice Requires="p14">
      <p:transition spd="slow" p14:dur="2000" advTm="108317"/>
    </mc:Choice>
    <mc:Fallback xmlns="">
      <p:transition spd="slow" advTm="108317"/>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702FE-35AE-FBC7-1E95-0688802AD4AF}"/>
              </a:ext>
            </a:extLst>
          </p:cNvPr>
          <p:cNvSpPr>
            <a:spLocks noGrp="1"/>
          </p:cNvSpPr>
          <p:nvPr>
            <p:ph type="ctrTitle"/>
          </p:nvPr>
        </p:nvSpPr>
        <p:spPr>
          <a:xfrm>
            <a:off x="594360" y="411479"/>
            <a:ext cx="5486400" cy="3291840"/>
          </a:xfrm>
        </p:spPr>
        <p:txBody>
          <a:bodyPr anchor="b">
            <a:normAutofit/>
          </a:bodyPr>
          <a:lstStyle/>
          <a:p>
            <a:r>
              <a:rPr lang="en-US" sz="5100"/>
              <a:t>Before We Respond: Recognizing Bias, Privilege, and Power Dynamics</a:t>
            </a:r>
          </a:p>
        </p:txBody>
      </p:sp>
      <p:sp>
        <p:nvSpPr>
          <p:cNvPr id="4" name="Content Placeholder 3">
            <a:extLst>
              <a:ext uri="{FF2B5EF4-FFF2-40B4-BE49-F238E27FC236}">
                <a16:creationId xmlns:a16="http://schemas.microsoft.com/office/drawing/2014/main" id="{F88AD31C-26A0-D0CF-85DE-FB77D0084265}"/>
              </a:ext>
            </a:extLst>
          </p:cNvPr>
          <p:cNvSpPr>
            <a:spLocks noGrp="1"/>
          </p:cNvSpPr>
          <p:nvPr>
            <p:ph type="body" sz="quarter" idx="11"/>
          </p:nvPr>
        </p:nvSpPr>
        <p:spPr>
          <a:xfrm>
            <a:off x="594360" y="4102100"/>
            <a:ext cx="6136640" cy="2463800"/>
          </a:xfrm>
        </p:spPr>
        <p:txBody>
          <a:bodyPr>
            <a:normAutofit/>
          </a:bodyPr>
          <a:lstStyle/>
          <a:p>
            <a:r>
              <a:rPr lang="en-US" sz="3600" dirty="0"/>
              <a:t>Self-awareness before implementing techniques</a:t>
            </a:r>
          </a:p>
        </p:txBody>
      </p:sp>
      <p:pic>
        <p:nvPicPr>
          <p:cNvPr id="5" name="Picture 4" descr="A logo for a community health center&#10;&#10;AI-generated content may be incorrect.">
            <a:extLst>
              <a:ext uri="{FF2B5EF4-FFF2-40B4-BE49-F238E27FC236}">
                <a16:creationId xmlns:a16="http://schemas.microsoft.com/office/drawing/2014/main" id="{0A5926DF-5166-5D7F-0A6E-04908F70B4A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600" y="5900214"/>
            <a:ext cx="1917700" cy="957786"/>
          </a:xfrm>
          <a:prstGeom prst="rect">
            <a:avLst/>
          </a:prstGeom>
        </p:spPr>
      </p:pic>
    </p:spTree>
    <p:extLst>
      <p:ext uri="{BB962C8B-B14F-4D97-AF65-F5344CB8AC3E}">
        <p14:creationId xmlns:p14="http://schemas.microsoft.com/office/powerpoint/2010/main" val="1731767640"/>
      </p:ext>
    </p:extLst>
  </p:cSld>
  <p:clrMapOvr>
    <a:masterClrMapping/>
  </p:clrMapOvr>
  <mc:AlternateContent xmlns:mc="http://schemas.openxmlformats.org/markup-compatibility/2006" xmlns:p14="http://schemas.microsoft.com/office/powerpoint/2010/main">
    <mc:Choice Requires="p14">
      <p:transition spd="slow" p14:dur="2000" advTm="21554"/>
    </mc:Choice>
    <mc:Fallback xmlns="">
      <p:transition spd="slow" advTm="21554"/>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69FCA4-0174-6B64-A242-4ACABCBDC732}"/>
              </a:ext>
            </a:extLst>
          </p:cNvPr>
          <p:cNvSpPr>
            <a:spLocks noGrp="1"/>
          </p:cNvSpPr>
          <p:nvPr>
            <p:ph type="ctrTitle"/>
          </p:nvPr>
        </p:nvSpPr>
        <p:spPr/>
        <p:txBody>
          <a:bodyPr/>
          <a:lstStyle/>
          <a:p>
            <a:r>
              <a:rPr lang="en-US" dirty="0"/>
              <a:t>Cultural Humility</a:t>
            </a:r>
          </a:p>
        </p:txBody>
      </p:sp>
      <p:sp>
        <p:nvSpPr>
          <p:cNvPr id="5" name="Content Placeholder 4">
            <a:extLst>
              <a:ext uri="{FF2B5EF4-FFF2-40B4-BE49-F238E27FC236}">
                <a16:creationId xmlns:a16="http://schemas.microsoft.com/office/drawing/2014/main" id="{FEA44601-48F1-2C70-BF02-CCCC639F3096}"/>
              </a:ext>
            </a:extLst>
          </p:cNvPr>
          <p:cNvSpPr>
            <a:spLocks noGrp="1"/>
          </p:cNvSpPr>
          <p:nvPr>
            <p:ph type="body" sz="quarter" idx="11"/>
          </p:nvPr>
        </p:nvSpPr>
        <p:spPr>
          <a:xfrm>
            <a:off x="6309904" y="4254294"/>
            <a:ext cx="5486400" cy="1645920"/>
          </a:xfrm>
        </p:spPr>
        <p:txBody>
          <a:bodyPr/>
          <a:lstStyle/>
          <a:p>
            <a:r>
              <a:rPr lang="en-US" dirty="0"/>
              <a:t>Cultural humility is not about </a:t>
            </a:r>
            <a:r>
              <a:rPr lang="en-US" i="1" dirty="0"/>
              <a:t>knowing all cultures</a:t>
            </a:r>
            <a:r>
              <a:rPr lang="en-US" dirty="0"/>
              <a:t>. It's about knowing you have blind spots — and choosing to stay open, curious, and respectful when someone’s experience doesn’t match your own.</a:t>
            </a:r>
          </a:p>
        </p:txBody>
      </p:sp>
      <p:pic>
        <p:nvPicPr>
          <p:cNvPr id="10" name="Picture 9" descr="A logo for a community health center&#10;&#10;AI-generated content may be incorrect.">
            <a:extLst>
              <a:ext uri="{FF2B5EF4-FFF2-40B4-BE49-F238E27FC236}">
                <a16:creationId xmlns:a16="http://schemas.microsoft.com/office/drawing/2014/main" id="{BE6B1C36-6DA8-C02D-71DD-4C1DE8D6AD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600" y="5900214"/>
            <a:ext cx="1917700" cy="957786"/>
          </a:xfrm>
          <a:prstGeom prst="rect">
            <a:avLst/>
          </a:prstGeom>
        </p:spPr>
      </p:pic>
    </p:spTree>
    <p:extLst>
      <p:ext uri="{BB962C8B-B14F-4D97-AF65-F5344CB8AC3E}">
        <p14:creationId xmlns:p14="http://schemas.microsoft.com/office/powerpoint/2010/main" val="3433786885"/>
      </p:ext>
    </p:extLst>
  </p:cSld>
  <p:clrMapOvr>
    <a:masterClrMapping/>
  </p:clrMapOvr>
  <mc:AlternateContent xmlns:mc="http://schemas.openxmlformats.org/markup-compatibility/2006" xmlns:p14="http://schemas.microsoft.com/office/powerpoint/2010/main">
    <mc:Choice Requires="p14">
      <p:transition spd="slow" p14:dur="2000" advTm="77086"/>
    </mc:Choice>
    <mc:Fallback xmlns="">
      <p:transition spd="slow" advTm="77086"/>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1FBB750-C339-5144-2CFB-C1400DE2ED7C}"/>
              </a:ext>
            </a:extLst>
          </p:cNvPr>
          <p:cNvSpPr>
            <a:spLocks noGrp="1"/>
          </p:cNvSpPr>
          <p:nvPr>
            <p:ph type="title"/>
          </p:nvPr>
        </p:nvSpPr>
        <p:spPr>
          <a:xfrm>
            <a:off x="594360" y="198408"/>
            <a:ext cx="10972800" cy="1574317"/>
          </a:xfrm>
        </p:spPr>
        <p:txBody>
          <a:bodyPr vert="horz" lIns="0" tIns="0" rIns="0" bIns="0" rtlCol="0" anchor="b" anchorCtr="0">
            <a:normAutofit/>
          </a:bodyPr>
          <a:lstStyle/>
          <a:p>
            <a:r>
              <a:rPr lang="en-US" b="1" i="0" kern="1200" spc="100" baseline="0">
                <a:latin typeface="+mj-lt"/>
                <a:ea typeface="+mj-ea"/>
                <a:cs typeface="+mj-cs"/>
              </a:rPr>
              <a:t>Bias, Power, and the De-escalation Mindset</a:t>
            </a:r>
          </a:p>
        </p:txBody>
      </p:sp>
      <p:sp>
        <p:nvSpPr>
          <p:cNvPr id="11" name="TextBox 10">
            <a:extLst>
              <a:ext uri="{FF2B5EF4-FFF2-40B4-BE49-F238E27FC236}">
                <a16:creationId xmlns:a16="http://schemas.microsoft.com/office/drawing/2014/main" id="{2277588B-07FC-EDBB-A139-31D76E0DA036}"/>
              </a:ext>
            </a:extLst>
          </p:cNvPr>
          <p:cNvSpPr txBox="1"/>
          <p:nvPr/>
        </p:nvSpPr>
        <p:spPr>
          <a:xfrm>
            <a:off x="595523" y="2676525"/>
            <a:ext cx="5746750" cy="3597470"/>
          </a:xfrm>
          <a:prstGeom prst="rect">
            <a:avLst/>
          </a:prstGeom>
        </p:spPr>
        <p:txBody>
          <a:bodyPr vert="horz" lIns="0" tIns="45720" rIns="91440" bIns="45720" rtlCol="0">
            <a:normAutofit lnSpcReduction="10000"/>
          </a:bodyPr>
          <a:lstStyle/>
          <a:p>
            <a:pPr>
              <a:lnSpc>
                <a:spcPct val="90000"/>
              </a:lnSpc>
              <a:spcBef>
                <a:spcPts val="1800"/>
              </a:spcBef>
              <a:buFont typeface="Arial" panose="020B0604020202020204" pitchFamily="34" charset="0"/>
            </a:pPr>
            <a:r>
              <a:rPr lang="en-US" sz="2400" b="1" dirty="0">
                <a:solidFill>
                  <a:schemeClr val="bg1"/>
                </a:solidFill>
              </a:rPr>
              <a:t>What to Recognize:</a:t>
            </a:r>
          </a:p>
          <a:p>
            <a:pPr>
              <a:lnSpc>
                <a:spcPct val="90000"/>
              </a:lnSpc>
              <a:spcBef>
                <a:spcPts val="1800"/>
              </a:spcBef>
              <a:buFont typeface="Arial" panose="020B0604020202020204" pitchFamily="34" charset="0"/>
            </a:pPr>
            <a:r>
              <a:rPr lang="en-US" sz="1700" dirty="0">
                <a:solidFill>
                  <a:schemeClr val="bg1"/>
                </a:solidFill>
              </a:rPr>
              <a:t>Recognize internal biases and power dynamics within the staff-patient dynamic.</a:t>
            </a:r>
          </a:p>
          <a:p>
            <a:pPr>
              <a:lnSpc>
                <a:spcPct val="90000"/>
              </a:lnSpc>
              <a:spcBef>
                <a:spcPts val="1800"/>
              </a:spcBef>
              <a:buFont typeface="Arial" panose="020B0604020202020204" pitchFamily="34" charset="0"/>
            </a:pPr>
            <a:r>
              <a:rPr lang="en-US" sz="1700" dirty="0">
                <a:solidFill>
                  <a:schemeClr val="bg1"/>
                </a:solidFill>
              </a:rPr>
              <a:t>Patients may feel helpless, especially in unfamiliar systems or settings.</a:t>
            </a:r>
          </a:p>
          <a:p>
            <a:pPr>
              <a:lnSpc>
                <a:spcPct val="90000"/>
              </a:lnSpc>
              <a:spcBef>
                <a:spcPts val="1800"/>
              </a:spcBef>
              <a:buFont typeface="Arial" panose="020B0604020202020204" pitchFamily="34" charset="0"/>
            </a:pPr>
            <a:r>
              <a:rPr lang="en-US" sz="1700" dirty="0">
                <a:solidFill>
                  <a:schemeClr val="bg1"/>
                </a:solidFill>
              </a:rPr>
              <a:t>Some patients may escalate not because of you, but because they’ve experienced systemic disrespect before (e.g., racism, sexism, poverty, medical gaslighting).</a:t>
            </a:r>
          </a:p>
          <a:p>
            <a:pPr>
              <a:lnSpc>
                <a:spcPct val="90000"/>
              </a:lnSpc>
              <a:spcBef>
                <a:spcPts val="1800"/>
              </a:spcBef>
              <a:buFont typeface="Arial" panose="020B0604020202020204" pitchFamily="34" charset="0"/>
            </a:pPr>
            <a:r>
              <a:rPr lang="en-US" sz="1700" dirty="0">
                <a:solidFill>
                  <a:schemeClr val="bg1"/>
                </a:solidFill>
              </a:rPr>
              <a:t>LGBTQ+, immigrant, and neurodivergent patients often report feeling disrespected or unsafe in clinical settings, which can heighten sensitivity to tone and body language.</a:t>
            </a:r>
          </a:p>
        </p:txBody>
      </p:sp>
      <p:pic>
        <p:nvPicPr>
          <p:cNvPr id="17" name="Picture 16" descr="A logo of hands hugging a planet&#10;&#10;AI-generated content may be incorrect.">
            <a:extLst>
              <a:ext uri="{FF2B5EF4-FFF2-40B4-BE49-F238E27FC236}">
                <a16:creationId xmlns:a16="http://schemas.microsoft.com/office/drawing/2014/main" id="{E7E66C58-4C67-A6CF-D999-9CBFE565719D}"/>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7492646" y="3016877"/>
            <a:ext cx="2819754" cy="2688165"/>
          </a:xfrm>
          <a:prstGeom prst="rect">
            <a:avLst/>
          </a:prstGeom>
        </p:spPr>
      </p:pic>
    </p:spTree>
    <p:extLst>
      <p:ext uri="{BB962C8B-B14F-4D97-AF65-F5344CB8AC3E}">
        <p14:creationId xmlns:p14="http://schemas.microsoft.com/office/powerpoint/2010/main" val="2822365550"/>
      </p:ext>
    </p:extLst>
  </p:cSld>
  <p:clrMapOvr>
    <a:masterClrMapping/>
  </p:clrMapOvr>
  <mc:AlternateContent xmlns:mc="http://schemas.openxmlformats.org/markup-compatibility/2006" xmlns:p14="http://schemas.microsoft.com/office/powerpoint/2010/main">
    <mc:Choice Requires="p14">
      <p:transition spd="slow" p14:dur="2000" advTm="182549"/>
    </mc:Choice>
    <mc:Fallback xmlns="">
      <p:transition spd="slow" advTm="182549"/>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320AD7C-B458-8121-4136-0F35F97399F7}"/>
              </a:ext>
            </a:extLst>
          </p:cNvPr>
          <p:cNvSpPr>
            <a:spLocks noGrp="1"/>
          </p:cNvSpPr>
          <p:nvPr>
            <p:ph type="title"/>
          </p:nvPr>
        </p:nvSpPr>
        <p:spPr>
          <a:xfrm>
            <a:off x="3661409" y="4661717"/>
            <a:ext cx="7936230" cy="1380760"/>
          </a:xfrm>
        </p:spPr>
        <p:txBody>
          <a:bodyPr vert="horz" lIns="0" tIns="0" rIns="0" bIns="0" rtlCol="0" anchor="b" anchorCtr="0">
            <a:normAutofit/>
          </a:bodyPr>
          <a:lstStyle/>
          <a:p>
            <a:r>
              <a:rPr lang="en-US" b="1" i="0" kern="1200" spc="100" baseline="0">
                <a:latin typeface="+mj-lt"/>
                <a:ea typeface="+mj-ea"/>
                <a:cs typeface="+mj-cs"/>
              </a:rPr>
              <a:t>Cultural Humility in Practice</a:t>
            </a:r>
          </a:p>
        </p:txBody>
      </p:sp>
      <p:pic>
        <p:nvPicPr>
          <p:cNvPr id="14" name="Content Placeholder 13" descr="Holding hands">
            <a:extLst>
              <a:ext uri="{FF2B5EF4-FFF2-40B4-BE49-F238E27FC236}">
                <a16:creationId xmlns:a16="http://schemas.microsoft.com/office/drawing/2014/main" id="{09CF9A4E-D697-052F-27CC-ECEBD047EBA4}"/>
              </a:ext>
            </a:extLst>
          </p:cNvPr>
          <p:cNvPicPr>
            <a:picLocks noGrp="1" noChangeAspect="1"/>
          </p:cNvPicPr>
          <p:nvPr>
            <p:ph sz="quarter" idx="14"/>
          </p:nvPr>
        </p:nvPicPr>
        <p:blipFill>
          <a:blip r:embed="rId3">
            <a:extLst>
              <a:ext uri="{28A0092B-C50C-407E-A947-70E740481C1C}">
                <a14:useLocalDpi xmlns:a14="http://schemas.microsoft.com/office/drawing/2010/main" val="0"/>
              </a:ext>
            </a:extLst>
          </a:blip>
          <a:stretch>
            <a:fillRect/>
          </a:stretch>
        </p:blipFill>
        <p:spPr>
          <a:xfrm>
            <a:off x="336550" y="1730426"/>
            <a:ext cx="2825750" cy="1884017"/>
          </a:xfrm>
        </p:spPr>
      </p:pic>
      <p:graphicFrame>
        <p:nvGraphicFramePr>
          <p:cNvPr id="19" name="Content Placeholder 5">
            <a:extLst>
              <a:ext uri="{FF2B5EF4-FFF2-40B4-BE49-F238E27FC236}">
                <a16:creationId xmlns:a16="http://schemas.microsoft.com/office/drawing/2014/main" id="{D668987B-C399-A6DF-FC19-DCDB4387AD21}"/>
              </a:ext>
            </a:extLst>
          </p:cNvPr>
          <p:cNvGraphicFramePr/>
          <p:nvPr>
            <p:extLst>
              <p:ext uri="{D42A27DB-BD31-4B8C-83A1-F6EECF244321}">
                <p14:modId xmlns:p14="http://schemas.microsoft.com/office/powerpoint/2010/main" val="1024809163"/>
              </p:ext>
            </p:extLst>
          </p:nvPr>
        </p:nvGraphicFramePr>
        <p:xfrm>
          <a:off x="3670934" y="584005"/>
          <a:ext cx="7926705" cy="399906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5" name="Picture 14" descr="A logo for a community health center&#10;&#10;AI-generated content may be incorrect.">
            <a:extLst>
              <a:ext uri="{FF2B5EF4-FFF2-40B4-BE49-F238E27FC236}">
                <a16:creationId xmlns:a16="http://schemas.microsoft.com/office/drawing/2014/main" id="{5D5F3B2E-F4E0-EC0C-BC8B-5253F21A2B8C}"/>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01600" y="5900214"/>
            <a:ext cx="1917700" cy="957786"/>
          </a:xfrm>
          <a:prstGeom prst="rect">
            <a:avLst/>
          </a:prstGeom>
        </p:spPr>
      </p:pic>
    </p:spTree>
    <p:extLst>
      <p:ext uri="{BB962C8B-B14F-4D97-AF65-F5344CB8AC3E}">
        <p14:creationId xmlns:p14="http://schemas.microsoft.com/office/powerpoint/2010/main" val="3542220330"/>
      </p:ext>
    </p:extLst>
  </p:cSld>
  <p:clrMapOvr>
    <a:masterClrMapping/>
  </p:clrMapOvr>
  <mc:AlternateContent xmlns:mc="http://schemas.openxmlformats.org/markup-compatibility/2006" xmlns:p14="http://schemas.microsoft.com/office/powerpoint/2010/main">
    <mc:Choice Requires="p14">
      <p:transition spd="slow" p14:dur="2000" advTm="125246"/>
    </mc:Choice>
    <mc:Fallback xmlns="">
      <p:transition spd="slow" advTm="125246"/>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8CE60-587E-1D5C-8B50-ED3441BA49CE}"/>
              </a:ext>
            </a:extLst>
          </p:cNvPr>
          <p:cNvSpPr>
            <a:spLocks noGrp="1"/>
          </p:cNvSpPr>
          <p:nvPr>
            <p:ph type="ctrTitle"/>
          </p:nvPr>
        </p:nvSpPr>
        <p:spPr>
          <a:xfrm>
            <a:off x="6309904" y="411479"/>
            <a:ext cx="5486400" cy="3291840"/>
          </a:xfrm>
        </p:spPr>
        <p:txBody>
          <a:bodyPr anchor="b">
            <a:normAutofit/>
          </a:bodyPr>
          <a:lstStyle/>
          <a:p>
            <a:r>
              <a:rPr lang="en-US" dirty="0"/>
              <a:t>Recognizing Escalation</a:t>
            </a:r>
          </a:p>
        </p:txBody>
      </p:sp>
      <p:sp>
        <p:nvSpPr>
          <p:cNvPr id="3" name="Text Placeholder 2">
            <a:extLst>
              <a:ext uri="{FF2B5EF4-FFF2-40B4-BE49-F238E27FC236}">
                <a16:creationId xmlns:a16="http://schemas.microsoft.com/office/drawing/2014/main" id="{0E02AE9C-BA1D-195E-3B93-A5A0CC03D8F3}"/>
              </a:ext>
            </a:extLst>
          </p:cNvPr>
          <p:cNvSpPr>
            <a:spLocks noGrp="1"/>
          </p:cNvSpPr>
          <p:nvPr>
            <p:ph type="body" sz="quarter" idx="11"/>
          </p:nvPr>
        </p:nvSpPr>
        <p:spPr>
          <a:xfrm>
            <a:off x="6309905" y="4549552"/>
            <a:ext cx="5486400" cy="1645920"/>
          </a:xfrm>
        </p:spPr>
        <p:txBody>
          <a:bodyPr>
            <a:normAutofit/>
          </a:bodyPr>
          <a:lstStyle/>
          <a:p>
            <a:pPr marL="342900" indent="-342900">
              <a:buFont typeface="Arial" panose="020B0604020202020204" pitchFamily="34" charset="0"/>
              <a:buChar char="•"/>
            </a:pPr>
            <a:r>
              <a:rPr lang="en-US" dirty="0"/>
              <a:t>Common Triggers</a:t>
            </a:r>
          </a:p>
          <a:p>
            <a:pPr marL="342900" indent="-342900">
              <a:buFont typeface="Arial" panose="020B0604020202020204" pitchFamily="34" charset="0"/>
              <a:buChar char="•"/>
            </a:pPr>
            <a:r>
              <a:rPr lang="en-US" dirty="0"/>
              <a:t>Early Warning Signs</a:t>
            </a:r>
          </a:p>
          <a:p>
            <a:pPr marL="342900" indent="-342900">
              <a:buFont typeface="Arial" panose="020B0604020202020204" pitchFamily="34" charset="0"/>
              <a:buChar char="•"/>
            </a:pPr>
            <a:r>
              <a:rPr lang="en-US" dirty="0"/>
              <a:t>Intentional &amp; Unintentional Escalation</a:t>
            </a:r>
          </a:p>
        </p:txBody>
      </p:sp>
      <p:pic>
        <p:nvPicPr>
          <p:cNvPr id="4" name="Picture 3" descr="A logo for a community health center&#10;&#10;AI-generated content may be incorrect.">
            <a:extLst>
              <a:ext uri="{FF2B5EF4-FFF2-40B4-BE49-F238E27FC236}">
                <a16:creationId xmlns:a16="http://schemas.microsoft.com/office/drawing/2014/main" id="{E314B724-9F3B-5E11-8707-B4B8AAF250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600" y="5900214"/>
            <a:ext cx="1917700" cy="957786"/>
          </a:xfrm>
          <a:prstGeom prst="rect">
            <a:avLst/>
          </a:prstGeom>
        </p:spPr>
      </p:pic>
    </p:spTree>
    <p:extLst>
      <p:ext uri="{BB962C8B-B14F-4D97-AF65-F5344CB8AC3E}">
        <p14:creationId xmlns:p14="http://schemas.microsoft.com/office/powerpoint/2010/main" val="14408719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6C835C9-50EB-CA76-36B5-9A32D8AC01FE}"/>
              </a:ext>
            </a:extLst>
          </p:cNvPr>
          <p:cNvSpPr>
            <a:spLocks noGrp="1"/>
          </p:cNvSpPr>
          <p:nvPr>
            <p:ph type="title"/>
          </p:nvPr>
        </p:nvSpPr>
        <p:spPr/>
        <p:txBody>
          <a:bodyPr/>
          <a:lstStyle/>
          <a:p>
            <a:r>
              <a:rPr lang="en-US" dirty="0"/>
              <a:t>Common Triggers in Healthcare</a:t>
            </a:r>
          </a:p>
        </p:txBody>
      </p:sp>
      <p:sp>
        <p:nvSpPr>
          <p:cNvPr id="5" name="Content Placeholder 4">
            <a:extLst>
              <a:ext uri="{FF2B5EF4-FFF2-40B4-BE49-F238E27FC236}">
                <a16:creationId xmlns:a16="http://schemas.microsoft.com/office/drawing/2014/main" id="{3FAFC075-903A-A149-3700-FB32B5D9B244}"/>
              </a:ext>
            </a:extLst>
          </p:cNvPr>
          <p:cNvSpPr>
            <a:spLocks noGrp="1"/>
          </p:cNvSpPr>
          <p:nvPr>
            <p:ph sz="quarter" idx="15"/>
          </p:nvPr>
        </p:nvSpPr>
        <p:spPr/>
        <p:txBody>
          <a:bodyPr/>
          <a:lstStyle/>
          <a:p>
            <a:pPr marL="457200" indent="-457200">
              <a:buAutoNum type="arabicPeriod"/>
            </a:pPr>
            <a:r>
              <a:rPr lang="en-US" dirty="0"/>
              <a:t>Long wait times or delays.</a:t>
            </a:r>
          </a:p>
          <a:p>
            <a:pPr marL="457200" indent="-457200">
              <a:buAutoNum type="arabicPeriod"/>
            </a:pPr>
            <a:r>
              <a:rPr lang="en-US" dirty="0"/>
              <a:t>Communication breakdowns or confusing information.</a:t>
            </a:r>
          </a:p>
          <a:p>
            <a:pPr marL="457200" indent="-457200">
              <a:buAutoNum type="arabicPeriod"/>
            </a:pPr>
            <a:r>
              <a:rPr lang="en-US" dirty="0"/>
              <a:t>Billing and/or insurance issues.</a:t>
            </a:r>
          </a:p>
          <a:p>
            <a:pPr marL="457200" indent="-457200">
              <a:buAutoNum type="arabicPeriod"/>
            </a:pPr>
            <a:r>
              <a:rPr lang="en-US" dirty="0"/>
              <a:t>Perceived rudeness, disrespect, or judgement.</a:t>
            </a:r>
          </a:p>
          <a:p>
            <a:pPr marL="457200" indent="-457200">
              <a:buAutoNum type="arabicPeriod"/>
            </a:pPr>
            <a:r>
              <a:rPr lang="en-US" dirty="0"/>
              <a:t>Fear, pain, or anxiety</a:t>
            </a:r>
          </a:p>
        </p:txBody>
      </p:sp>
      <p:sp>
        <p:nvSpPr>
          <p:cNvPr id="6" name="Content Placeholder 5">
            <a:extLst>
              <a:ext uri="{FF2B5EF4-FFF2-40B4-BE49-F238E27FC236}">
                <a16:creationId xmlns:a16="http://schemas.microsoft.com/office/drawing/2014/main" id="{7851B634-4A85-DA59-0045-6EB787D8EAD7}"/>
              </a:ext>
            </a:extLst>
          </p:cNvPr>
          <p:cNvSpPr>
            <a:spLocks noGrp="1"/>
          </p:cNvSpPr>
          <p:nvPr>
            <p:ph sz="quarter" idx="16"/>
          </p:nvPr>
        </p:nvSpPr>
        <p:spPr/>
        <p:txBody>
          <a:bodyPr/>
          <a:lstStyle/>
          <a:p>
            <a:pPr marL="457200" indent="-457200">
              <a:buFont typeface="+mj-lt"/>
              <a:buAutoNum type="arabicPeriod" startAt="6"/>
            </a:pPr>
            <a:r>
              <a:rPr lang="en-US" dirty="0"/>
              <a:t>Perceived lack of control or lack of choice.</a:t>
            </a:r>
          </a:p>
          <a:p>
            <a:pPr marL="457200" indent="-457200">
              <a:buFont typeface="+mj-lt"/>
              <a:buAutoNum type="arabicPeriod" startAt="6"/>
            </a:pPr>
            <a:r>
              <a:rPr lang="en-US" dirty="0"/>
              <a:t>Behavioral health or substance use conditions.</a:t>
            </a:r>
          </a:p>
          <a:p>
            <a:pPr marL="457200" indent="-457200">
              <a:buFont typeface="+mj-lt"/>
              <a:buAutoNum type="arabicPeriod" startAt="6"/>
            </a:pPr>
            <a:r>
              <a:rPr lang="en-US" dirty="0"/>
              <a:t>Combination of multiple factors.</a:t>
            </a:r>
          </a:p>
          <a:p>
            <a:pPr marL="457200" indent="-457200">
              <a:buFont typeface="+mj-lt"/>
              <a:buAutoNum type="arabicPeriod" startAt="6"/>
            </a:pPr>
            <a:endParaRPr lang="en-US" dirty="0"/>
          </a:p>
        </p:txBody>
      </p:sp>
      <p:pic>
        <p:nvPicPr>
          <p:cNvPr id="7" name="Picture 6" descr="A logo for a community health center&#10;&#10;AI-generated content may be incorrect.">
            <a:extLst>
              <a:ext uri="{FF2B5EF4-FFF2-40B4-BE49-F238E27FC236}">
                <a16:creationId xmlns:a16="http://schemas.microsoft.com/office/drawing/2014/main" id="{DF8543BF-F21A-B7A4-EE39-82ACCC45FC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600" y="5900214"/>
            <a:ext cx="1917700" cy="957786"/>
          </a:xfrm>
          <a:prstGeom prst="rect">
            <a:avLst/>
          </a:prstGeom>
        </p:spPr>
      </p:pic>
    </p:spTree>
    <p:extLst>
      <p:ext uri="{BB962C8B-B14F-4D97-AF65-F5344CB8AC3E}">
        <p14:creationId xmlns:p14="http://schemas.microsoft.com/office/powerpoint/2010/main" val="72338963"/>
      </p:ext>
    </p:extLst>
  </p:cSld>
  <p:clrMapOvr>
    <a:masterClrMapping/>
  </p:clrMapOvr>
  <mc:AlternateContent xmlns:mc="http://schemas.openxmlformats.org/markup-compatibility/2006" xmlns:p14="http://schemas.microsoft.com/office/powerpoint/2010/main">
    <mc:Choice Requires="p14">
      <p:transition spd="slow" p14:dur="2000" advTm="175198"/>
    </mc:Choice>
    <mc:Fallback xmlns="">
      <p:transition spd="slow" advTm="175198"/>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7048AF3-C935-D741-4FEC-D48959AB519C}"/>
              </a:ext>
            </a:extLst>
          </p:cNvPr>
          <p:cNvSpPr>
            <a:spLocks noGrp="1"/>
          </p:cNvSpPr>
          <p:nvPr>
            <p:ph type="title"/>
          </p:nvPr>
        </p:nvSpPr>
        <p:spPr>
          <a:xfrm>
            <a:off x="594360" y="189572"/>
            <a:ext cx="6787747" cy="1593507"/>
          </a:xfrm>
        </p:spPr>
        <p:txBody>
          <a:bodyPr vert="horz" lIns="0" tIns="0" rIns="0" bIns="0" rtlCol="0" anchor="b" anchorCtr="0">
            <a:normAutofit/>
          </a:bodyPr>
          <a:lstStyle/>
          <a:p>
            <a:r>
              <a:rPr lang="en-US" b="1" i="0" kern="1200" spc="50" baseline="0">
                <a:latin typeface="+mj-lt"/>
                <a:ea typeface="+mj-ea"/>
                <a:cs typeface="+mj-cs"/>
              </a:rPr>
              <a:t>Early Warning Signs</a:t>
            </a:r>
          </a:p>
        </p:txBody>
      </p:sp>
      <p:graphicFrame>
        <p:nvGraphicFramePr>
          <p:cNvPr id="9" name="TextBox 6">
            <a:extLst>
              <a:ext uri="{FF2B5EF4-FFF2-40B4-BE49-F238E27FC236}">
                <a16:creationId xmlns:a16="http://schemas.microsoft.com/office/drawing/2014/main" id="{2FF45DD5-075D-A831-F837-8B44272F33D6}"/>
              </a:ext>
            </a:extLst>
          </p:cNvPr>
          <p:cNvGraphicFramePr/>
          <p:nvPr>
            <p:extLst>
              <p:ext uri="{D42A27DB-BD31-4B8C-83A1-F6EECF244321}">
                <p14:modId xmlns:p14="http://schemas.microsoft.com/office/powerpoint/2010/main" val="131636149"/>
              </p:ext>
            </p:extLst>
          </p:nvPr>
        </p:nvGraphicFramePr>
        <p:xfrm>
          <a:off x="594359" y="2281918"/>
          <a:ext cx="6787747" cy="370851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1" name="Picture 10" descr="Exclamation mark on a yellow background">
            <a:extLst>
              <a:ext uri="{FF2B5EF4-FFF2-40B4-BE49-F238E27FC236}">
                <a16:creationId xmlns:a16="http://schemas.microsoft.com/office/drawing/2014/main" id="{EE8BBE60-9D6C-DB03-2ABA-36A1E05BFEC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542057" y="3400161"/>
            <a:ext cx="3415247" cy="2561435"/>
          </a:xfrm>
          <a:prstGeom prst="rect">
            <a:avLst/>
          </a:prstGeom>
        </p:spPr>
      </p:pic>
      <p:pic>
        <p:nvPicPr>
          <p:cNvPr id="12" name="Picture 11" descr="A logo for a community health center&#10;&#10;AI-generated content may be incorrect.">
            <a:extLst>
              <a:ext uri="{FF2B5EF4-FFF2-40B4-BE49-F238E27FC236}">
                <a16:creationId xmlns:a16="http://schemas.microsoft.com/office/drawing/2014/main" id="{B6884834-7753-F1A3-A7DA-4E36F1E133DF}"/>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01600" y="5900214"/>
            <a:ext cx="1917700" cy="957786"/>
          </a:xfrm>
          <a:prstGeom prst="rect">
            <a:avLst/>
          </a:prstGeom>
        </p:spPr>
      </p:pic>
    </p:spTree>
    <p:extLst>
      <p:ext uri="{BB962C8B-B14F-4D97-AF65-F5344CB8AC3E}">
        <p14:creationId xmlns:p14="http://schemas.microsoft.com/office/powerpoint/2010/main" val="898927719"/>
      </p:ext>
    </p:extLst>
  </p:cSld>
  <p:clrMapOvr>
    <a:masterClrMapping/>
  </p:clrMapOvr>
  <mc:AlternateContent xmlns:mc="http://schemas.openxmlformats.org/markup-compatibility/2006" xmlns:p14="http://schemas.microsoft.com/office/powerpoint/2010/main">
    <mc:Choice Requires="p14">
      <p:transition spd="slow" p14:dur="2000" advTm="138585"/>
    </mc:Choice>
    <mc:Fallback xmlns="">
      <p:transition spd="slow" advTm="138585"/>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7B26EBC-4770-7AA1-70F9-844A3D62B30E}"/>
              </a:ext>
            </a:extLst>
          </p:cNvPr>
          <p:cNvSpPr>
            <a:spLocks noGrp="1"/>
          </p:cNvSpPr>
          <p:nvPr>
            <p:ph type="ctrTitle"/>
          </p:nvPr>
        </p:nvSpPr>
        <p:spPr>
          <a:xfrm>
            <a:off x="6309904" y="411479"/>
            <a:ext cx="5486400" cy="3291840"/>
          </a:xfrm>
        </p:spPr>
        <p:txBody>
          <a:bodyPr anchor="b">
            <a:normAutofit/>
          </a:bodyPr>
          <a:lstStyle/>
          <a:p>
            <a:r>
              <a:rPr lang="en-US" dirty="0"/>
              <a:t>Unintentional Escalation</a:t>
            </a:r>
          </a:p>
        </p:txBody>
      </p:sp>
    </p:spTree>
    <p:extLst>
      <p:ext uri="{BB962C8B-B14F-4D97-AF65-F5344CB8AC3E}">
        <p14:creationId xmlns:p14="http://schemas.microsoft.com/office/powerpoint/2010/main" val="25644945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06C417B-93A1-3F6D-F9FD-EEE07E90CBB6}"/>
              </a:ext>
            </a:extLst>
          </p:cNvPr>
          <p:cNvSpPr>
            <a:spLocks noGrp="1"/>
          </p:cNvSpPr>
          <p:nvPr>
            <p:ph type="title"/>
          </p:nvPr>
        </p:nvSpPr>
        <p:spPr>
          <a:xfrm>
            <a:off x="6398895" y="3578819"/>
            <a:ext cx="4939666" cy="2542810"/>
          </a:xfrm>
        </p:spPr>
        <p:txBody>
          <a:bodyPr/>
          <a:lstStyle/>
          <a:p>
            <a:r>
              <a:rPr lang="en-US" dirty="0"/>
              <a:t>Core </a:t>
            </a:r>
            <a:br>
              <a:rPr lang="en-US" dirty="0"/>
            </a:br>
            <a:r>
              <a:rPr lang="en-US" dirty="0"/>
              <a:t>De-Escalation Skills &amp; Principles</a:t>
            </a:r>
          </a:p>
        </p:txBody>
      </p:sp>
      <p:pic>
        <p:nvPicPr>
          <p:cNvPr id="9" name="Content Placeholder 8" descr="People greeting customers">
            <a:extLst>
              <a:ext uri="{FF2B5EF4-FFF2-40B4-BE49-F238E27FC236}">
                <a16:creationId xmlns:a16="http://schemas.microsoft.com/office/drawing/2014/main" id="{D0E2B2DE-00DF-FC20-7BBF-58BF82C23B26}"/>
              </a:ext>
            </a:extLst>
          </p:cNvPr>
          <p:cNvPicPr>
            <a:picLocks noGrp="1" noChangeAspect="1"/>
          </p:cNvPicPr>
          <p:nvPr>
            <p:ph sz="quarter" idx="15"/>
          </p:nvPr>
        </p:nvPicPr>
        <p:blipFill>
          <a:blip r:embed="rId3">
            <a:extLst>
              <a:ext uri="{28A0092B-C50C-407E-A947-70E740481C1C}">
                <a14:useLocalDpi xmlns:a14="http://schemas.microsoft.com/office/drawing/2010/main" val="0"/>
              </a:ext>
            </a:extLst>
          </a:blip>
          <a:stretch>
            <a:fillRect/>
          </a:stretch>
        </p:blipFill>
        <p:spPr>
          <a:xfrm>
            <a:off x="782819" y="1268731"/>
            <a:ext cx="5198095" cy="3394710"/>
          </a:xfrm>
        </p:spPr>
      </p:pic>
      <p:pic>
        <p:nvPicPr>
          <p:cNvPr id="10" name="Picture 9" descr="A logo for a community health center&#10;&#10;AI-generated content may be incorrect.">
            <a:extLst>
              <a:ext uri="{FF2B5EF4-FFF2-40B4-BE49-F238E27FC236}">
                <a16:creationId xmlns:a16="http://schemas.microsoft.com/office/drawing/2014/main" id="{C8D0242B-AF92-044E-A67F-AB849A90777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600" y="5900214"/>
            <a:ext cx="1917700" cy="957786"/>
          </a:xfrm>
          <a:prstGeom prst="rect">
            <a:avLst/>
          </a:prstGeom>
        </p:spPr>
      </p:pic>
    </p:spTree>
    <p:extLst>
      <p:ext uri="{BB962C8B-B14F-4D97-AF65-F5344CB8AC3E}">
        <p14:creationId xmlns:p14="http://schemas.microsoft.com/office/powerpoint/2010/main" val="3105633778"/>
      </p:ext>
    </p:extLst>
  </p:cSld>
  <p:clrMapOvr>
    <a:masterClrMapping/>
  </p:clrMapOvr>
  <mc:AlternateContent xmlns:mc="http://schemas.openxmlformats.org/markup-compatibility/2006" xmlns:p14="http://schemas.microsoft.com/office/powerpoint/2010/main">
    <mc:Choice Requires="p14">
      <p:transition spd="slow" p14:dur="2000" advTm="380120"/>
    </mc:Choice>
    <mc:Fallback xmlns="">
      <p:transition spd="slow" advTm="38012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9E442-D6C2-BFCE-3CF3-3E54D905B972}"/>
              </a:ext>
            </a:extLst>
          </p:cNvPr>
          <p:cNvSpPr>
            <a:spLocks noGrp="1"/>
          </p:cNvSpPr>
          <p:nvPr>
            <p:ph type="ctrTitle"/>
          </p:nvPr>
        </p:nvSpPr>
        <p:spPr>
          <a:xfrm>
            <a:off x="6309904" y="411479"/>
            <a:ext cx="5486400" cy="3291840"/>
          </a:xfrm>
        </p:spPr>
        <p:txBody>
          <a:bodyPr anchor="b">
            <a:normAutofit/>
          </a:bodyPr>
          <a:lstStyle/>
          <a:p>
            <a:r>
              <a:rPr lang="en-US" dirty="0"/>
              <a:t>Stay Calm &amp; Controlled</a:t>
            </a:r>
          </a:p>
        </p:txBody>
      </p:sp>
    </p:spTree>
    <p:extLst>
      <p:ext uri="{BB962C8B-B14F-4D97-AF65-F5344CB8AC3E}">
        <p14:creationId xmlns:p14="http://schemas.microsoft.com/office/powerpoint/2010/main" val="6103996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11E5AC-2AAA-46FA-B444-66FB847368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264CEB-D39B-8F38-C769-3D667B7DE7EA}"/>
              </a:ext>
            </a:extLst>
          </p:cNvPr>
          <p:cNvSpPr>
            <a:spLocks noGrp="1"/>
          </p:cNvSpPr>
          <p:nvPr>
            <p:ph type="ctrTitle"/>
          </p:nvPr>
        </p:nvSpPr>
        <p:spPr>
          <a:xfrm>
            <a:off x="6309904" y="411479"/>
            <a:ext cx="5486400" cy="3291840"/>
          </a:xfrm>
        </p:spPr>
        <p:txBody>
          <a:bodyPr anchor="b">
            <a:normAutofit/>
          </a:bodyPr>
          <a:lstStyle/>
          <a:p>
            <a:r>
              <a:rPr lang="en-US" dirty="0"/>
              <a:t>Show Respect &amp; Empathy</a:t>
            </a:r>
          </a:p>
        </p:txBody>
      </p:sp>
    </p:spTree>
    <p:extLst>
      <p:ext uri="{BB962C8B-B14F-4D97-AF65-F5344CB8AC3E}">
        <p14:creationId xmlns:p14="http://schemas.microsoft.com/office/powerpoint/2010/main" val="37850543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EAB824-B5F8-9D2A-D392-B40F6600B7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FC48F0-BC40-0EE6-0700-6DD077EBEDE1}"/>
              </a:ext>
            </a:extLst>
          </p:cNvPr>
          <p:cNvSpPr>
            <a:spLocks noGrp="1"/>
          </p:cNvSpPr>
          <p:nvPr>
            <p:ph type="ctrTitle"/>
          </p:nvPr>
        </p:nvSpPr>
        <p:spPr>
          <a:xfrm>
            <a:off x="6309904" y="411479"/>
            <a:ext cx="5486400" cy="3291840"/>
          </a:xfrm>
        </p:spPr>
        <p:txBody>
          <a:bodyPr anchor="b">
            <a:normAutofit/>
          </a:bodyPr>
          <a:lstStyle/>
          <a:p>
            <a:r>
              <a:rPr lang="en-US" dirty="0"/>
              <a:t>Use Simple &amp; Clear Communication</a:t>
            </a:r>
          </a:p>
        </p:txBody>
      </p:sp>
    </p:spTree>
    <p:extLst>
      <p:ext uri="{BB962C8B-B14F-4D97-AF65-F5344CB8AC3E}">
        <p14:creationId xmlns:p14="http://schemas.microsoft.com/office/powerpoint/2010/main" val="6352004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12707E-050A-7C54-EBDA-12703D5871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0D1972-55D2-35D6-CF2D-9FE9EFC964E9}"/>
              </a:ext>
            </a:extLst>
          </p:cNvPr>
          <p:cNvSpPr>
            <a:spLocks noGrp="1"/>
          </p:cNvSpPr>
          <p:nvPr>
            <p:ph type="ctrTitle"/>
          </p:nvPr>
        </p:nvSpPr>
        <p:spPr>
          <a:xfrm>
            <a:off x="6309904" y="411479"/>
            <a:ext cx="5486400" cy="3291840"/>
          </a:xfrm>
        </p:spPr>
        <p:txBody>
          <a:bodyPr anchor="b">
            <a:normAutofit/>
          </a:bodyPr>
          <a:lstStyle/>
          <a:p>
            <a:r>
              <a:rPr lang="en-US" dirty="0"/>
              <a:t>Maintain a Safe Space</a:t>
            </a:r>
          </a:p>
        </p:txBody>
      </p:sp>
    </p:spTree>
    <p:extLst>
      <p:ext uri="{BB962C8B-B14F-4D97-AF65-F5344CB8AC3E}">
        <p14:creationId xmlns:p14="http://schemas.microsoft.com/office/powerpoint/2010/main" val="11247586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235BA7-3C5E-B950-11F4-3E7FD41E02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6051DD-0B0A-E232-B126-6CED7C5CE414}"/>
              </a:ext>
            </a:extLst>
          </p:cNvPr>
          <p:cNvSpPr>
            <a:spLocks noGrp="1"/>
          </p:cNvSpPr>
          <p:nvPr>
            <p:ph type="ctrTitle"/>
          </p:nvPr>
        </p:nvSpPr>
        <p:spPr>
          <a:xfrm>
            <a:off x="6309904" y="411479"/>
            <a:ext cx="5486400" cy="3291840"/>
          </a:xfrm>
        </p:spPr>
        <p:txBody>
          <a:bodyPr anchor="b">
            <a:normAutofit/>
          </a:bodyPr>
          <a:lstStyle/>
          <a:p>
            <a:r>
              <a:rPr lang="en-US" dirty="0"/>
              <a:t>Offer Choices, if Possible</a:t>
            </a:r>
          </a:p>
        </p:txBody>
      </p:sp>
    </p:spTree>
    <p:extLst>
      <p:ext uri="{BB962C8B-B14F-4D97-AF65-F5344CB8AC3E}">
        <p14:creationId xmlns:p14="http://schemas.microsoft.com/office/powerpoint/2010/main" val="34040928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93460A-2CBA-A456-94F6-206CBD87FB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D253C6-04EE-2761-8862-E2137C5CB25E}"/>
              </a:ext>
            </a:extLst>
          </p:cNvPr>
          <p:cNvSpPr>
            <a:spLocks noGrp="1"/>
          </p:cNvSpPr>
          <p:nvPr>
            <p:ph type="ctrTitle"/>
          </p:nvPr>
        </p:nvSpPr>
        <p:spPr>
          <a:xfrm>
            <a:off x="6309904" y="411479"/>
            <a:ext cx="5486400" cy="3291840"/>
          </a:xfrm>
        </p:spPr>
        <p:txBody>
          <a:bodyPr anchor="b">
            <a:normAutofit/>
          </a:bodyPr>
          <a:lstStyle/>
          <a:p>
            <a:r>
              <a:rPr lang="en-US" dirty="0"/>
              <a:t>Non-Verbal Awareness</a:t>
            </a:r>
          </a:p>
        </p:txBody>
      </p:sp>
    </p:spTree>
    <p:extLst>
      <p:ext uri="{BB962C8B-B14F-4D97-AF65-F5344CB8AC3E}">
        <p14:creationId xmlns:p14="http://schemas.microsoft.com/office/powerpoint/2010/main" val="13282635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2A6BEB-C3B7-DB0C-50C8-EA6D8DC764BD}"/>
              </a:ext>
            </a:extLst>
          </p:cNvPr>
          <p:cNvSpPr>
            <a:spLocks noGrp="1"/>
          </p:cNvSpPr>
          <p:nvPr>
            <p:ph type="ctrTitle"/>
          </p:nvPr>
        </p:nvSpPr>
        <p:spPr/>
        <p:txBody>
          <a:bodyPr/>
          <a:lstStyle/>
          <a:p>
            <a:r>
              <a:rPr lang="en-US" dirty="0"/>
              <a:t>Safety &amp; Boundaries</a:t>
            </a:r>
          </a:p>
        </p:txBody>
      </p:sp>
      <p:sp>
        <p:nvSpPr>
          <p:cNvPr id="3" name="Text Placeholder 2">
            <a:extLst>
              <a:ext uri="{FF2B5EF4-FFF2-40B4-BE49-F238E27FC236}">
                <a16:creationId xmlns:a16="http://schemas.microsoft.com/office/drawing/2014/main" id="{022CDE09-E85A-B070-8E76-CEDFB45F2C27}"/>
              </a:ext>
            </a:extLst>
          </p:cNvPr>
          <p:cNvSpPr>
            <a:spLocks noGrp="1"/>
          </p:cNvSpPr>
          <p:nvPr>
            <p:ph type="body" sz="quarter" idx="11"/>
          </p:nvPr>
        </p:nvSpPr>
        <p:spPr/>
        <p:txBody>
          <a:bodyPr/>
          <a:lstStyle/>
          <a:p>
            <a:pPr marL="342900" indent="-342900">
              <a:buFont typeface="Arial" panose="020B0604020202020204" pitchFamily="34" charset="0"/>
              <a:buChar char="•"/>
            </a:pPr>
            <a:r>
              <a:rPr lang="en-US" dirty="0"/>
              <a:t>Disengagement</a:t>
            </a:r>
          </a:p>
          <a:p>
            <a:pPr marL="342900" indent="-342900">
              <a:buFont typeface="Arial" panose="020B0604020202020204" pitchFamily="34" charset="0"/>
              <a:buChar char="•"/>
            </a:pPr>
            <a:r>
              <a:rPr lang="en-US" dirty="0"/>
              <a:t>Internal Protocols</a:t>
            </a:r>
          </a:p>
        </p:txBody>
      </p:sp>
      <p:pic>
        <p:nvPicPr>
          <p:cNvPr id="4" name="Picture 3" descr="A logo for a community health center&#10;&#10;AI-generated content may be incorrect.">
            <a:extLst>
              <a:ext uri="{FF2B5EF4-FFF2-40B4-BE49-F238E27FC236}">
                <a16:creationId xmlns:a16="http://schemas.microsoft.com/office/drawing/2014/main" id="{96889B76-F0A9-26CC-EF95-621896E040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600" y="5900214"/>
            <a:ext cx="1917700" cy="957786"/>
          </a:xfrm>
          <a:prstGeom prst="rect">
            <a:avLst/>
          </a:prstGeom>
        </p:spPr>
      </p:pic>
    </p:spTree>
    <p:extLst>
      <p:ext uri="{BB962C8B-B14F-4D97-AF65-F5344CB8AC3E}">
        <p14:creationId xmlns:p14="http://schemas.microsoft.com/office/powerpoint/2010/main" val="13107968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4484D2-3A76-D6CB-3AF4-DBB081D18876}"/>
              </a:ext>
            </a:extLst>
          </p:cNvPr>
          <p:cNvSpPr>
            <a:spLocks noGrp="1"/>
          </p:cNvSpPr>
          <p:nvPr>
            <p:ph type="ctrTitle"/>
          </p:nvPr>
        </p:nvSpPr>
        <p:spPr/>
        <p:txBody>
          <a:bodyPr/>
          <a:lstStyle/>
          <a:p>
            <a:r>
              <a:rPr lang="en-US" dirty="0"/>
              <a:t>Wrap-Up &amp; Takeaways</a:t>
            </a:r>
          </a:p>
        </p:txBody>
      </p:sp>
      <p:pic>
        <p:nvPicPr>
          <p:cNvPr id="3" name="Picture 2" descr="A logo for a community health center&#10;&#10;AI-generated content may be incorrect.">
            <a:extLst>
              <a:ext uri="{FF2B5EF4-FFF2-40B4-BE49-F238E27FC236}">
                <a16:creationId xmlns:a16="http://schemas.microsoft.com/office/drawing/2014/main" id="{1B7CD211-4812-5B4F-5065-DABA3AF7801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600" y="5900214"/>
            <a:ext cx="1917700" cy="957786"/>
          </a:xfrm>
          <a:prstGeom prst="rect">
            <a:avLst/>
          </a:prstGeom>
        </p:spPr>
      </p:pic>
    </p:spTree>
    <p:extLst>
      <p:ext uri="{BB962C8B-B14F-4D97-AF65-F5344CB8AC3E}">
        <p14:creationId xmlns:p14="http://schemas.microsoft.com/office/powerpoint/2010/main" val="13852081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D3165EF-E3C9-5A76-09FB-DDEAE200D719}"/>
              </a:ext>
            </a:extLst>
          </p:cNvPr>
          <p:cNvSpPr>
            <a:spLocks noGrp="1"/>
          </p:cNvSpPr>
          <p:nvPr>
            <p:ph type="title"/>
          </p:nvPr>
        </p:nvSpPr>
        <p:spPr>
          <a:xfrm>
            <a:off x="594360" y="102875"/>
            <a:ext cx="10873740" cy="1680205"/>
          </a:xfrm>
        </p:spPr>
        <p:txBody>
          <a:bodyPr anchor="b">
            <a:normAutofit/>
          </a:bodyPr>
          <a:lstStyle/>
          <a:p>
            <a:r>
              <a:rPr lang="en-US" dirty="0"/>
              <a:t>De-escalation </a:t>
            </a:r>
            <a:br>
              <a:rPr lang="en-US" dirty="0"/>
            </a:br>
            <a:r>
              <a:rPr lang="en-US" dirty="0"/>
              <a:t>Resource Hub</a:t>
            </a:r>
          </a:p>
        </p:txBody>
      </p:sp>
      <p:pic>
        <p:nvPicPr>
          <p:cNvPr id="7" name="Picture 6" descr="A qr code with a paper crane&#10;&#10;AI-generated content may be incorrect.">
            <a:extLst>
              <a:ext uri="{FF2B5EF4-FFF2-40B4-BE49-F238E27FC236}">
                <a16:creationId xmlns:a16="http://schemas.microsoft.com/office/drawing/2014/main" id="{0650F6D6-7480-7C2C-8D2D-D8BA95D475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13186" y="2282008"/>
            <a:ext cx="3699328" cy="3699328"/>
          </a:xfrm>
          <a:prstGeom prst="rect">
            <a:avLst/>
          </a:prstGeom>
          <a:noFill/>
        </p:spPr>
      </p:pic>
    </p:spTree>
    <p:extLst>
      <p:ext uri="{BB962C8B-B14F-4D97-AF65-F5344CB8AC3E}">
        <p14:creationId xmlns:p14="http://schemas.microsoft.com/office/powerpoint/2010/main" val="9628575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0C1B7-6E4E-3DEE-50C0-1CA3B14303EE}"/>
              </a:ext>
            </a:extLst>
          </p:cNvPr>
          <p:cNvSpPr>
            <a:spLocks noGrp="1"/>
          </p:cNvSpPr>
          <p:nvPr>
            <p:ph type="ctrTitle"/>
          </p:nvPr>
        </p:nvSpPr>
        <p:spPr>
          <a:xfrm>
            <a:off x="594360" y="411479"/>
            <a:ext cx="5486400" cy="3291840"/>
          </a:xfrm>
        </p:spPr>
        <p:txBody>
          <a:bodyPr/>
          <a:lstStyle/>
          <a:p>
            <a:r>
              <a:rPr lang="en-US" dirty="0"/>
              <a:t>Thank you</a:t>
            </a:r>
          </a:p>
        </p:txBody>
      </p:sp>
      <p:sp>
        <p:nvSpPr>
          <p:cNvPr id="3" name="Text Placeholder 2">
            <a:extLst>
              <a:ext uri="{FF2B5EF4-FFF2-40B4-BE49-F238E27FC236}">
                <a16:creationId xmlns:a16="http://schemas.microsoft.com/office/drawing/2014/main" id="{8BE734F0-2DDD-AF70-F13D-F9E4C1929411}"/>
              </a:ext>
            </a:extLst>
          </p:cNvPr>
          <p:cNvSpPr>
            <a:spLocks noGrp="1"/>
          </p:cNvSpPr>
          <p:nvPr>
            <p:ph type="body" sz="quarter" idx="11"/>
          </p:nvPr>
        </p:nvSpPr>
        <p:spPr>
          <a:xfrm>
            <a:off x="594360" y="4549552"/>
            <a:ext cx="5486400" cy="1645920"/>
          </a:xfrm>
        </p:spPr>
        <p:txBody>
          <a:bodyPr/>
          <a:lstStyle/>
          <a:p>
            <a:r>
              <a:rPr lang="en-US" dirty="0"/>
              <a:t>Stavros E. Delardas, LMSW, PMH-C, CLC</a:t>
            </a:r>
          </a:p>
          <a:p>
            <a:r>
              <a:rPr lang="en-US" dirty="0"/>
              <a:t>(718) 876 – 1732 x7519</a:t>
            </a:r>
          </a:p>
          <a:p>
            <a:r>
              <a:rPr lang="en-US" dirty="0">
                <a:hlinkClick r:id="rId3"/>
              </a:rPr>
              <a:t>sdelardas@chcrichmond.org</a:t>
            </a:r>
            <a:r>
              <a:rPr lang="en-US" dirty="0"/>
              <a:t>	</a:t>
            </a:r>
          </a:p>
        </p:txBody>
      </p:sp>
      <p:pic>
        <p:nvPicPr>
          <p:cNvPr id="4" name="Picture 3" descr="A logo for a community health center&#10;&#10;AI-generated content may be incorrect.">
            <a:extLst>
              <a:ext uri="{FF2B5EF4-FFF2-40B4-BE49-F238E27FC236}">
                <a16:creationId xmlns:a16="http://schemas.microsoft.com/office/drawing/2014/main" id="{A17D0FB5-E053-4F37-BE12-6E851854743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600" y="5900214"/>
            <a:ext cx="1917700" cy="957786"/>
          </a:xfrm>
          <a:prstGeom prst="rect">
            <a:avLst/>
          </a:prstGeom>
        </p:spPr>
      </p:pic>
    </p:spTree>
    <p:extLst>
      <p:ext uri="{BB962C8B-B14F-4D97-AF65-F5344CB8AC3E}">
        <p14:creationId xmlns:p14="http://schemas.microsoft.com/office/powerpoint/2010/main" val="42611324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7BFFC43-7BF8-EC91-52A7-8E346984A493}"/>
              </a:ext>
            </a:extLst>
          </p:cNvPr>
          <p:cNvSpPr>
            <a:spLocks noGrp="1"/>
          </p:cNvSpPr>
          <p:nvPr>
            <p:ph type="title"/>
          </p:nvPr>
        </p:nvSpPr>
        <p:spPr/>
        <p:txBody>
          <a:bodyPr/>
          <a:lstStyle/>
          <a:p>
            <a:r>
              <a:rPr lang="en-US" dirty="0"/>
              <a:t>References</a:t>
            </a:r>
          </a:p>
        </p:txBody>
      </p:sp>
      <p:sp>
        <p:nvSpPr>
          <p:cNvPr id="5" name="Table Placeholder 4">
            <a:extLst>
              <a:ext uri="{FF2B5EF4-FFF2-40B4-BE49-F238E27FC236}">
                <a16:creationId xmlns:a16="http://schemas.microsoft.com/office/drawing/2014/main" id="{428CA1D6-3E14-0D7D-D11F-50E05818FBB3}"/>
              </a:ext>
            </a:extLst>
          </p:cNvPr>
          <p:cNvSpPr>
            <a:spLocks noGrp="1"/>
          </p:cNvSpPr>
          <p:nvPr>
            <p:ph type="tbl" sz="quarter" idx="10"/>
          </p:nvPr>
        </p:nvSpPr>
        <p:spPr>
          <a:xfrm>
            <a:off x="594360" y="2265605"/>
            <a:ext cx="10972800" cy="2819671"/>
          </a:xfrm>
        </p:spPr>
        <p:txBody>
          <a:bodyPr/>
          <a:lstStyle/>
          <a:p>
            <a:pPr marL="0" indent="0">
              <a:buNone/>
            </a:pPr>
            <a:r>
              <a:rPr lang="en-US" sz="1400" dirty="0"/>
              <a:t>Goodman, H., Papastavrou Brooks, C., Price, O., &amp; Barley, E. A. (2020). Barriers and facilitators to the effective de‑escalation of conflict </a:t>
            </a:r>
            <a:r>
              <a:rPr lang="en-US" sz="1400" dirty="0" err="1"/>
              <a:t>behaviours</a:t>
            </a:r>
            <a:r>
              <a:rPr lang="en-US" sz="1400" dirty="0"/>
              <a:t> in forensic high‑secure settings: A qualitative study. International Journal of Mental Health Systems, 14, Article 59. https://doi.org/10.1186/s13033‑020‑00392‑5</a:t>
            </a:r>
          </a:p>
          <a:p>
            <a:pPr marL="0" indent="0">
              <a:buNone/>
            </a:pPr>
            <a:r>
              <a:rPr lang="en-US" sz="1400" dirty="0"/>
              <a:t>Institute for Healthcare Improvement. (2019). Improving Health Equity: Build Infrastructure to Support Health Equity [Guide]. Institute for Healthcare Improvement. https://www.ihi.org/resources/Pages/Publications/Improving-Health-Equity-Build-Infrastructure-Guide.aspx</a:t>
            </a:r>
          </a:p>
          <a:p>
            <a:pPr marL="0" indent="0">
              <a:buNone/>
            </a:pPr>
            <a:r>
              <a:rPr lang="en-US" sz="1400" dirty="0"/>
              <a:t>Price, O., Papastavrou Brooks, C., Johnston, I., et al. (2024). Development and evaluation of a de-escalation training intervention in adult acute and forensic units: The EDITION systematic review and feasibility trial. Health Technology Assessment, No. 28.03. National Institute for Health and Care Research. NCBI</a:t>
            </a:r>
          </a:p>
          <a:p>
            <a:pPr marL="0" indent="0">
              <a:buNone/>
            </a:pPr>
            <a:r>
              <a:rPr lang="en-US" sz="1400" dirty="0"/>
              <a:t>Substance Abuse and Mental Health Services Administration. (2014). Trauma‑Informed Care in Behavioral Health Services: Treatment Improvement Protocol (TIP) Series 57 (HHS Publication No. SMA 13‑4801). Rockville, MD: U.S. Department of Health and Human Services</a:t>
            </a:r>
          </a:p>
          <a:p>
            <a:pPr marL="0" indent="0">
              <a:buNone/>
            </a:pPr>
            <a:r>
              <a:rPr lang="en-US" sz="1400" dirty="0" err="1"/>
              <a:t>Tervalon</a:t>
            </a:r>
            <a:r>
              <a:rPr lang="en-US" sz="1400" dirty="0"/>
              <a:t>, M., &amp; Murray-García, J. (1998). Cultural humility versus cultural competence: A critical distinction in defining physician training outcomes in multicultural education. Journal of Health Care for the Poor and Underserved, 9(2), 117‑125.</a:t>
            </a:r>
          </a:p>
          <a:p>
            <a:pPr marL="0" indent="0">
              <a:buNone/>
            </a:pPr>
            <a:r>
              <a:rPr lang="en-US" sz="1400" dirty="0"/>
              <a:t>Trauma Interventions Research Center. (2020, May 15). Calming &amp; de-escalation strategies [Video]. YouTube. https://youtu.be/R2PSExM-NhU?si=iwEg0jrunNycDTeT</a:t>
            </a:r>
          </a:p>
          <a:p>
            <a:pPr marL="0" indent="0">
              <a:buNone/>
            </a:pPr>
            <a:r>
              <a:rPr lang="en-US" sz="1400" dirty="0"/>
              <a:t>Yeager, K. A., &amp; Bauer‑Wu, S. (2013). Cultural humility: Essential foundation for clinical researchers. Applied Nursing Research, 26(4), 251‑256. [https://doi.org/10.1016/j.apnr.2013.06.008](https://doi.org/10.1016/j.apnr.2013.06.008)</a:t>
            </a:r>
          </a:p>
          <a:p>
            <a:pPr marL="0" indent="0">
              <a:buNone/>
            </a:pPr>
            <a:endParaRPr lang="en-US" sz="1600" dirty="0"/>
          </a:p>
          <a:p>
            <a:pPr marL="0" indent="0">
              <a:buNone/>
            </a:pPr>
            <a:endParaRPr lang="en-US" sz="1600" dirty="0"/>
          </a:p>
          <a:p>
            <a:pPr marL="0" indent="0">
              <a:buNone/>
            </a:pPr>
            <a:endParaRPr lang="en-US" sz="1600" dirty="0"/>
          </a:p>
        </p:txBody>
      </p:sp>
      <p:pic>
        <p:nvPicPr>
          <p:cNvPr id="11" name="Picture 10" descr="A logo for a community health center&#10;&#10;AI-generated content may be incorrect.">
            <a:extLst>
              <a:ext uri="{FF2B5EF4-FFF2-40B4-BE49-F238E27FC236}">
                <a16:creationId xmlns:a16="http://schemas.microsoft.com/office/drawing/2014/main" id="{E68A0FEF-F53F-56D2-73AA-C314B8BFD3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600" y="5900214"/>
            <a:ext cx="1917700" cy="957786"/>
          </a:xfrm>
          <a:prstGeom prst="rect">
            <a:avLst/>
          </a:prstGeom>
        </p:spPr>
      </p:pic>
    </p:spTree>
    <p:extLst>
      <p:ext uri="{BB962C8B-B14F-4D97-AF65-F5344CB8AC3E}">
        <p14:creationId xmlns:p14="http://schemas.microsoft.com/office/powerpoint/2010/main" val="174574045"/>
      </p:ext>
    </p:extLst>
  </p:cSld>
  <p:clrMapOvr>
    <a:masterClrMapping/>
  </p:clrMapOvr>
</p:sld>
</file>

<file path=ppt/theme/theme1.xml><?xml version="1.0" encoding="utf-8"?>
<a:theme xmlns:a="http://schemas.openxmlformats.org/drawingml/2006/main" name="Custom">
  <a:themeElements>
    <a:clrScheme name="Swiss">
      <a:dk1>
        <a:srgbClr val="000000"/>
      </a:dk1>
      <a:lt1>
        <a:srgbClr val="FFFFFF"/>
      </a:lt1>
      <a:dk2>
        <a:srgbClr val="E4E4E4"/>
      </a:dk2>
      <a:lt2>
        <a:srgbClr val="7CA655"/>
      </a:lt2>
      <a:accent1>
        <a:srgbClr val="A9D4DB"/>
      </a:accent1>
      <a:accent2>
        <a:srgbClr val="FBE284"/>
      </a:accent2>
      <a:accent3>
        <a:srgbClr val="4495A2"/>
      </a:accent3>
      <a:accent4>
        <a:srgbClr val="AA5881"/>
      </a:accent4>
      <a:accent5>
        <a:srgbClr val="E06742"/>
      </a:accent5>
      <a:accent6>
        <a:srgbClr val="F9D448"/>
      </a:accent6>
      <a:hlink>
        <a:srgbClr val="4495A2"/>
      </a:hlink>
      <a:folHlink>
        <a:srgbClr val="AA5881"/>
      </a:folHlink>
    </a:clrScheme>
    <a:fontScheme name="Custom 175">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78853419_Win32_SL_V5" id="{958D2C9E-948D-4354-BF9D-DF8AE3C2B240}" vid="{22D4A967-05D2-4D72-8594-54CFF341483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50" row="2">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119D3B15-F0C9-496E-AD5C-83251937695E}">
  <we:reference id="wa200005566" version="3.0.0.3" store="en-US" storeType="OMEX"/>
  <we:alternateReferences>
    <we:reference id="WA200005566" version="3.0.0.3" store="WA200005566"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1A559DF7-5EC2-44AB-9E62-20BE8E72B275}">
  <we:reference id="wa104379997" version="3.0.0.0" store="en-US" storeType="OMEX"/>
  <we:alternateReferences>
    <we:reference id="WA104379997" version="3.0.0.0" store="WA104379997"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Background xmlns="71af3243-3dd4-4a8d-8c0d-dd76da1f02a5">false</Background>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F4B194E-8B30-4377-8C59-ECFB902D2A26}">
  <ds:schemaRefs>
    <ds:schemaRef ds:uri="http://purl.org/dc/elements/1.1/"/>
    <ds:schemaRef ds:uri="http://schemas.microsoft.com/sharepoint/v3"/>
    <ds:schemaRef ds:uri="http://www.w3.org/XML/1998/namespace"/>
    <ds:schemaRef ds:uri="http://schemas.microsoft.com/office/2006/documentManagement/types"/>
    <ds:schemaRef ds:uri="http://purl.org/dc/terms/"/>
    <ds:schemaRef ds:uri="16c05727-aa75-4e4a-9b5f-8a80a1165891"/>
    <ds:schemaRef ds:uri="http://purl.org/dc/dcmitype/"/>
    <ds:schemaRef ds:uri="http://schemas.microsoft.com/office/2006/metadata/properties"/>
    <ds:schemaRef ds:uri="71af3243-3dd4-4a8d-8c0d-dd76da1f02a5"/>
    <ds:schemaRef ds:uri="http://schemas.microsoft.com/office/infopath/2007/PartnerControls"/>
    <ds:schemaRef ds:uri="http://schemas.openxmlformats.org/package/2006/metadata/core-properties"/>
    <ds:schemaRef ds:uri="230e9df3-be65-4c73-a93b-d1236ebd677e"/>
  </ds:schemaRefs>
</ds:datastoreItem>
</file>

<file path=customXml/itemProps2.xml><?xml version="1.0" encoding="utf-8"?>
<ds:datastoreItem xmlns:ds="http://schemas.openxmlformats.org/officeDocument/2006/customXml" ds:itemID="{C21FFAC0-05A2-416A-B06C-C248395482CF}">
  <ds:schemaRefs>
    <ds:schemaRef ds:uri="http://schemas.microsoft.com/sharepoint/v3/contenttype/forms"/>
  </ds:schemaRefs>
</ds:datastoreItem>
</file>

<file path=customXml/itemProps3.xml><?xml version="1.0" encoding="utf-8"?>
<ds:datastoreItem xmlns:ds="http://schemas.openxmlformats.org/officeDocument/2006/customXml" ds:itemID="{92DB9E12-8AC3-4138-BF4D-720A5525AB1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{313D11B9-3551-4D28-BD5C-7E6E5C91E183}TFd3b75063-ff25-434d-b12c-efeaf07d16c3292f62b5_win32-75a75c970d8e</Template>
  <TotalTime>543</TotalTime>
  <Words>5512</Words>
  <Application>Microsoft Office PowerPoint</Application>
  <PresentationFormat>Widescreen</PresentationFormat>
  <Paragraphs>269</Paragraphs>
  <Slides>25</Slides>
  <Notes>25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Franklin Gothic Book</vt:lpstr>
      <vt:lpstr>Franklin Gothic Demi</vt:lpstr>
      <vt:lpstr>Custom</vt:lpstr>
      <vt:lpstr>De-escalation Training</vt:lpstr>
      <vt:lpstr>About the Facilitator</vt:lpstr>
      <vt:lpstr>Our mission is to sustain a vibrant, healthy and strong community through affordable, culturally competent, quality primary health care. We aim to eliminate health disparities for underserved populations through accessibility. We empower people to take control of their physical and mental wellbeing through health education, prevention services and wellness programs.</vt:lpstr>
      <vt:lpstr>Agenda</vt:lpstr>
      <vt:lpstr>Why is de-escalation important?</vt:lpstr>
      <vt:lpstr>Before We Respond: Recognizing Bias, Privilege, and Power Dynamics</vt:lpstr>
      <vt:lpstr>Cultural Humility</vt:lpstr>
      <vt:lpstr>Bias, Power, and the De-escalation Mindset</vt:lpstr>
      <vt:lpstr>Cultural Humility in Practice</vt:lpstr>
      <vt:lpstr>Recognizing Escalation</vt:lpstr>
      <vt:lpstr>Common Triggers in Healthcare</vt:lpstr>
      <vt:lpstr>Early Warning Signs</vt:lpstr>
      <vt:lpstr>Unintentional Escalation</vt:lpstr>
      <vt:lpstr>Core  De-Escalation Skills &amp; Principles</vt:lpstr>
      <vt:lpstr>Stay Calm &amp; Controlled</vt:lpstr>
      <vt:lpstr>Show Respect &amp; Empathy</vt:lpstr>
      <vt:lpstr>Use Simple &amp; Clear Communication</vt:lpstr>
      <vt:lpstr>Maintain a Safe Space</vt:lpstr>
      <vt:lpstr>Offer Choices, if Possible</vt:lpstr>
      <vt:lpstr>Non-Verbal Awareness</vt:lpstr>
      <vt:lpstr>Safety &amp; Boundaries</vt:lpstr>
      <vt:lpstr>Wrap-Up &amp; Takeaways</vt:lpstr>
      <vt:lpstr>De-escalation  Resource Hub</vt:lpstr>
      <vt:lpstr>Thank you</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Stavros Delardas</dc:creator>
  <cp:lastModifiedBy>Stavros Delardas</cp:lastModifiedBy>
  <cp:revision>2</cp:revision>
  <dcterms:created xsi:type="dcterms:W3CDTF">2025-08-28T17:56:04Z</dcterms:created>
  <dcterms:modified xsi:type="dcterms:W3CDTF">2025-11-21T20:06:17Z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